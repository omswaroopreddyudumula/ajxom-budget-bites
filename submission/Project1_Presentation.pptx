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ec98124db247ea" /><Relationship Type="http://schemas.openxmlformats.org/officeDocument/2006/relationships/extended-properties" Target="/docProps/app.xml" Id="R1d27b26bda654b85" /><Relationship Type="http://schemas.openxmlformats.org/officeDocument/2006/relationships/officeDocument" Target="/ppt/presentation.xml" Id="Raddacb1e44d64f8a" /></Relationships>
</file>

<file path=ppt/presentation.xml><?xml version="1.0" encoding="utf-8"?>
<p:presentation xmlns:p="http://schemas.openxmlformats.org/presentationml/2006/main">
  <p:sldMasterIdLst>
    <p:sldMasterId xmlns:r="http://schemas.openxmlformats.org/officeDocument/2006/relationships" id="2147483648" r:id="Rb28e12e7b31940c9"/>
  </p:sldMasterIdLst>
  <p:notesMasterIdLst>
    <p:notesMasterId xmlns:r="http://schemas.openxmlformats.org/officeDocument/2006/relationships" r:id="R43c7c9dc6bbb4d59"/>
  </p:notesMasterIdLst>
  <p:sldIdLst>
    <p:sldId xmlns:r="http://schemas.openxmlformats.org/officeDocument/2006/relationships" id="256" r:id="R052058078ae247a1"/>
    <p:sldId xmlns:r="http://schemas.openxmlformats.org/officeDocument/2006/relationships" id="257" r:id="Rcfdc5182e285462f"/>
    <p:sldId xmlns:r="http://schemas.openxmlformats.org/officeDocument/2006/relationships" id="258" r:id="R46882cf3626e4d94"/>
    <p:sldId xmlns:r="http://schemas.openxmlformats.org/officeDocument/2006/relationships" id="259" r:id="R7f71a2dea6634e57"/>
    <p:sldId xmlns:r="http://schemas.openxmlformats.org/officeDocument/2006/relationships" id="260" r:id="Rb0074bc01b8c4e5b"/>
    <p:sldId xmlns:r="http://schemas.openxmlformats.org/officeDocument/2006/relationships" id="261" r:id="Rd90e0f2a2ba04e73"/>
    <p:sldId xmlns:r="http://schemas.openxmlformats.org/officeDocument/2006/relationships" id="262" r:id="R0a607be5759f4b11"/>
    <p:sldId xmlns:r="http://schemas.openxmlformats.org/officeDocument/2006/relationships" id="263" r:id="Rceb01e6f7bca4f82"/>
    <p:sldId xmlns:r="http://schemas.openxmlformats.org/officeDocument/2006/relationships" id="264" r:id="R27ffa786620c465d"/>
    <p:sldId xmlns:r="http://schemas.openxmlformats.org/officeDocument/2006/relationships" id="265" r:id="Rd83dfafc25de46fa"/>
    <p:sldId xmlns:r="http://schemas.openxmlformats.org/officeDocument/2006/relationships" id="266" r:id="R1b6c962c626144af"/>
    <p:sldId xmlns:r="http://schemas.openxmlformats.org/officeDocument/2006/relationships" id="267" r:id="Rd9e5f152f4c04261"/>
    <p:sldId xmlns:r="http://schemas.openxmlformats.org/officeDocument/2006/relationships" id="268" r:id="R64b59cc2fd0a44c0"/>
    <p:sldId xmlns:r="http://schemas.openxmlformats.org/officeDocument/2006/relationships" id="269" r:id="Red0d2357de834c2c"/>
    <p:sldId xmlns:r="http://schemas.openxmlformats.org/officeDocument/2006/relationships" id="270" r:id="Rc620973ef9d04be9"/>
    <p:sldId xmlns:r="http://schemas.openxmlformats.org/officeDocument/2006/relationships" id="271" r:id="R7494a1cec07949cc"/>
    <p:sldId xmlns:r="http://schemas.openxmlformats.org/officeDocument/2006/relationships" id="272" r:id="R125c7af122164b77"/>
    <p:sldId xmlns:r="http://schemas.openxmlformats.org/officeDocument/2006/relationships" id="273" r:id="R99e6ebe9426e451f"/>
    <p:sldId xmlns:r="http://schemas.openxmlformats.org/officeDocument/2006/relationships" id="274" r:id="Rfb09f17e72b34504"/>
    <p:sldId xmlns:r="http://schemas.openxmlformats.org/officeDocument/2006/relationships" id="275" r:id="Rd3b2037998ce4547"/>
    <p:sldId xmlns:r="http://schemas.openxmlformats.org/officeDocument/2006/relationships" id="276" r:id="R1a5321daf9d34b55"/>
    <p:sldId xmlns:r="http://schemas.openxmlformats.org/officeDocument/2006/relationships" id="277" r:id="Rb1246f2e83bc41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27febfd3754979" /><Relationship Type="http://schemas.openxmlformats.org/officeDocument/2006/relationships/slideMaster" Target="/ppt/slideMasters/slideMaster1.xml" Id="Rb28e12e7b31940c9" /><Relationship Type="http://schemas.openxmlformats.org/officeDocument/2006/relationships/notesMaster" Target="/ppt/notesMasters/notesMaster1.xml" Id="R43c7c9dc6bbb4d59" /><Relationship Type="http://schemas.openxmlformats.org/officeDocument/2006/relationships/presProps" Target="/ppt/presProps.xml" Id="R59367d55a8d243e8" /><Relationship Type="http://schemas.openxmlformats.org/officeDocument/2006/relationships/tableStyles" Target="/ppt/tableStyles.xml" Id="Ra552ef3a7bf342b1" /><Relationship Type="http://schemas.openxmlformats.org/officeDocument/2006/relationships/slide" Target="/ppt/slides/slide1.xml" Id="R052058078ae247a1" /><Relationship Type="http://schemas.openxmlformats.org/officeDocument/2006/relationships/slide" Target="/ppt/slides/slide2.xml" Id="Rcfdc5182e285462f" /><Relationship Type="http://schemas.openxmlformats.org/officeDocument/2006/relationships/slide" Target="/ppt/slides/slide3.xml" Id="R46882cf3626e4d94" /><Relationship Type="http://schemas.openxmlformats.org/officeDocument/2006/relationships/slide" Target="/ppt/slides/slide4.xml" Id="R7f71a2dea6634e57" /><Relationship Type="http://schemas.openxmlformats.org/officeDocument/2006/relationships/slide" Target="/ppt/slides/slide5.xml" Id="Rb0074bc01b8c4e5b" /><Relationship Type="http://schemas.openxmlformats.org/officeDocument/2006/relationships/slide" Target="/ppt/slides/slide6.xml" Id="Rd90e0f2a2ba04e73" /><Relationship Type="http://schemas.openxmlformats.org/officeDocument/2006/relationships/slide" Target="/ppt/slides/slide7.xml" Id="R0a607be5759f4b11" /><Relationship Type="http://schemas.openxmlformats.org/officeDocument/2006/relationships/slide" Target="/ppt/slides/slide8.xml" Id="Rceb01e6f7bca4f82" /><Relationship Type="http://schemas.openxmlformats.org/officeDocument/2006/relationships/slide" Target="/ppt/slides/slide9.xml" Id="R27ffa786620c465d" /><Relationship Type="http://schemas.openxmlformats.org/officeDocument/2006/relationships/slide" Target="/ppt/slides/slide10.xml" Id="Rd83dfafc25de46fa" /><Relationship Type="http://schemas.openxmlformats.org/officeDocument/2006/relationships/slide" Target="/ppt/slides/slide11.xml" Id="R1b6c962c626144af" /><Relationship Type="http://schemas.openxmlformats.org/officeDocument/2006/relationships/slide" Target="/ppt/slides/slide12.xml" Id="Rd9e5f152f4c04261" /><Relationship Type="http://schemas.openxmlformats.org/officeDocument/2006/relationships/slide" Target="/ppt/slides/slide13.xml" Id="R64b59cc2fd0a44c0" /><Relationship Type="http://schemas.openxmlformats.org/officeDocument/2006/relationships/slide" Target="/ppt/slides/slide14.xml" Id="Red0d2357de834c2c" /><Relationship Type="http://schemas.openxmlformats.org/officeDocument/2006/relationships/slide" Target="/ppt/slides/slide15.xml" Id="Rc620973ef9d04be9" /><Relationship Type="http://schemas.openxmlformats.org/officeDocument/2006/relationships/slide" Target="/ppt/slides/slide16.xml" Id="R7494a1cec07949cc" /><Relationship Type="http://schemas.openxmlformats.org/officeDocument/2006/relationships/slide" Target="/ppt/slides/slide17.xml" Id="R125c7af122164b77" /><Relationship Type="http://schemas.openxmlformats.org/officeDocument/2006/relationships/slide" Target="/ppt/slides/slide18.xml" Id="R99e6ebe9426e451f" /><Relationship Type="http://schemas.openxmlformats.org/officeDocument/2006/relationships/slide" Target="/ppt/slides/slide19.xml" Id="Rfb09f17e72b34504" /><Relationship Type="http://schemas.openxmlformats.org/officeDocument/2006/relationships/slide" Target="/ppt/slides/slide20.xml" Id="Rd3b2037998ce4547" /><Relationship Type="http://schemas.openxmlformats.org/officeDocument/2006/relationships/slide" Target="/ppt/slides/slide21.xml" Id="R1a5321daf9d34b55" /><Relationship Type="http://schemas.openxmlformats.org/officeDocument/2006/relationships/slide" Target="/ppt/slides/slide22.xml" Id="Rb1246f2e83bc41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20fcf7ed9f40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622a35f5fd48fd" /><Relationship Type="http://schemas.openxmlformats.org/officeDocument/2006/relationships/notesMaster" Target="/ppt/notesMasters/notesMaster1.xml" Id="Re4d9514724864e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3cc17aa8ae4602" /><Relationship Type="http://schemas.openxmlformats.org/officeDocument/2006/relationships/notesMaster" Target="/ppt/notesMasters/notesMaster1.xml" Id="R772307ebdd0b44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7a5ae525d745a9" /><Relationship Type="http://schemas.openxmlformats.org/officeDocument/2006/relationships/notesMaster" Target="/ppt/notesMasters/notesMaster1.xml" Id="Ra0f4b41a79f448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25b705b5a74df2" /><Relationship Type="http://schemas.openxmlformats.org/officeDocument/2006/relationships/notesMaster" Target="/ppt/notesMasters/notesMaster1.xml" Id="R44dfd865d68946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12220b4f3d451d" /><Relationship Type="http://schemas.openxmlformats.org/officeDocument/2006/relationships/notesMaster" Target="/ppt/notesMasters/notesMaster1.xml" Id="R7040c863b40146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444df5ae8b4fb1" /><Relationship Type="http://schemas.openxmlformats.org/officeDocument/2006/relationships/notesMaster" Target="/ppt/notesMasters/notesMaster1.xml" Id="R3ffe37c42cff40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2bf0d5b1a74acc" /><Relationship Type="http://schemas.openxmlformats.org/officeDocument/2006/relationships/notesMaster" Target="/ppt/notesMasters/notesMaster1.xml" Id="Rcacc5ef7239842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2232c44eb24a82" /><Relationship Type="http://schemas.openxmlformats.org/officeDocument/2006/relationships/notesMaster" Target="/ppt/notesMasters/notesMaster1.xml" Id="R1e9ae9a6c5324e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376e5668514b91" /><Relationship Type="http://schemas.openxmlformats.org/officeDocument/2006/relationships/notesMaster" Target="/ppt/notesMasters/notesMaster1.xml" Id="Reacebfd0836d44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915846df94436f" /><Relationship Type="http://schemas.openxmlformats.org/officeDocument/2006/relationships/notesMaster" Target="/ppt/notesMasters/notesMaster1.xml" Id="Rb1e00e8aaac946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92f978bd94447e" /><Relationship Type="http://schemas.openxmlformats.org/officeDocument/2006/relationships/notesMaster" Target="/ppt/notesMasters/notesMaster1.xml" Id="R47de3f56f04041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3ccae16f30c4a94" /><Relationship Type="http://schemas.openxmlformats.org/officeDocument/2006/relationships/notesMaster" Target="/ppt/notesMasters/notesMaster1.xml" Id="Rc5a3c8cb6eb349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2b03cd735d4744" /><Relationship Type="http://schemas.openxmlformats.org/officeDocument/2006/relationships/notesMaster" Target="/ppt/notesMasters/notesMaster1.xml" Id="R67823b3f8da14ab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e3e4ac099c84c58" /><Relationship Type="http://schemas.openxmlformats.org/officeDocument/2006/relationships/notesMaster" Target="/ppt/notesMasters/notesMaster1.xml" Id="R5437ac14de584dd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1a62e03b62e41ea" /><Relationship Type="http://schemas.openxmlformats.org/officeDocument/2006/relationships/notesMaster" Target="/ppt/notesMasters/notesMaster1.xml" Id="R054b0fb6e0724eb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df33d65790d4e5a" /><Relationship Type="http://schemas.openxmlformats.org/officeDocument/2006/relationships/notesMaster" Target="/ppt/notesMasters/notesMaster1.xml" Id="R6f31b99a8e6c4c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989aed559fa4182" /><Relationship Type="http://schemas.openxmlformats.org/officeDocument/2006/relationships/notesMaster" Target="/ppt/notesMasters/notesMaster1.xml" Id="Ra0546bb78aec4b3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ad6958af62e4d7d" /><Relationship Type="http://schemas.openxmlformats.org/officeDocument/2006/relationships/notesMaster" Target="/ppt/notesMasters/notesMaster1.xml" Id="R77c717da854243d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93235f370ef43a2" /><Relationship Type="http://schemas.openxmlformats.org/officeDocument/2006/relationships/notesMaster" Target="/ppt/notesMasters/notesMaster1.xml" Id="R6ab57929b7d94fb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d6694c1570d448f" /><Relationship Type="http://schemas.openxmlformats.org/officeDocument/2006/relationships/notesMaster" Target="/ppt/notesMasters/notesMaster1.xml" Id="R72037ef22b46493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c4c10822dcf494c" /><Relationship Type="http://schemas.openxmlformats.org/officeDocument/2006/relationships/notesMaster" Target="/ppt/notesMasters/notesMaster1.xml" Id="Rfd7dc54f972242e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f7e8598a6ab47f0" /><Relationship Type="http://schemas.openxmlformats.org/officeDocument/2006/relationships/notesMaster" Target="/ppt/notesMasters/notesMaster1.xml" Id="Rf557659af4224d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Om. Section: Introduction.</a:t>
            </a:r>
          </a:p>
          <a:p xmlns:a="http://schemas.openxmlformats.org/drawingml/2006/main">
            <a:r>
              <a:t>Suggested reading window at 145 words per minute: 0:00–0:37.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Hello everyone. We are AjxOm: Om Swaroop Reddy Udumula and Anton, or A.J., Orea. Our project, Budget Bites, helps students organize meals and track actual lunch spending offline.</a:t>
            </a:r>
          </a:p>
          <a:p xmlns:a="http://schemas.openxmlformats.org/drawingml/2006/main">
            <a:r>
              <a:t/>
            </a:r>
          </a:p>
          <a:p xmlns:a="http://schemas.openxmlformats.org/drawingml/2006/main">
            <a:r>
              <a:t>I will introduce the problem and our chosen project brief. A.J. will explain his database foundation and the backend design. I will then explain the frontend, shared state and integration work. After the slides, A.J. will narrate our application demonstration.</a:t>
            </a:r>
          </a:p>
          <a:p xmlns:a="http://schemas.openxmlformats.org/drawingml/2006/main">
            <a:r>
              <a:t/>
            </a:r>
          </a:p>
          <a:p xmlns:a="http://schemas.openxmlformats.org/drawingml/2006/main">
            <a:r>
              <a:t>Our goal connects a planned lunch cost with an actual purchase, allowing students to compare their expectations with what they paid.</a:t>
            </a:r>
          </a:p>
          <a:p xmlns:a="http://schemas.openxmlformats.org/drawingml/2006/main">
            <a:r>
              <a:t/>
            </a:r>
          </a:p>
          <a:p xmlns:a="http://schemas.openxmlformats.org/drawingml/2006/main">
            <a:r>
              <a:t>Question mapping: R1.</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Om. Section: Introduction.</a:t>
            </a:r>
          </a:p>
          <a:p xmlns:a="http://schemas.openxmlformats.org/drawingml/2006/main">
            <a:r>
              <a:t>Suggested reading window at 145 words per minute: 0:37–1:23.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We chose the Budget Bites brief, which focuses on campus food choices and personal budgeting. Students can forget a meal's price, its venue or what they paid last time, making repeated lunch decisions harder to manage.</a:t>
            </a:r>
          </a:p>
          <a:p xmlns:a="http://schemas.openxmlformats.org/drawingml/2006/main">
            <a:r>
              <a:t/>
            </a:r>
          </a:p>
          <a:p xmlns:a="http://schemas.openxmlformats.org/drawingml/2006/main">
            <a:r>
              <a:t>Our solution gives the student a personal catalog of meals and a separate purchase log. The catalog stores an estimated cost, while the log records the amount paid for a particular purchase. Keeping those values separate allows the student to correct history without rewriting a meal description.</a:t>
            </a:r>
          </a:p>
          <a:p xmlns:a="http://schemas.openxmlformats.org/drawingml/2006/main">
            <a:r>
              <a:t/>
            </a:r>
          </a:p>
          <a:p xmlns:a="http://schemas.openxmlformats.org/drawingml/2006/main">
            <a:r>
              <a:t>The application uses locally entered information and fictional starter meals. Venue notes and prices come from the user, and live restaurant price verification is outside our scope.</a:t>
            </a:r>
          </a:p>
          <a:p xmlns:a="http://schemas.openxmlformats.org/drawingml/2006/main">
            <a:r>
              <a:t/>
            </a:r>
          </a:p>
          <a:p xmlns:a="http://schemas.openxmlformats.org/drawingml/2006/main">
            <a:r>
              <a:t>Question mapping: Project introduction.</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Om. Section: Introduction.</a:t>
            </a:r>
          </a:p>
          <a:p xmlns:a="http://schemas.openxmlformats.org/drawingml/2006/main">
            <a:r>
              <a:t>Suggested reading window at 145 words per minute: 1:23–2:09.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The brief requires five purposeful screen roles: a catalog, a create or edit form, a detail or activity flow, purchase history and settings. Both related data entities must support create, read, update and delete operations. Saved records and preferences must survive an application restart.</a:t>
            </a:r>
          </a:p>
          <a:p xmlns:a="http://schemas.openxmlformats.org/drawingml/2006/main">
            <a:r>
              <a:t/>
            </a:r>
          </a:p>
          <a:p xmlns:a="http://schemas.openxmlformats.org/drawingml/2006/main">
            <a:r>
              <a:t>We mapped those requirements to Meal and PurchaseLog in SQLite. A purchase belongs to a specific meal through its database ID. Simple preferences, including the lunch budget and dark mode, use SharedPreferences. This keeps settings separate from the two relational entities.</a:t>
            </a:r>
          </a:p>
          <a:p xmlns:a="http://schemas.openxmlformats.org/drawingml/2006/main">
            <a:r>
              <a:t/>
            </a:r>
          </a:p>
          <a:p xmlns:a="http://schemas.openxmlformats.org/drawingml/2006/main">
            <a:r>
              <a:t>Lunch Lens estimates a possible next cost from earlier purchases. It explains its inputs, allows dismissal and compares the estimate with the last observed price.</a:t>
            </a:r>
          </a:p>
          <a:p xmlns:a="http://schemas.openxmlformats.org/drawingml/2006/main">
            <a:r>
              <a:t/>
            </a:r>
          </a:p>
          <a:p xmlns:a="http://schemas.openxmlformats.org/drawingml/2006/main">
            <a:r>
              <a:t>Question mapping: D1, D2, R4.</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Om. Section: Introduction.</a:t>
            </a:r>
          </a:p>
          <a:p xmlns:a="http://schemas.openxmlformats.org/drawingml/2006/main">
            <a:r>
              <a:t>Suggested reading window at 145 words per minute: 2:09–2:55.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We divided the work around the data foundation and the user experience. A.J. contributed the original Meal model, database CRUD functions and standalone History page. My work focused on the frontend and the feature branch that connected the screens, purchase records, preferences, helper and tests.</a:t>
            </a:r>
          </a:p>
          <a:p xmlns:a="http://schemas.openxmlformats.org/drawingml/2006/main">
            <a:r>
              <a:t/>
            </a:r>
          </a:p>
          <a:p xmlns:a="http://schemas.openxmlformats.org/drawingml/2006/main">
            <a:r>
              <a:t>Screens handle interaction, AppStore shares saved values and MealDatabase manages SQLite. Independent Dart functions handle money parsing and Lunch Lens, keeping calculation rules separate from widgets.</a:t>
            </a:r>
          </a:p>
          <a:p xmlns:a="http://schemas.openxmlformats.org/drawingml/2006/main">
            <a:r>
              <a:t/>
            </a:r>
          </a:p>
          <a:p xmlns:a="http://schemas.openxmlformats.org/drawingml/2006/main">
            <a:r>
              <a:t>This separation helped us combine both parts of the project without putting SQL inside every screen. We preserved A.J.'s branch history during integration. A.J. will now explain the backend foundation and how the final application stores and protects its records.</a:t>
            </a:r>
          </a:p>
          <a:p xmlns:a="http://schemas.openxmlformats.org/drawingml/2006/main">
            <a:r>
              <a:t/>
            </a:r>
          </a:p>
          <a:p xmlns:a="http://schemas.openxmlformats.org/drawingml/2006/main">
            <a:r>
              <a:t>Question mapping: A1, R1.</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A.J.. Section: Backend.</a:t>
            </a:r>
          </a:p>
          <a:p xmlns:a="http://schemas.openxmlformats.org/drawingml/2006/main">
            <a:r>
              <a:t>Suggested reading window at 145 words per minute: 2:55–3:38.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My original work established the Meal model and the database functions for retrieving, adding, updating and deleting meals. I also created the standalone Meal History page. These pieces gave the project a consistent data structure and a starting point for displaying stored information.</a:t>
            </a:r>
          </a:p>
          <a:p xmlns:a="http://schemas.openxmlformats.org/drawingml/2006/main">
            <a:r>
              <a:t/>
            </a:r>
          </a:p>
          <a:p xmlns:a="http://schemas.openxmlformats.org/drawingml/2006/main">
            <a:r>
              <a:t>In the integrated application, the team extended that foundation with purchase logs, integer-cent prices and additional consistency checks. I will explain how the current backend works while distinguishing those shared integration changes from the original functions I contributed.</a:t>
            </a:r>
          </a:p>
          <a:p xmlns:a="http://schemas.openxmlformats.org/drawingml/2006/main">
            <a:r>
              <a:t/>
            </a:r>
          </a:p>
          <a:p xmlns:a="http://schemas.openxmlformats.org/drawingml/2006/main">
            <a:r>
              <a:t>MealDatabase provides one boundary for local SQLite access. The interface requests operations through it, while validation and database tests focus on the same boundary.</a:t>
            </a:r>
          </a:p>
          <a:p xmlns:a="http://schemas.openxmlformats.org/drawingml/2006/main">
            <a:r>
              <a:t/>
            </a:r>
          </a:p>
          <a:p xmlns:a="http://schemas.openxmlformats.org/drawingml/2006/main">
            <a:r>
              <a:t>Question mapping: A1, R1.</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A.J.. Section: Backend.</a:t>
            </a:r>
          </a:p>
          <a:p xmlns:a="http://schemas.openxmlformats.org/drawingml/2006/main">
            <a:r>
              <a:t>Suggested reading window at 145 words per minute: 3:38–4:25.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The Meal model represents an entry in the student's personal catalog. It contains a generated ID, meal name, venue note and cuisine. It also stores labels and estimated prices for an entree, a side and another optional item, plus a favorite flag.</a:t>
            </a:r>
          </a:p>
          <a:p xmlns:a="http://schemas.openxmlformats.org/drawingml/2006/main">
            <a:r>
              <a:t/>
            </a:r>
          </a:p>
          <a:p xmlns:a="http://schemas.openxmlformats.org/drawingml/2006/main">
            <a:r>
              <a:t>The final model derives the total estimate by adding the three item prices. It stores prices as integer cents, so a value of 650 represents six dollars and fifty cents. This makes money calculations consistent with the values used by the purchase log.</a:t>
            </a:r>
          </a:p>
          <a:p xmlns:a="http://schemas.openxmlformats.org/drawingml/2006/main">
            <a:r>
              <a:t/>
            </a:r>
          </a:p>
          <a:p xmlns:a="http://schemas.openxmlformats.org/drawingml/2006/main">
            <a:r>
              <a:t>The toMap method prepares values for SQLite, and fromMap reconstructs the Meal. A stable ID lets the interface update the correct record even after its name or position changes.</a:t>
            </a:r>
          </a:p>
          <a:p xmlns:a="http://schemas.openxmlformats.org/drawingml/2006/main">
            <a:r>
              <a:t/>
            </a:r>
          </a:p>
          <a:p xmlns:a="http://schemas.openxmlformats.org/drawingml/2006/main">
            <a:r>
              <a:t>Question mapping: D1.</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A.J.. Section: Backend.</a:t>
            </a:r>
          </a:p>
          <a:p xmlns:a="http://schemas.openxmlformats.org/drawingml/2006/main">
            <a:r>
              <a:t>Suggested reading window at 145 words per minute: 4:25–5:11.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The meals table stores catalog information. The purchase_logs table stores actual receipts, including its own ID, the related mealId, the amount paid, a purchase timestamp, a note and a unique save token. One meal can therefore have many separate purchases.</a:t>
            </a:r>
          </a:p>
          <a:p xmlns:a="http://schemas.openxmlformats.org/drawingml/2006/main">
            <a:r>
              <a:t/>
            </a:r>
          </a:p>
          <a:p xmlns:a="http://schemas.openxmlformats.org/drawingml/2006/main">
            <a:r>
              <a:t>The foreign key connects each purchase to an existing meal. We enable foreign-key enforcement when opening the database. Parent deletion uses a restriction, so a meal with saved purchases cannot disappear while those receipts still depend on it. The interface explains which records need attention.</a:t>
            </a:r>
          </a:p>
          <a:p xmlns:a="http://schemas.openxmlformats.org/drawingml/2006/main">
            <a:r>
              <a:t/>
            </a:r>
          </a:p>
          <a:p xmlns:a="http://schemas.openxmlformats.org/drawingml/2006/main">
            <a:r>
              <a:t>Editing a catalog estimate leaves earlier actual amounts unchanged. Preferences use SharedPreferences, and favorites remain a Meal field, keeping the relational model to two entities.</a:t>
            </a:r>
          </a:p>
          <a:p xmlns:a="http://schemas.openxmlformats.org/drawingml/2006/main">
            <a:r>
              <a:t/>
            </a:r>
          </a:p>
          <a:p xmlns:a="http://schemas.openxmlformats.org/drawingml/2006/main">
            <a:r>
              <a:t>Question mapping: D1.</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A.J.. Section: Backend.</a:t>
            </a:r>
          </a:p>
          <a:p xmlns:a="http://schemas.openxmlformats.org/drawingml/2006/main">
            <a:r>
              <a:t>Suggested reading window at 145 words per minute: 5:11–5:57.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Create inserts a validated Meal and lets SQLite generate its ID. Read retrieves saved rows in a consistent order and converts them into Meal objects. Update requires an existing ID and applies changes to the row whose ID matches that value.</a:t>
            </a:r>
          </a:p>
          <a:p xmlns:a="http://schemas.openxmlformats.org/drawingml/2006/main">
            <a:r>
              <a:t/>
            </a:r>
          </a:p>
          <a:p xmlns:a="http://schemas.openxmlformats.org/drawingml/2006/main">
            <a:r>
              <a:t>Delete also uses the database ID. Before deleting a meal, the data layer checks for linked purchases. The final application provides the same independent CRUD operations for PurchaseLog, allowing users to add a receipt, view it, correct its amount or remove it after confirmation.</a:t>
            </a:r>
          </a:p>
          <a:p xmlns:a="http://schemas.openxmlformats.org/drawingml/2006/main">
            <a:r>
              <a:t/>
            </a:r>
          </a:p>
          <a:p xmlns:a="http://schemas.openxmlformats.org/drawingml/2006/main">
            <a:r>
              <a:t>Queries use bound arguments for IDs. Refreshing the saved lists after a successful change keeps the catalog, purchase log and totals aligned with current database rows.</a:t>
            </a:r>
          </a:p>
          <a:p xmlns:a="http://schemas.openxmlformats.org/drawingml/2006/main">
            <a:r>
              <a:t/>
            </a:r>
          </a:p>
          <a:p xmlns:a="http://schemas.openxmlformats.org/drawingml/2006/main">
            <a:r>
              <a:t>Question mapping: D1.</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A.J.. Section: Backend.</a:t>
            </a:r>
          </a:p>
          <a:p xmlns:a="http://schemas.openxmlformats.org/drawingml/2006/main">
            <a:r>
              <a:t>Suggested reading window at 145 words per minute: 5:57–6:46.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Required names and venue notes cannot be blank. The money parser accepts dollar input with up to two decimal places and converts it into integer cents. SQLite adds stored-type and range checks.</a:t>
            </a:r>
          </a:p>
          <a:p xmlns:a="http://schemas.openxmlformats.org/drawingml/2006/main">
            <a:r>
              <a:t/>
            </a:r>
          </a:p>
          <a:p xmlns:a="http://schemas.openxmlformats.org/drawingml/2006/main">
            <a:r>
              <a:t>The integrated database uses version two. Its migration preserves the original version-one meal rows and their IDs while converting the earlier decimal dollar prices into integer cents. Keeping the IDs matters because they identify the same meals before and after the upgrade.</a:t>
            </a:r>
          </a:p>
          <a:p xmlns:a="http://schemas.openxmlformats.org/drawingml/2006/main">
            <a:r>
              <a:t/>
            </a:r>
          </a:p>
          <a:p xmlns:a="http://schemas.openxmlformats.org/drawingml/2006/main">
            <a:r>
              <a:t>We checked the migration with an actual old-schema fixture on Android. That fixture preserves meal ID seventeen and converts a price of six dollars and fifty cents to 650 cents. This verifies preservation during an upgrade, in addition to testing a fresh database installation.</a:t>
            </a:r>
          </a:p>
          <a:p xmlns:a="http://schemas.openxmlformats.org/drawingml/2006/main">
            <a:r>
              <a:t/>
            </a:r>
          </a:p>
          <a:p xmlns:a="http://schemas.openxmlformats.org/drawingml/2006/main">
            <a:r>
              <a:t>Question mapping: D1, T2.</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A.J.. Section: Backend.</a:t>
            </a:r>
          </a:p>
          <a:p xmlns:a="http://schemas.openxmlformats.org/drawingml/2006/main">
            <a:r>
              <a:t>Suggested reading window at 145 words per minute: 6:46–7:31.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Repeated taps or a retried operation should not create duplicate receipts. The final save path uses a stable token for one purchase draft. Inside a transaction, it looks for an existing receipt with that token and returns the existing ID when one is already present.</a:t>
            </a:r>
          </a:p>
          <a:p xmlns:a="http://schemas.openxmlformats.org/drawingml/2006/main">
            <a:r>
              <a:t/>
            </a:r>
          </a:p>
          <a:p xmlns:a="http://schemas.openxmlformats.org/drawingml/2006/main">
            <a:r>
              <a:t>A unique constraint protects the token. Each deliberate new purchase receives a new token, while the frontend disables Save during a pending write.</a:t>
            </a:r>
          </a:p>
          <a:p xmlns:a="http://schemas.openxmlformats.org/drawingml/2006/main">
            <a:r>
              <a:t/>
            </a:r>
          </a:p>
          <a:p xmlns:a="http://schemas.openxmlformats.org/drawingml/2006/main">
            <a:r>
              <a:t>My original History page supplied the Card and ListTile foundation. The integrated version now displays child purchase records and passes their IDs to the appropriate actions. Om will now explain how the frontend connects these backend operations to the student's workflow.</a:t>
            </a:r>
          </a:p>
          <a:p xmlns:a="http://schemas.openxmlformats.org/drawingml/2006/main">
            <a:r>
              <a:t/>
            </a:r>
          </a:p>
          <a:p xmlns:a="http://schemas.openxmlformats.org/drawingml/2006/main">
            <a:r>
              <a:t>Question mapping: T2, D1, R1.</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Om. Section: Frontend and integration.</a:t>
            </a:r>
          </a:p>
          <a:p xmlns:a="http://schemas.openxmlformats.org/drawingml/2006/main">
            <a:r>
              <a:t>Suggested reading window at 145 words per minute: 7:31–8:17.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My frontend work connects the student's actions to the shared data layer. Home provides meal search, a cuisine filter and a favorites filter. Add and Edit open the same meal form. View meal opens the planning activity, where the student can enter an actual purchase amount.</a:t>
            </a:r>
          </a:p>
          <a:p xmlns:a="http://schemas.openxmlformats.org/drawingml/2006/main">
            <a:r>
              <a:t/>
            </a:r>
          </a:p>
          <a:p xmlns:a="http://schemas.openxmlformats.org/drawingml/2006/main">
            <a:r>
              <a:t>History is the purchase log. It displays receipts with their amounts and dates and supports viewing, correction and deletion. Its selected filters determine the spending total. Settings provides the budget slider and a saved display preference, completing the five required screen roles.</a:t>
            </a:r>
          </a:p>
          <a:p xmlns:a="http://schemas.openxmlformats.org/drawingml/2006/main">
            <a:r>
              <a:t/>
            </a:r>
          </a:p>
          <a:p xmlns:a="http://schemas.openxmlformats.org/drawingml/2006/main">
            <a:r>
              <a:t>Stateless MealCard and EmptyView render supplied values and callbacks. Reusing them keeps presentation consistent when saved records change or a filter returns no results.</a:t>
            </a:r>
          </a:p>
          <a:p xmlns:a="http://schemas.openxmlformats.org/drawingml/2006/main">
            <a:r>
              <a:t/>
            </a:r>
          </a:p>
          <a:p xmlns:a="http://schemas.openxmlformats.org/drawingml/2006/main">
            <a:r>
              <a:t>Question mapping: I1, R1.</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Om. Section: Frontend and integration.</a:t>
            </a:r>
          </a:p>
          <a:p xmlns:a="http://schemas.openxmlformats.org/drawingml/2006/main">
            <a:r>
              <a:t>Suggested reading window at 145 words per minute: 8:17–9:01.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AppStore is our shared ChangeNotifier. It holds the loaded meals, purchases, budget and dark-mode value. After a successful database mutation, refreshing the store reloads current rows and notifies the interface. This allows multiple screens to reflect the same saved information.</a:t>
            </a:r>
          </a:p>
          <a:p xmlns:a="http://schemas.openxmlformats.org/drawingml/2006/main">
            <a:r>
              <a:t/>
            </a:r>
          </a:p>
          <a:p xmlns:a="http://schemas.openxmlformats.org/drawingml/2006/main">
            <a:r>
              <a:t>The forms use StatefulWidget for temporary input, validation and a pending-save flag. For example, dragging the budget slider shows a draft value immediately, while releasing it saves the preference. This separates interaction in progress from the value that has successfully reached local storage.</a:t>
            </a:r>
          </a:p>
          <a:p xmlns:a="http://schemas.openxmlformats.org/drawingml/2006/main">
            <a:r>
              <a:t/>
            </a:r>
          </a:p>
          <a:p xmlns:a="http://schemas.openxmlformats.org/drawingml/2006/main">
            <a:r>
              <a:t>We dispose controllers and check mounted after asynchronous operations. The application owns database lifetime, and AppStore suppresses notifications after disposal, reducing stale updates.</a:t>
            </a:r>
          </a:p>
          <a:p xmlns:a="http://schemas.openxmlformats.org/drawingml/2006/main">
            <a:r>
              <a:t/>
            </a:r>
          </a:p>
          <a:p xmlns:a="http://schemas.openxmlformats.org/drawingml/2006/main">
            <a:r>
              <a:t>Question mapping: I2, A1, A2.</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Om. Section: Frontend and integration.</a:t>
            </a:r>
          </a:p>
          <a:p xmlns:a="http://schemas.openxmlformats.org/drawingml/2006/main">
            <a:r>
              <a:t>Suggested reading window at 145 words per minute: 9:01–9:49.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MealEditor handles both creation and updates. Editing loads the selected Meal's current values and retains its ID. Creating collects new values and receives a database-generated ID after saving.</a:t>
            </a:r>
          </a:p>
          <a:p xmlns:a="http://schemas.openxmlformats.org/drawingml/2006/main">
            <a:r>
              <a:t/>
            </a:r>
          </a:p>
          <a:p xmlns:a="http://schemas.openxmlformats.org/drawingml/2006/main">
            <a:r>
              <a:t>The form requires a meal name and venue note and validates the money fields before submitting. An inline message explains an invalid amount, so the student can correct the input instead of discovering the problem after leaving the page. All amounts have explicit USD labels.</a:t>
            </a:r>
          </a:p>
          <a:p xmlns:a="http://schemas.openxmlformats.org/drawingml/2006/main">
            <a:r>
              <a:t/>
            </a:r>
          </a:p>
          <a:p xmlns:a="http://schemas.openxmlformats.org/drawingml/2006/main">
            <a:r>
              <a:t>Saving and navigation wait for the asynchronous operation to finish. If a write fails, the form provides feedback and preserves the draft. Delete actions require confirmation, and linked purchase records produce a clear restriction message. This connects backend rules to understandable user feedback.</a:t>
            </a:r>
          </a:p>
          <a:p xmlns:a="http://schemas.openxmlformats.org/drawingml/2006/main">
            <a:r>
              <a:t/>
            </a:r>
          </a:p>
          <a:p xmlns:a="http://schemas.openxmlformats.org/drawingml/2006/main">
            <a:r>
              <a:t>Question mapping: I1, I2, T2.</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Om. Section: Frontend and integration.</a:t>
            </a:r>
          </a:p>
          <a:p xmlns:a="http://schemas.openxmlformats.org/drawingml/2006/main">
            <a:r>
              <a:t>Suggested reading window at 145 words per minute: 9:49–10:36.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The activity begins with Start plan. The student enters the actual amount and explicitly chooses Save purchase and finish. An amount over the lunch budget triggers a confirmation. Reset asks for confirmation and discards the active unsaved draft while keeping saved purchase history available.</a:t>
            </a:r>
          </a:p>
          <a:p xmlns:a="http://schemas.openxmlformats.org/drawingml/2006/main">
            <a:r>
              <a:t/>
            </a:r>
          </a:p>
          <a:p xmlns:a="http://schemas.openxmlformats.org/drawingml/2006/main">
            <a:r>
              <a:t>Correcting a receipt refreshes its actual amount, spending total and dependent Lunch Lens result. The flow distinguishes current catalog estimates, unsaved drafts and saved receipts.</a:t>
            </a:r>
          </a:p>
          <a:p xmlns:a="http://schemas.openxmlformats.org/drawingml/2006/main">
            <a:r>
              <a:t/>
            </a:r>
          </a:p>
          <a:p xmlns:a="http://schemas.openxmlformats.org/drawingml/2006/main">
            <a:r>
              <a:t>The budget slider covers zero to thirty dollars in fifty-cent steps. SharedPreferences stores the budget and dark mode, while SQLite stores the meals and receipts. The application loads both kinds of saved information after a process restart, which we also demonstrate with networking disabled.</a:t>
            </a:r>
          </a:p>
          <a:p xmlns:a="http://schemas.openxmlformats.org/drawingml/2006/main">
            <a:r>
              <a:t/>
            </a:r>
          </a:p>
          <a:p xmlns:a="http://schemas.openxmlformats.org/drawingml/2006/main">
            <a:r>
              <a:t>Question mapping: I2, D1, D2.</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Om. Section: Frontend and integration.</a:t>
            </a:r>
          </a:p>
          <a:p xmlns:a="http://schemas.openxmlformats.org/drawingml/2006/main">
            <a:r>
              <a:t>Suggested reading window at 145 words per minute: 10:36–11:27.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Lunch Lens is our local rule-based smart helper. A pure Dart function selects the three most recent earlier purchases of the selected meal. It sorts them by timestamp and uses the row ID to break equal-time ties. Other meals and later purchases do not enter that estimate.</a:t>
            </a:r>
          </a:p>
          <a:p xmlns:a="http://schemas.openxmlformats.org/drawingml/2006/main">
            <a:r>
              <a:t/>
            </a:r>
          </a:p>
          <a:p xmlns:a="http://schemas.openxmlformats.org/drawingml/2006/main">
            <a:r>
              <a:t>The helper calculates and rounds the mean in cents. It also reports the last-price baseline. The activity shows the input amounts and date range alongside its explanation.</a:t>
            </a:r>
          </a:p>
          <a:p xmlns:a="http://schemas.openxmlformats.org/drawingml/2006/main">
            <a:r>
              <a:t/>
            </a:r>
          </a:p>
          <a:p xmlns:a="http://schemas.openxmlformats.org/drawingml/2006/main">
            <a:r>
              <a:t>The student can dismiss the card with Not now and restore it later. The helper never overwrites the actual amount or saves a purchase by itself. Insufficient history produces a clear message. This gives the user a suggestion with a visible reason while preserving control over the recorded amount.</a:t>
            </a:r>
          </a:p>
          <a:p xmlns:a="http://schemas.openxmlformats.org/drawingml/2006/main">
            <a:r>
              <a:t/>
            </a:r>
          </a:p>
          <a:p xmlns:a="http://schemas.openxmlformats.org/drawingml/2006/main">
            <a:r>
              <a:t>Question mapping: R4, A1.</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Om. Section: Frontend and integration.</a:t>
            </a:r>
          </a:p>
          <a:p xmlns:a="http://schemas.openxmlformats.org/drawingml/2006/main">
            <a:r>
              <a:t>Suggested reading window at 145 words per minute: 11:27–11:46.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We checked five fictional case types. The table shows chronological input amounts in cents and the actual outputs from the passing checks.</a:t>
            </a:r>
          </a:p>
          <a:p xmlns:a="http://schemas.openxmlformats.org/drawingml/2006/main">
            <a:r>
              <a:t/>
            </a:r>
          </a:p>
          <a:p xmlns:a="http://schemas.openxmlformats.org/drawingml/2006/main">
            <a:r>
              <a:t>Normal, insufficient, invalid, boundary and counterexample cases test different behaviors. Empty and invalid cases assess feedback. They do not receive invented numeric error scores.</a:t>
            </a:r>
          </a:p>
          <a:p xmlns:a="http://schemas.openxmlformats.org/drawingml/2006/main">
            <a:r>
              <a:t/>
            </a:r>
          </a:p>
          <a:p xmlns:a="http://schemas.openxmlformats.org/drawingml/2006/main">
            <a:r>
              <a:t>Question mapping: R4, T1.</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Om. Section: Frontend and integration.</a:t>
            </a:r>
          </a:p>
          <a:p xmlns:a="http://schemas.openxmlformats.org/drawingml/2006/main">
            <a:r>
              <a:t>Suggested reading window at 145 words per minute: 11:46–12:35.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For the normal case, an earlier history of 450, 600 and 750 cents produces a 600-cent estimate. Against a later fictional reference of 650 cents, its absolute error is fifty cents. The last-price baseline predicts 750 cents and has an error of one hundred cents.</a:t>
            </a:r>
          </a:p>
          <a:p xmlns:a="http://schemas.openxmlformats.org/drawingml/2006/main">
            <a:r>
              <a:t/>
            </a:r>
          </a:p>
          <a:p xmlns:a="http://schemas.openxmlformats.org/drawingml/2006/main">
            <a:r>
              <a:t>The counterexample exposes the weakness of a mean. Inputs of 500, 2000 and 500 cents produce a 1000-cent estimate, although the reference is 500. Across the three valid numeric comparisons, the helper's mean absolute error is 183.33 cents, while the baseline's is 33.67 cents.</a:t>
            </a:r>
          </a:p>
          <a:p xmlns:a="http://schemas.openxmlformats.org/drawingml/2006/main">
            <a:r>
              <a:t/>
            </a:r>
          </a:p>
          <a:p xmlns:a="http://schemas.openxmlformats.org/drawingml/2006/main">
            <a:r>
              <a:t>The baseline wins on this tiny designed set. We retain the recipe's transparent mean and disclose its outlier sensitivity. A future median comparison needs new cases before any improvement claim.</a:t>
            </a:r>
          </a:p>
          <a:p xmlns:a="http://schemas.openxmlformats.org/drawingml/2006/main">
            <a:r>
              <a:t/>
            </a:r>
          </a:p>
          <a:p xmlns:a="http://schemas.openxmlformats.org/drawingml/2006/main">
            <a:r>
              <a:t>Question mapping: R4.</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Om. Section: Frontend and integration.</a:t>
            </a:r>
          </a:p>
          <a:p xmlns:a="http://schemas.openxmlformats.org/drawingml/2006/main">
            <a:r>
              <a:t>Suggested reading window at 145 words per minute: 12:35–13:23.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Our final analyzer run reported no issues, and the logic and widget suite passed seventeen checks. Pure-function tests cover money rules and helper cases. Widget tests use an injected fake data boundary to examine navigation, invalid inputs, a failed save and the helper's explanation and dismissal.</a:t>
            </a:r>
          </a:p>
          <a:p xmlns:a="http://schemas.openxmlformats.org/drawingml/2006/main">
            <a:r>
              <a:t/>
            </a:r>
          </a:p>
          <a:p xmlns:a="http://schemas.openxmlformats.org/drawingml/2006/main">
            <a:r>
              <a:t>Android integration checks use the real SQLite plugin. Three checks passed on each of two emulator profiles, covering CRUD, constraints, repeated-save behavior, migration and reopening saved data. Release installation and offline restart checks also showed retained records and preferences through the running interface.</a:t>
            </a:r>
          </a:p>
          <a:p xmlns:a="http://schemas.openxmlformats.org/drawingml/2006/main">
            <a:r>
              <a:t/>
            </a:r>
          </a:p>
          <a:p xmlns:a="http://schemas.openxmlformats.org/drawingml/2006/main">
            <a:r>
              <a:t>The emulators have different display settings but share one Android API image. Physical-device testing and independent peer revision remain incomplete. Genuine logs identify the checks we actually performed.</a:t>
            </a:r>
          </a:p>
          <a:p xmlns:a="http://schemas.openxmlformats.org/drawingml/2006/main">
            <a:r>
              <a:t/>
            </a:r>
          </a:p>
          <a:p xmlns:a="http://schemas.openxmlformats.org/drawingml/2006/main">
            <a:r>
              <a:t>Question mapping: T1, T2, D2.</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Om. Section: Frontend and integration.</a:t>
            </a:r>
          </a:p>
          <a:p xmlns:a="http://schemas.openxmlformats.org/drawingml/2006/main">
            <a:r>
              <a:t>Suggested reading window at 145 words per minute: 13:23–14:09.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The main integration task was connecting A.J.'s database and History foundation to the frontend and the child purchase model. We adapted History actions to use PurchaseLog IDs, connected it to AppStore and checked that filters, totals and corrections reflected current saved records.</a:t>
            </a:r>
          </a:p>
          <a:p xmlns:a="http://schemas.openxmlformats.org/drawingml/2006/main">
            <a:r>
              <a:t/>
            </a:r>
          </a:p>
          <a:p xmlns:a="http://schemas.openxmlformats.org/drawingml/2006/main">
            <a:r>
              <a:t>We preserved A.J.'s branch history and added History regression checks before merging. This creates a contribution trail and separates his original foundation from my frontend and integration focus.</a:t>
            </a:r>
          </a:p>
          <a:p xmlns:a="http://schemas.openxmlformats.org/drawingml/2006/main">
            <a:r>
              <a:t/>
            </a:r>
          </a:p>
          <a:p xmlns:a="http://schemas.openxmlformats.org/drawingml/2006/main">
            <a:r>
              <a:t>The dated ClickUp snapshots and steady target of twenty meaningful commits per person remain gaps in our evidence. The preserved branch history, integration and actual test logs are available for review. In a future project, we would collect board evidence throughout development.</a:t>
            </a:r>
          </a:p>
          <a:p xmlns:a="http://schemas.openxmlformats.org/drawingml/2006/main">
            <a:r>
              <a:t/>
            </a:r>
          </a:p>
          <a:p xmlns:a="http://schemas.openxmlformats.org/drawingml/2006/main">
            <a:r>
              <a:t>Question mapping: R1, R2, A1.</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Om. Section: Frontend and integration.</a:t>
            </a:r>
          </a:p>
          <a:p xmlns:a="http://schemas.openxmlformats.org/drawingml/2006/main">
            <a:r>
              <a:t>Suggested reading window at 145 words per minute: 14:09–14:57.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Our first improvement would be a more robust cost comparison. We would test a median against the current mean and last-price baseline on new chronological cases. That would help us decide whether a change handles unusual purchases more usefully without hiding how the suggestion works.</a:t>
            </a:r>
          </a:p>
          <a:p xmlns:a="http://schemas.openxmlformats.org/drawingml/2006/main">
            <a:r>
              <a:t/>
            </a:r>
          </a:p>
          <a:p xmlns:a="http://schemas.openxmlformats.org/drawingml/2006/main">
            <a:r>
              <a:t>We would also test on physical devices and more Android versions and arrange independent peer tasks. Those observations could reveal navigation problems, unclear messages or accessibility issues that our current emulator checks do not cover. We would record the feedback and verify any resulting revision.</a:t>
            </a:r>
          </a:p>
          <a:p xmlns:a="http://schemas.openxmlformats.org/drawingml/2006/main">
            <a:r>
              <a:t/>
            </a:r>
          </a:p>
          <a:p xmlns:a="http://schemas.openxmlformats.org/drawingml/2006/main">
            <a:r>
              <a:t>Weekly summaries and a local CSV export could make personal spending easier to review while preserving offline use. These are proposed improvements beyond the current release.</a:t>
            </a:r>
          </a:p>
          <a:p xmlns:a="http://schemas.openxmlformats.org/drawingml/2006/main">
            <a:r>
              <a:t/>
            </a:r>
          </a:p>
          <a:p xmlns:a="http://schemas.openxmlformats.org/drawingml/2006/main">
            <a:r>
              <a:t>Question mapping: R4.</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Om. Section: Frontend and integration.</a:t>
            </a:r>
          </a:p>
          <a:p xmlns:a="http://schemas.openxmlformats.org/drawingml/2006/main">
            <a:r>
              <a:t>Suggested reading window at 145 words per minute: 14:57–15:43.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Our public GitHub repository contains the source and the evidence behind the application. The lib folder holds the screens, AppStore, SQLite boundary and domain rules. The test and integration_test folders contain checks at different levels, while docs and evidence explain the architecture and record actual results.</a:t>
            </a:r>
          </a:p>
          <a:p xmlns:a="http://schemas.openxmlformats.org/drawingml/2006/main">
            <a:r>
              <a:t/>
            </a:r>
          </a:p>
          <a:p xmlns:a="http://schemas.openxmlformats.org/drawingml/2006/main">
            <a:r>
              <a:t>The commit history preserves A.J.'s original contributions and the integration work. The release page provides the Android APK for direct installation. GitHub supports development and delivery, while the application itself reads its records from local device storage.</a:t>
            </a:r>
          </a:p>
          <a:p xmlns:a="http://schemas.openxmlformats.org/drawingml/2006/main">
            <a:r>
              <a:t/>
            </a:r>
          </a:p>
          <a:p xmlns:a="http://schemas.openxmlformats.org/drawingml/2006/main">
            <a:r>
              <a:t>The README links setup instructions and project resources. The architecture and helper documents explain the decisions and evaluation, allowing reviewers to connect application behavior with the supporting evidence.</a:t>
            </a:r>
          </a:p>
          <a:p xmlns:a="http://schemas.openxmlformats.org/drawingml/2006/main">
            <a:r>
              <a:t/>
            </a:r>
          </a:p>
          <a:p xmlns:a="http://schemas.openxmlformats.org/drawingml/2006/main">
            <a:r>
              <a:t>Question mapping: R1, R2.</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Om. Section: Demo handoff.</a:t>
            </a:r>
          </a:p>
          <a:p xmlns:a="http://schemas.openxmlformats.org/drawingml/2006/main">
            <a:r>
              <a:t>Suggested reading window at 145 words per minute: 15:43–16:20. Rehearse the complete recording including live actions and questions within 20–25 minutes.</a:t>
            </a:r>
          </a:p>
          <a:p xmlns:a="http://schemas.openxmlformats.org/drawingml/2006/main">
            <a:r>
              <a:t/>
            </a:r>
          </a:p>
          <a:p xmlns:a="http://schemas.openxmlformats.org/drawingml/2006/main">
            <a:r>
              <a:t>Read aloud:</a:t>
            </a:r>
          </a:p>
          <a:p xmlns:a="http://schemas.openxmlformats.org/drawingml/2006/main">
            <a:r>
              <a:t>That completes our explanation of the project, the backend foundation and the frontend integration. We will now switch from the slides to the running Android application. A.J. will narrate the demonstration, and I will assist with the on-screen actions when needed.</a:t>
            </a:r>
          </a:p>
          <a:p xmlns:a="http://schemas.openxmlformats.org/drawingml/2006/main">
            <a:r>
              <a:t/>
            </a:r>
          </a:p>
          <a:p xmlns:a="http://schemas.openxmlformats.org/drawingml/2006/main">
            <a:r>
              <a:t>The demo follows a fictional meal through catalog entry, purchase and correction. It then shows Lunch Lens and verifies saved preferences and records after an offline restart.</a:t>
            </a:r>
          </a:p>
          <a:p xmlns:a="http://schemas.openxmlformats.org/drawingml/2006/main">
            <a:r>
              <a:t/>
            </a:r>
          </a:p>
          <a:p xmlns:a="http://schemas.openxmlformats.org/drawingml/2006/main">
            <a:r>
              <a:t>Thank you for following our presentation. A.J. will now demonstrate Budget Bites, and we will take questions after the application walkthrough.</a:t>
            </a:r>
          </a:p>
          <a:p xmlns:a="http://schemas.openxmlformats.org/drawingml/2006/main">
            <a:r>
              <a:t/>
            </a:r>
          </a:p>
          <a:p xmlns:a="http://schemas.openxmlformats.org/drawingml/2006/main">
            <a:r>
              <a:t>Question mapping: D1, D2, R4.</a:t>
            </a:r>
          </a:p>
          <a:p xmlns:a="http://schemas.openxmlformats.org/drawingml/2006/main">
            <a:r>
              <a:t>Sources: https://github.com/Omswaroopreddyudumula/ajxom-budget-bites; lib/models/meal.dart; lib/data/meal_database.dart; lib/state/app_store.dart; lib/screens/; lib/domain/lunch_lens.dart; ARCHITECTURE.md; AI_FEATURE.md; docs/CONTRIBUTIONS.md; docs/TEST_RESULTS.md; evidence/final-prefixed logs.</a:t>
            </a:r>
          </a:p>
          <a:p xmlns:a="http://schemas.openxmlformats.org/drawingml/2006/main">
            <a:r>
              <a:t>Chosen brief: https://codd.cs.gsu.edu/~lhenry23/mad/Projects/Project1/ver2/topics/budget-bites.html</a:t>
            </a:r>
          </a:p>
          <a:p xmlns:a="http://schemas.openxmlformats.org/drawingml/2006/main">
            <a:r>
              <a:t/>
            </a:r>
          </a:p>
          <a:p xmlns:a="http://schemas.openxmlformats.org/drawingml/2006/main">
            <a:r>
              <a:t>A.J. live application script after the slides:</a:t>
            </a:r>
          </a:p>
          <a:p xmlns:a="http://schemas.openxmlformats.org/drawingml/2006/main">
            <a:r>
              <a:t># A.J.'s live Budget Bites demo script</a:t>
            </a:r>
          </a:p>
          <a:p xmlns:a="http://schemas.openxmlformats.org/drawingml/2006/main">
            <a:r>
              <a:t/>
            </a:r>
          </a:p>
          <a:p xmlns:a="http://schemas.openxmlformats.org/drawingml/2006/main">
            <a:r>
              <a:t>**Speaker:** A.J. throughout the application demo. Om can operate the emulator while A.J. reads.</a:t>
            </a:r>
          </a:p>
          <a:p xmlns:a="http://schemas.openxmlformats.org/drawingml/2006/main">
            <a:r>
              <a:t/>
            </a:r>
          </a:p>
          <a:p xmlns:a="http://schemas.openxmlformats.org/drawingml/2006/main">
            <a:r>
              <a:t>**Order:** Present all 22 slides first, then switch to the installed Android release app. Aim for about 5–6 minutes for this walkthrough, speaking while performing the actions. Rehearse the combined presentation at a comfortable pace and keep the full recording within the course's 20–25 minutes.</a:t>
            </a:r>
          </a:p>
          <a:p xmlns:a="http://schemas.openxmlformats.org/drawingml/2006/main">
            <a:r>
              <a:t/>
            </a:r>
          </a:p>
          <a:p xmlns:a="http://schemas.openxmlformats.org/drawingml/2006/main">
            <a:r>
              <a:t>Read the quoted paragraphs. The **Show** lines are operator instructions and are not spoken. These are fictional demonstration amounts, not actual purchases. Keep existing records. Use a new unique demo meal name if “Showcase Lunch” already exists. Do not delete unrelated records.</a:t>
            </a:r>
          </a:p>
          <a:p xmlns:a="http://schemas.openxmlformats.org/drawingml/2006/main">
            <a:r>
              <a:t/>
            </a:r>
          </a:p>
          <a:p xmlns:a="http://schemas.openxmlformats.org/drawingml/2006/main">
            <a:r>
              <a:t>## 1. Home and the purpose of the app</a:t>
            </a:r>
          </a:p>
          <a:p xmlns:a="http://schemas.openxmlformats.org/drawingml/2006/main">
            <a:r>
              <a:t/>
            </a:r>
          </a:p>
          <a:p xmlns:a="http://schemas.openxmlformats.org/drawingml/2006/main">
            <a:r>
              <a:t>**Show:** Open Budget Bites. Show Home, the budget value, search, cuisine filter and favorites. Set the budget to $10.00 and light mode before this walkthrough if necessary.</a:t>
            </a:r>
          </a:p>
          <a:p xmlns:a="http://schemas.openxmlformats.org/drawingml/2006/main">
            <a:r>
              <a:t/>
            </a:r>
          </a:p>
          <a:p xmlns:a="http://schemas.openxmlformats.org/drawingml/2006/main">
            <a:r>
              <a:t>&gt; I will now demonstrate the team's integrated application. Home shows the meal catalog and the current lunch budget. A student can search their own meal notes, choose a cuisine or use the favorites filter. These are local records, and the starter meals are fictional examples. I will use a separate fictional meal so the demonstration does not change unrelated records.</a:t>
            </a:r>
          </a:p>
          <a:p xmlns:a="http://schemas.openxmlformats.org/drawingml/2006/main">
            <a:r>
              <a:t/>
            </a:r>
          </a:p>
          <a:p xmlns:a="http://schemas.openxmlformats.org/drawingml/2006/main">
            <a:r>
              <a:t>## 2. Create, read and edit a meal</a:t>
            </a:r>
          </a:p>
          <a:p xmlns:a="http://schemas.openxmlformats.org/drawingml/2006/main">
            <a:r>
              <a:t/>
            </a:r>
          </a:p>
          <a:p xmlns:a="http://schemas.openxmlformats.org/drawingml/2006/main">
            <a:r>
              <a:t>**Show:** Select **Add meal**. Enter **Showcase Lunch**, venue **Fictional demo cafe**, entree **Wrap** at **5.50**, and side **Fruit** at **1.00**. Leave the other price at zero and save. Search for the meal. Open **Edit meal**, change the venue note to **Fictional demo cafe, student menu**, and save.</a:t>
            </a:r>
          </a:p>
          <a:p xmlns:a="http://schemas.openxmlformats.org/drawingml/2006/main">
            <a:r>
              <a:t/>
            </a:r>
          </a:p>
          <a:p xmlns:a="http://schemas.openxmlformats.org/drawingml/2006/main">
            <a:r>
              <a:t>&gt; This is the reusable meal editor from Om's frontend work. I am entering a name, venue note and estimated item prices. Saving creates a Meal with its own database ID. The two prices produce a six-dollar-fifty-cent catalog estimate. Editing the venue updates the same record rather than creating another meal. This demonstrates the connection between the form and our database CRUD boundary.</a:t>
            </a:r>
          </a:p>
          <a:p xmlns:a="http://schemas.openxmlformats.org/drawingml/2006/main">
            <a:r>
              <a:t/>
            </a:r>
          </a:p>
          <a:p xmlns:a="http://schemas.openxmlformats.org/drawingml/2006/main">
            <a:r>
              <a:t>## 3. Validate and save an actual purchase</a:t>
            </a:r>
          </a:p>
          <a:p xmlns:a="http://schemas.openxmlformats.org/drawingml/2006/main">
            <a:r>
              <a:t/>
            </a:r>
          </a:p>
          <a:p xmlns:a="http://schemas.openxmlformats.org/drawingml/2006/main">
            <a:r>
              <a:t>**Show:** Open **View meal**, then **Start plan**. Enter **6.999** in **Actual amount (USD)** and attempt Save to show the decimal-place validation. Correct it to **6.50**, then choose **Save purchase and finish**. Open **History** and select this meal using the meal filter.</a:t>
            </a:r>
          </a:p>
          <a:p xmlns:a="http://schemas.openxmlformats.org/drawingml/2006/main">
            <a:r>
              <a:t/>
            </a:r>
          </a:p>
          <a:p xmlns:a="http://schemas.openxmlformats.org/drawingml/2006/main">
            <a:r>
              <a:t>&gt; A planned estimate and an actual purchase are separate values. This amount has too many decimal places, so the form asks me to correct it before saving. After I enter six dollars and fifty cents and explicitly save, the app creates a purchase record linked to this meal. History is our purchase log, and its total reflects the selected meal and date filters.</a:t>
            </a:r>
          </a:p>
          <a:p xmlns:a="http://schemas.openxmlformats.org/drawingml/2006/main">
            <a:r>
              <a:t/>
            </a:r>
          </a:p>
          <a:p xmlns:a="http://schemas.openxmlformats.org/drawingml/2006/main">
            <a:r>
              <a:t>## 4. Read and correct history</a:t>
            </a:r>
          </a:p>
          <a:p xmlns:a="http://schemas.openxmlformats.org/drawingml/2006/main">
            <a:r>
              <a:t/>
            </a:r>
          </a:p>
          <a:p xmlns:a="http://schemas.openxmlformats.org/drawingml/2006/main">
            <a:r>
              <a:t>**Show:** Select **View receipt**, close it, then **Edit purchase**. Change **6.50** to **6.00** and choose **Save correction**. From History use **Add purchase**, select the same meal and save **4.50**. Add a second purchase of **7.50**. Reselect the meal filter if necessary. The three receipts now total **18.00**.</a:t>
            </a:r>
          </a:p>
          <a:p xmlns:a="http://schemas.openxmlformats.org/drawingml/2006/main">
            <a:r>
              <a:t/>
            </a:r>
          </a:p>
          <a:p xmlns:a="http://schemas.openxmlformats.org/drawingml/2006/main">
            <a:r>
              <a:t>&gt; The receipt shows the amount saved for a particular purchase. I can correct that amount to six dollars without changing the meal's current estimate. The spending total refreshes after the correction. I have now added two more fictional purchases, four dollars fifty and seven dollars fifty, which gives this meal three receipts totaling eighteen dollars.</a:t>
            </a:r>
          </a:p>
          <a:p xmlns:a="http://schemas.openxmlformats.org/drawingml/2006/main">
            <a:r>
              <a:t/>
            </a:r>
          </a:p>
          <a:p xmlns:a="http://schemas.openxmlformats.org/drawingml/2006/main">
            <a:r>
              <a:t>## 5. Delete safely and protect relationships</a:t>
            </a:r>
          </a:p>
          <a:p xmlns:a="http://schemas.openxmlformats.org/drawingml/2006/main">
            <a:r>
              <a:t/>
            </a:r>
          </a:p>
          <a:p xmlns:a="http://schemas.openxmlformats.org/drawingml/2006/main">
            <a:r>
              <a:t>**Show:** Add an extra **1.00** purchase for the same meal. The total becomes **19.00**. Delete that $1.00 receipt and confirm. The total returns to **18.00**. From Home attempt **Delete meal** on Showcase Lunch to show the linked-purchase restriction. Keep the three existing receipts.</a:t>
            </a:r>
          </a:p>
          <a:p xmlns:a="http://schemas.openxmlformats.org/drawingml/2006/main">
            <a:r>
              <a:t/>
            </a:r>
          </a:p>
          <a:p xmlns:a="http://schemas.openxmlformats.org/drawingml/2006/main">
            <a:r>
              <a:t>&gt; A purchase can also be deleted independently. This confirmation removes only the temporary one-dollar receipt and refreshes the total. The meal still has three linked purchases, so deleting the parent meal produces a restriction message. This protects the relationship between the catalog entry and its receipts. The original backend foundation and the integrated constraints work together here.</a:t>
            </a:r>
          </a:p>
          <a:p xmlns:a="http://schemas.openxmlformats.org/drawingml/2006/main">
            <a:r>
              <a:t/>
            </a:r>
          </a:p>
          <a:p xmlns:a="http://schemas.openxmlformats.org/drawingml/2006/main">
            <a:r>
              <a:t>## 6. Explain Lunch Lens and reset a draft</a:t>
            </a:r>
          </a:p>
          <a:p xmlns:a="http://schemas.openxmlformats.org/drawingml/2006/main">
            <a:r>
              <a:t/>
            </a:r>
          </a:p>
          <a:p xmlns:a="http://schemas.openxmlformats.org/drawingml/2006/main">
            <a:r>
              <a:t>**Show:** Open the meal's activity. Show Lunch Lens: earlier amounts **7.50, 4.50, 6.00**, mean **6.00**, last-price baseline **7.50**. Choose **Not now**, then **Show Lunch Lens**. Select **Start plan**, scroll to **Reset draft**, and confirm Reset. Do not save another receipt. Return to History to verify $18.00 remains.</a:t>
            </a:r>
          </a:p>
          <a:p xmlns:a="http://schemas.openxmlformats.org/drawingml/2006/main">
            <a:r>
              <a:t/>
            </a:r>
          </a:p>
          <a:p xmlns:a="http://schemas.openxmlformats.org/drawingml/2006/main">
            <a:r>
              <a:t>&gt; Lunch Lens now has enough earlier history. Its three amounts average six dollars, while the last-price baseline is seven dollars fifty. The card explains this calculation, and I can dismiss or reopen it. The helper does not enter the actual amount for me. Resetting this unsaved plan also leaves our three saved receipts and eighteen-dollar total unchanged.</a:t>
            </a:r>
          </a:p>
          <a:p xmlns:a="http://schemas.openxmlformats.org/drawingml/2006/main">
            <a:r>
              <a:t/>
            </a:r>
          </a:p>
          <a:p xmlns:a="http://schemas.openxmlformats.org/drawingml/2006/main">
            <a:r>
              <a:t>## 7. Preferences and an offline restart</a:t>
            </a:r>
          </a:p>
          <a:p xmlns:a="http://schemas.openxmlformats.org/drawingml/2006/main">
            <a:r>
              <a:t/>
            </a:r>
          </a:p>
          <a:p xmlns:a="http://schemas.openxmlformats.org/drawingml/2006/main">
            <a:r>
              <a:t>**Show:** In Settings move the budget slider from **10.00** to **13.50**, then enable dark mode. Turn on the emulator's airplane mode and explicitly turn Wi-Fi off. Open Android App info for Budget Bites, choose **Force stop** and confirm. Relaunch the app. Show $13.50 and dark mode in Settings. Open History and reselect Showcase Lunch to show three receipts and $18.00.</a:t>
            </a:r>
          </a:p>
          <a:p xmlns:a="http://schemas.openxmlformats.org/drawingml/2006/main">
            <a:r>
              <a:t/>
            </a:r>
          </a:p>
          <a:p xmlns:a="http://schemas.openxmlformats.org/drawingml/2006/main">
            <a:r>
              <a:t>&gt; Settings saves the budget and display preference locally. I am now turning off networking and restarting the app's process. After relaunch, the budget and dark mode remain saved. The three purchase records and their total are also still available. This demonstrates persistence through the running release app, with SQLite storing the records and SharedPreferences storing the simple settings.</a:t>
            </a:r>
          </a:p>
          <a:p xmlns:a="http://schemas.openxmlformats.org/drawingml/2006/main">
            <a:r>
              <a:t/>
            </a:r>
          </a:p>
          <a:p xmlns:a="http://schemas.openxmlformats.org/drawingml/2006/main">
            <a:r>
              <a:t>## 8. Close and invite questions</a:t>
            </a:r>
          </a:p>
          <a:p xmlns:a="http://schemas.openxmlformats.org/drawingml/2006/main">
            <a:r>
              <a:t/>
            </a:r>
          </a:p>
          <a:p xmlns:a="http://schemas.openxmlformats.org/drawingml/2006/main">
            <a:r>
              <a:t>**Show:** Keep History or the helper card visible, then return to the call or recording view.</a:t>
            </a:r>
          </a:p>
          <a:p xmlns:a="http://schemas.openxmlformats.org/drawingml/2006/main">
            <a:r>
              <a:t/>
            </a:r>
          </a:p>
          <a:p xmlns:a="http://schemas.openxmlformats.org/drawingml/2006/main">
            <a:r>
              <a:t>&gt; This completes the walkthrough of meal management, actual purchase history, the local helper and offline persistence. Thank you for watching. We are ready to answer questions about our individual work and the implementation.</a:t>
            </a:r>
          </a:p>
          <a:p xmlns:a="http://schemas.openxmlformats.org/drawingml/2006/main">
            <a:r>
              <a:t/>
            </a:r>
          </a:p>
          <a:p xmlns:a="http://schemas.openxmlformats.org/drawingml/2006/main">
            <a:r>
              <a:t>---</a:t>
            </a:r>
          </a:p>
          <a:p xmlns:a="http://schemas.openxmlformats.org/drawingml/2006/main">
            <a:r>
              <a:t/>
            </a:r>
          </a:p>
          <a:p xmlns:a="http://schemas.openxmlformats.org/drawingml/2006/main">
            <a:r>
              <a:t>## Rehearsal checks, not spoken</a:t>
            </a:r>
          </a:p>
          <a:p xmlns:a="http://schemas.openxmlformats.org/drawingml/2006/main">
            <a:r>
              <a:t/>
            </a:r>
          </a:p>
          <a:p xmlns:a="http://schemas.openxmlformats.org/drawingml/2006/main">
            <a:r>
              <a:t>- Verify the three receipts really are $6.00, $4.50 and $7.50 before showing the helper. Keep their timestamps earlier than the activity's selected time. Do not promise a fixed receipt ID.</a:t>
            </a:r>
          </a:p>
          <a:p xmlns:a="http://schemas.openxmlformats.org/drawingml/2006/main">
            <a:r>
              <a:t>- If other data exists, use the meal filter before citing the $18.00 total. A new installation intentionally has no purchase history.</a:t>
            </a:r>
          </a:p>
          <a:p xmlns:a="http://schemas.openxmlformats.org/drawingml/2006/main">
            <a:r>
              <a:t>- On an insufficient-history card, create the three demonstration receipts rather than claiming that an estimate is present.</a:t>
            </a:r>
          </a:p>
          <a:p xmlns:a="http://schemas.openxmlformats.org/drawingml/2006/main">
            <a:r>
              <a:t>- For an unlinked meal-delete example, create a separate temporary meal with no receipts, delete it and confirm. Do not remove the meal used for the persistence demonstration.</a:t>
            </a:r>
          </a:p>
          <a:p xmlns:a="http://schemas.openxmlformats.org/drawingml/2006/main">
            <a:r>
              <a:t>- If a control needs more time, continue describing the visible state. The steps are a rehearsal plan, not a claim that a new recording has already been completed.</a:t>
            </a:r>
          </a:p>
          <a:p xmlns:a="http://schemas.openxmlformats.org/drawingml/2006/main">
            <a:r>
              <a:t>- The earlier three silent emulator clips remain available as backups. This revision uses a live app demo after the slides.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77e55b67f14d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8e6b903ef9d435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4d3c3fc0d23455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0a3c704a7e43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a0a0b97636f47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d97a2a164c41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A05A74-3317-4324-879C-90F48FAA17C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85C99BC-C9AD-41BC-BF6D-9F0176FE778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A0C0C74-F2D4-4421-85A1-D5B62F06764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B50959-5496-4857-9071-C58AA89987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7AA42A7-8E4A-4589-BD69-482D5F46FB4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89CA50E-AC79-43FB-BF17-93B2192F3D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80ED7D-2A88-4686-B31B-3234E9ADE9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93307A7-BD36-470B-B588-BC8896F9C04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075CD9-9C69-4EFB-8298-807273A54B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600402-7FDA-488B-B4EA-81531624F9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2c00a7101348e4" /><Relationship Type="http://schemas.openxmlformats.org/officeDocument/2006/relationships/slideLayout" Target="/ppt/slideLayouts/slideLayout1.xml" Id="Rce70876f1f9b4eaf" /><Relationship Type="http://schemas.openxmlformats.org/officeDocument/2006/relationships/slideLayout" Target="/ppt/slideLayouts/slideLayout2.xml" Id="Rac25dfb117df42dc" /><Relationship Type="http://schemas.openxmlformats.org/officeDocument/2006/relationships/slideLayout" Target="/ppt/slideLayouts/slideLayout3.xml" Id="R8ff31591c543465a" /><Relationship Type="http://schemas.openxmlformats.org/officeDocument/2006/relationships/slideLayout" Target="/ppt/slideLayouts/slideLayout4.xml" Id="R92df90fb3afb432f" /><Relationship Type="http://schemas.openxmlformats.org/officeDocument/2006/relationships/slideLayout" Target="/ppt/slideLayouts/slideLayout5.xml" Id="R29b6a90202d443fe" /><Relationship Type="http://schemas.openxmlformats.org/officeDocument/2006/relationships/slideLayout" Target="/ppt/slideLayouts/slideLayout6.xml" Id="Rd94755d8d0df4f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70876f1f9b4eaf"/>
    <p:sldLayoutId xmlns:r="http://schemas.openxmlformats.org/officeDocument/2006/relationships" id="2147483650" r:id="Rac25dfb117df42dc"/>
    <p:sldLayoutId xmlns:r="http://schemas.openxmlformats.org/officeDocument/2006/relationships" id="2147483651" r:id="R8ff31591c543465a"/>
    <p:sldLayoutId xmlns:r="http://schemas.openxmlformats.org/officeDocument/2006/relationships" id="2147483652" r:id="R92df90fb3afb432f"/>
    <p:sldLayoutId xmlns:r="http://schemas.openxmlformats.org/officeDocument/2006/relationships" id="2147483653" r:id="R29b6a90202d443fe"/>
    <p:sldLayoutId xmlns:r="http://schemas.openxmlformats.org/officeDocument/2006/relationships" id="2147483654" r:id="Rd94755d8d0df4f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c01b388793842d4" /><Relationship Type="http://schemas.openxmlformats.org/officeDocument/2006/relationships/notesSlide" Target="/ppt/notesSlides/notesSlide1.xml" Id="R9cf6db15723943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85eb1dd31224dbd" /><Relationship Type="http://schemas.openxmlformats.org/officeDocument/2006/relationships/notesSlide" Target="/ppt/notesSlides/notesSlide2.xml" Id="R803c1b18c63e40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3f19e717a5746df" /><Relationship Type="http://schemas.openxmlformats.org/officeDocument/2006/relationships/notesSlide" Target="/ppt/notesSlides/notesSlide3.xml" Id="R0ac18f8ad04f4e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c6dc58b33cb425b" /><Relationship Type="http://schemas.openxmlformats.org/officeDocument/2006/relationships/notesSlide" Target="/ppt/notesSlides/notesSlide4.xml" Id="Rb74698f5370246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c1f171fbe10476e" /><Relationship Type="http://schemas.openxmlformats.org/officeDocument/2006/relationships/notesSlide" Target="/ppt/notesSlides/notesSlide5.xml" Id="Rdef24411568343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9c97cc0e3b74ff3" /><Relationship Type="http://schemas.openxmlformats.org/officeDocument/2006/relationships/notesSlide" Target="/ppt/notesSlides/notesSlide6.xml" Id="R7a26a805eb9a42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fe68b9790634d13" /><Relationship Type="http://schemas.openxmlformats.org/officeDocument/2006/relationships/notesSlide" Target="/ppt/notesSlides/notesSlide7.xml" Id="Ra6129e1d4a3d44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597c6f51c454d90" /><Relationship Type="http://schemas.openxmlformats.org/officeDocument/2006/relationships/notesSlide" Target="/ppt/notesSlides/notesSlide8.xml" Id="R3a4a97a67be242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4667f8648f24b6c" /><Relationship Type="http://schemas.openxmlformats.org/officeDocument/2006/relationships/notesSlide" Target="/ppt/notesSlides/notesSlide9.xml" Id="R229b7bed4a9c49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c7075fdf2814f6d" /><Relationship Type="http://schemas.openxmlformats.org/officeDocument/2006/relationships/notesSlide" Target="/ppt/notesSlides/notesSlide10.xml" Id="R1ec9944727a4451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2ca926117f24ed7" /><Relationship Type="http://schemas.openxmlformats.org/officeDocument/2006/relationships/notesSlide" Target="/ppt/notesSlides/notesSlide11.xml" Id="R6d1bbdbbf6084f0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65d6815f2ef4bd2" /><Relationship Type="http://schemas.openxmlformats.org/officeDocument/2006/relationships/notesSlide" Target="/ppt/notesSlides/notesSlide12.xml" Id="R397d89fe1d3c475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39643e1469d4f11" /><Relationship Type="http://schemas.openxmlformats.org/officeDocument/2006/relationships/notesSlide" Target="/ppt/notesSlides/notesSlide13.xml" Id="R98b39fe5c1f2483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1c8959bbe6a493b" /><Relationship Type="http://schemas.openxmlformats.org/officeDocument/2006/relationships/notesSlide" Target="/ppt/notesSlides/notesSlide14.xml" Id="R823b11305e4548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bf1a4de7e29422c" /><Relationship Type="http://schemas.openxmlformats.org/officeDocument/2006/relationships/notesSlide" Target="/ppt/notesSlides/notesSlide15.xml" Id="Rdf6f9c70f3534e4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3824b9393524456" /><Relationship Type="http://schemas.openxmlformats.org/officeDocument/2006/relationships/notesSlide" Target="/ppt/notesSlides/notesSlide16.xml" Id="R10785a377f5542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b0227282d33430a" /><Relationship Type="http://schemas.openxmlformats.org/officeDocument/2006/relationships/notesSlide" Target="/ppt/notesSlides/notesSlide17.xml" Id="R3df647962c64430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6c78edbe56c4c59" /><Relationship Type="http://schemas.openxmlformats.org/officeDocument/2006/relationships/notesSlide" Target="/ppt/notesSlides/notesSlide18.xml" Id="Rb6a6c69768d0449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5c7c59791a74e9f" /><Relationship Type="http://schemas.openxmlformats.org/officeDocument/2006/relationships/notesSlide" Target="/ppt/notesSlides/notesSlide19.xml" Id="R52c653a9330446e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a2836034ccf4f35" /><Relationship Type="http://schemas.openxmlformats.org/officeDocument/2006/relationships/notesSlide" Target="/ppt/notesSlides/notesSlide20.xml" Id="Rdc3f90e8ba684c7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12f16d756754285" /><Relationship Type="http://schemas.openxmlformats.org/officeDocument/2006/relationships/hyperlink" Target="https://github.com/Omswaroopreddyudumula/ajxom-budget-bites" TargetMode="External" Id="R5adbcbf81e904139" /><Relationship Type="http://schemas.openxmlformats.org/officeDocument/2006/relationships/notesSlide" Target="/ppt/notesSlides/notesSlide21.xml" Id="R4517abd92cc247e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b5306b485bc4c8d" /><Relationship Type="http://schemas.openxmlformats.org/officeDocument/2006/relationships/notesSlide" Target="/ppt/notesSlides/notesSlide22.xml" Id="R3712d15aec814567" /></Relationships>
</file>

<file path=ppt/slides/slide1.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51788F-F7FD-4AA7-8683-4601B4D1CF82}"/>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Om speaking: Introduction</a:t>
            </a:r>
          </a:p>
        </p:txBody>
      </p:sp>
      <p:sp>
        <p:nvSpPr>
          <p:cNvPr id="2" name="">
            <a:extLst xmlns:a="http://schemas.openxmlformats.org/drawingml/2006/main">
              <a:ext uri="{FF2B5EF4-FFF2-40B4-BE49-F238E27FC236}">
                <a16:creationId xmlns:a16="http://schemas.microsoft.com/office/drawing/2014/main" id="{EF182789-441B-4F14-85BA-421170D2B58F}"/>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Budget Bites</a:t>
            </a:r>
          </a:p>
        </p:txBody>
      </p:sp>
      <p:sp>
        <p:nvSpPr>
          <p:cNvPr id="3" name="">
            <a:extLst xmlns:a="http://schemas.openxmlformats.org/drawingml/2006/main">
              <a:ext uri="{FF2B5EF4-FFF2-40B4-BE49-F238E27FC236}">
                <a16:creationId xmlns:a16="http://schemas.microsoft.com/office/drawing/2014/main" id="{C39999FB-B4D5-4776-A927-769B4DD925BA}"/>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1F31869B-E594-4538-98C0-8E01F258A8FD}"/>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B56F9E95-9B43-42E5-B1A7-7F727A356A48}"/>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Hello everyone. We are AjxOm: Om Swaroop Reddy Udumula and Anton, or A.J., Orea. Our project, Budget Bites, helps students organize meals and track actual lunch spending offline.</a:t>
            </a:r>
          </a:p>
        </p:txBody>
      </p:sp>
      <p:sp>
        <p:nvSpPr>
          <p:cNvPr id="6" name="">
            <a:extLst xmlns:a="http://schemas.openxmlformats.org/drawingml/2006/main">
              <a:ext uri="{FF2B5EF4-FFF2-40B4-BE49-F238E27FC236}">
                <a16:creationId xmlns:a16="http://schemas.microsoft.com/office/drawing/2014/main" id="{A4E26FFD-22A4-4B5C-B943-51D1E4318C54}"/>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I will introduce the problem and our chosen project brief. A.J. will explain his database foundation and the backend design. I will then explain the frontend, shared state and integration work. After the slides, A.J. will narrate our application demonstration.</a:t>
            </a:r>
          </a:p>
        </p:txBody>
      </p:sp>
      <p:sp>
        <p:nvSpPr>
          <p:cNvPr id="7" name="">
            <a:extLst xmlns:a="http://schemas.openxmlformats.org/drawingml/2006/main">
              <a:ext uri="{FF2B5EF4-FFF2-40B4-BE49-F238E27FC236}">
                <a16:creationId xmlns:a16="http://schemas.microsoft.com/office/drawing/2014/main" id="{8AD47D65-35F3-4874-A8DF-9F83B7CBD6D8}"/>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Our goal connects a planned lunch cost with an actual purchase, allowing students to compare their expectations with what they paid.</a:t>
            </a:r>
          </a:p>
        </p:txBody>
      </p:sp>
    </p:spTree>
    <p:extLst>
      <p:ext uri="{BB962C8B-B14F-4D97-AF65-F5344CB8AC3E}">
        <p14:creationId xmlns:p14="http://schemas.microsoft.com/office/powerpoint/2010/main" val="1201472857"/>
      </p:ext>
    </p:extLst>
  </p:cSld>
  <p:transition spd="med">
    <p:fade/>
  </p:transition>
</p:sld>
</file>

<file path=ppt/slides/slide2.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DA5039-6435-45DE-94F8-BEF3695BFAD3}"/>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Om speaking: Introduction</a:t>
            </a:r>
          </a:p>
        </p:txBody>
      </p:sp>
      <p:sp>
        <p:nvSpPr>
          <p:cNvPr id="2" name="">
            <a:extLst xmlns:a="http://schemas.openxmlformats.org/drawingml/2006/main">
              <a:ext uri="{FF2B5EF4-FFF2-40B4-BE49-F238E27FC236}">
                <a16:creationId xmlns:a16="http://schemas.microsoft.com/office/drawing/2014/main" id="{7C3F743A-B473-4DBD-904B-93821D66A444}"/>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Chosen prompt and student problem</a:t>
            </a:r>
          </a:p>
        </p:txBody>
      </p:sp>
      <p:sp>
        <p:nvSpPr>
          <p:cNvPr id="3" name="">
            <a:extLst xmlns:a="http://schemas.openxmlformats.org/drawingml/2006/main">
              <a:ext uri="{FF2B5EF4-FFF2-40B4-BE49-F238E27FC236}">
                <a16:creationId xmlns:a16="http://schemas.microsoft.com/office/drawing/2014/main" id="{10E71537-78EE-4652-B57E-B3B848CE2876}"/>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BEA03C13-6823-43F9-96BA-CF0E96FA9A07}"/>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C1E46DFF-9DE6-433F-A7C9-AAB527A9691E}"/>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We chose the Budget Bites brief, which focuses on campus food choices and personal budgeting. Students can forget a meal's price, its venue or what they paid last time, making repeated lunch decisions harder to manage.</a:t>
            </a:r>
          </a:p>
        </p:txBody>
      </p:sp>
      <p:sp>
        <p:nvSpPr>
          <p:cNvPr id="6" name="">
            <a:extLst xmlns:a="http://schemas.openxmlformats.org/drawingml/2006/main">
              <a:ext uri="{FF2B5EF4-FFF2-40B4-BE49-F238E27FC236}">
                <a16:creationId xmlns:a16="http://schemas.microsoft.com/office/drawing/2014/main" id="{0064712B-D02C-41B3-9D73-644E8F6EBEDA}"/>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Our solution gives the student a personal catalog of meals and a separate purchase log. The catalog stores an estimated cost, while the log records the amount paid for a particular purchase. Keeping those values separate allows the student to correct history without rewriting a meal description.</a:t>
            </a:r>
          </a:p>
        </p:txBody>
      </p:sp>
      <p:sp>
        <p:nvSpPr>
          <p:cNvPr id="7" name="">
            <a:extLst xmlns:a="http://schemas.openxmlformats.org/drawingml/2006/main">
              <a:ext uri="{FF2B5EF4-FFF2-40B4-BE49-F238E27FC236}">
                <a16:creationId xmlns:a16="http://schemas.microsoft.com/office/drawing/2014/main" id="{AAB9987A-1489-40E6-B309-2CDED7D75E84}"/>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application uses locally entered information and fictional starter meals. Venue notes and prices come from the user, and live restaurant price verification is outside our scope.</a:t>
            </a:r>
          </a:p>
        </p:txBody>
      </p:sp>
    </p:spTree>
    <p:extLst>
      <p:ext uri="{BB962C8B-B14F-4D97-AF65-F5344CB8AC3E}">
        <p14:creationId xmlns:p14="http://schemas.microsoft.com/office/powerpoint/2010/main" val="503989069"/>
      </p:ext>
    </p:extLst>
  </p:cSld>
  <p:transition spd="med">
    <p:fade/>
  </p:transition>
</p:sld>
</file>

<file path=ppt/slides/slide3.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1B945B-CE07-4E25-BE43-C25589F40888}"/>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Om speaking: Introduction</a:t>
            </a:r>
          </a:p>
        </p:txBody>
      </p:sp>
      <p:sp>
        <p:nvSpPr>
          <p:cNvPr id="2" name="">
            <a:extLst xmlns:a="http://schemas.openxmlformats.org/drawingml/2006/main">
              <a:ext uri="{FF2B5EF4-FFF2-40B4-BE49-F238E27FC236}">
                <a16:creationId xmlns:a16="http://schemas.microsoft.com/office/drawing/2014/main" id="{BC804440-2240-447A-8C20-A277F19F086C}"/>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Requirements and project scope</a:t>
            </a:r>
          </a:p>
        </p:txBody>
      </p:sp>
      <p:sp>
        <p:nvSpPr>
          <p:cNvPr id="3" name="">
            <a:extLst xmlns:a="http://schemas.openxmlformats.org/drawingml/2006/main">
              <a:ext uri="{FF2B5EF4-FFF2-40B4-BE49-F238E27FC236}">
                <a16:creationId xmlns:a16="http://schemas.microsoft.com/office/drawing/2014/main" id="{D0A40000-762C-4AC9-896C-C16F3ADF16E9}"/>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85F216A9-661A-45E5-884F-FF44DB49FCA5}"/>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7CC9B703-B8EB-4F79-8551-40BE55A3936E}"/>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brief requires five purposeful screen roles: a catalog, a create or edit form, a detail or activity flow, purchase history and settings. Both related data entities must support create, read, update and delete operations. Saved records and preferences must survive an application restart.</a:t>
            </a:r>
          </a:p>
        </p:txBody>
      </p:sp>
      <p:sp>
        <p:nvSpPr>
          <p:cNvPr id="6" name="">
            <a:extLst xmlns:a="http://schemas.openxmlformats.org/drawingml/2006/main">
              <a:ext uri="{FF2B5EF4-FFF2-40B4-BE49-F238E27FC236}">
                <a16:creationId xmlns:a16="http://schemas.microsoft.com/office/drawing/2014/main" id="{3C310FC5-7A5A-4F43-BB27-C728BC872095}"/>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We mapped those requirements to Meal and PurchaseLog in SQLite. A purchase belongs to a specific meal through its database ID. Simple preferences, including the lunch budget and dark mode, use SharedPreferences. This keeps settings separate from the two relational entities.</a:t>
            </a:r>
          </a:p>
        </p:txBody>
      </p:sp>
      <p:sp>
        <p:nvSpPr>
          <p:cNvPr id="7" name="">
            <a:extLst xmlns:a="http://schemas.openxmlformats.org/drawingml/2006/main">
              <a:ext uri="{FF2B5EF4-FFF2-40B4-BE49-F238E27FC236}">
                <a16:creationId xmlns:a16="http://schemas.microsoft.com/office/drawing/2014/main" id="{11A1465B-64F6-4679-8DCF-993C8D7B7330}"/>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Lunch Lens estimates a possible next cost from earlier purchases. It explains its inputs, allows dismissal and compares the estimate with the last observed price.</a:t>
            </a:r>
          </a:p>
        </p:txBody>
      </p:sp>
    </p:spTree>
    <p:extLst>
      <p:ext uri="{BB962C8B-B14F-4D97-AF65-F5344CB8AC3E}">
        <p14:creationId xmlns:p14="http://schemas.microsoft.com/office/powerpoint/2010/main" val="1693026170"/>
      </p:ext>
    </p:extLst>
  </p:cSld>
  <p:transition spd="med">
    <p:fade/>
  </p:transition>
</p:sld>
</file>

<file path=ppt/slides/slide4.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AE3131-4E0C-4F87-A0B8-801D8ED81072}"/>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Om speaking: Introduction</a:t>
            </a:r>
          </a:p>
        </p:txBody>
      </p:sp>
      <p:sp>
        <p:nvSpPr>
          <p:cNvPr id="2" name="">
            <a:extLst xmlns:a="http://schemas.openxmlformats.org/drawingml/2006/main">
              <a:ext uri="{FF2B5EF4-FFF2-40B4-BE49-F238E27FC236}">
                <a16:creationId xmlns:a16="http://schemas.microsoft.com/office/drawing/2014/main" id="{241822D8-5397-4E1A-8C38-58F0AF9508A2}"/>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Team approach and architecture</a:t>
            </a:r>
          </a:p>
        </p:txBody>
      </p:sp>
      <p:sp>
        <p:nvSpPr>
          <p:cNvPr id="3" name="">
            <a:extLst xmlns:a="http://schemas.openxmlformats.org/drawingml/2006/main">
              <a:ext uri="{FF2B5EF4-FFF2-40B4-BE49-F238E27FC236}">
                <a16:creationId xmlns:a16="http://schemas.microsoft.com/office/drawing/2014/main" id="{B6B6A216-DD21-4C25-B042-4E354417DEDB}"/>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8A1D0F59-5CBF-41DA-BB6B-6094FF0F4961}"/>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4</a:t>
            </a:r>
          </a:p>
        </p:txBody>
      </p:sp>
      <p:sp>
        <p:nvSpPr>
          <p:cNvPr id="5" name="">
            <a:extLst xmlns:a="http://schemas.openxmlformats.org/drawingml/2006/main">
              <a:ext uri="{FF2B5EF4-FFF2-40B4-BE49-F238E27FC236}">
                <a16:creationId xmlns:a16="http://schemas.microsoft.com/office/drawing/2014/main" id="{DF39DFF5-DB07-43CD-B0A6-107753B30EA6}"/>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We divided the work around the data foundation and the user experience. A.J. contributed the original Meal model, database CRUD functions and standalone History page. My work focused on the frontend and the feature branch that connected the screens, purchase records, preferences, helper and tests.</a:t>
            </a:r>
          </a:p>
        </p:txBody>
      </p:sp>
      <p:sp>
        <p:nvSpPr>
          <p:cNvPr id="6" name="">
            <a:extLst xmlns:a="http://schemas.openxmlformats.org/drawingml/2006/main">
              <a:ext uri="{FF2B5EF4-FFF2-40B4-BE49-F238E27FC236}">
                <a16:creationId xmlns:a16="http://schemas.microsoft.com/office/drawing/2014/main" id="{5ED70DFB-C5A6-4467-BE3C-2148ED62F721}"/>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Screens handle interaction, AppStore shares saved values and MealDatabase manages SQLite. Independent Dart functions handle money parsing and Lunch Lens, keeping calculation rules separate from widgets.</a:t>
            </a:r>
          </a:p>
        </p:txBody>
      </p:sp>
      <p:sp>
        <p:nvSpPr>
          <p:cNvPr id="7" name="">
            <a:extLst xmlns:a="http://schemas.openxmlformats.org/drawingml/2006/main">
              <a:ext uri="{FF2B5EF4-FFF2-40B4-BE49-F238E27FC236}">
                <a16:creationId xmlns:a16="http://schemas.microsoft.com/office/drawing/2014/main" id="{71ADDDEF-70CD-417E-AB26-5FBF025F9794}"/>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This separation helped us combine both parts of the project without putting SQL inside every screen. We preserved A.J.'s branch history during integration. A.J. will now explain the backend foundation and how the final application stores and protects its records.</a:t>
            </a:r>
          </a:p>
        </p:txBody>
      </p:sp>
    </p:spTree>
    <p:extLst>
      <p:ext uri="{BB962C8B-B14F-4D97-AF65-F5344CB8AC3E}">
        <p14:creationId xmlns:p14="http://schemas.microsoft.com/office/powerpoint/2010/main" val="1118695760"/>
      </p:ext>
    </p:extLst>
  </p:cSld>
  <p:transition spd="med">
    <p:fade/>
  </p:transition>
</p:sld>
</file>

<file path=ppt/slides/slide5.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F9DCB8-9420-4AD7-B224-C74EC10A96E0}"/>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A.J. speaking: Backend</a:t>
            </a:r>
          </a:p>
        </p:txBody>
      </p:sp>
      <p:sp>
        <p:nvSpPr>
          <p:cNvPr id="2" name="">
            <a:extLst xmlns:a="http://schemas.openxmlformats.org/drawingml/2006/main">
              <a:ext uri="{FF2B5EF4-FFF2-40B4-BE49-F238E27FC236}">
                <a16:creationId xmlns:a16="http://schemas.microsoft.com/office/drawing/2014/main" id="{EEA31D65-1B0C-446A-86E7-B5C8D46B488B}"/>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Backend foundation and ownership</a:t>
            </a:r>
          </a:p>
        </p:txBody>
      </p:sp>
      <p:sp>
        <p:nvSpPr>
          <p:cNvPr id="3" name="">
            <a:extLst xmlns:a="http://schemas.openxmlformats.org/drawingml/2006/main">
              <a:ext uri="{FF2B5EF4-FFF2-40B4-BE49-F238E27FC236}">
                <a16:creationId xmlns:a16="http://schemas.microsoft.com/office/drawing/2014/main" id="{42574ACA-C7F8-4923-BDF7-917A01AE7173}"/>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2141D1E3-51B7-4BD3-87B1-4E23EEBE3667}"/>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5</a:t>
            </a:r>
          </a:p>
        </p:txBody>
      </p:sp>
      <p:sp>
        <p:nvSpPr>
          <p:cNvPr id="5" name="">
            <a:extLst xmlns:a="http://schemas.openxmlformats.org/drawingml/2006/main">
              <a:ext uri="{FF2B5EF4-FFF2-40B4-BE49-F238E27FC236}">
                <a16:creationId xmlns:a16="http://schemas.microsoft.com/office/drawing/2014/main" id="{DDC5E8AC-9847-4AEF-91D9-0C790BA7D8D6}"/>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My original work established the Meal model and the database functions for retrieving, adding, updating and deleting meals. I also created the standalone Meal History page. These pieces gave the project a consistent data structure and a starting point for displaying stored information.</a:t>
            </a:r>
          </a:p>
        </p:txBody>
      </p:sp>
      <p:sp>
        <p:nvSpPr>
          <p:cNvPr id="6" name="">
            <a:extLst xmlns:a="http://schemas.openxmlformats.org/drawingml/2006/main">
              <a:ext uri="{FF2B5EF4-FFF2-40B4-BE49-F238E27FC236}">
                <a16:creationId xmlns:a16="http://schemas.microsoft.com/office/drawing/2014/main" id="{8F77D4A5-9011-4E5E-A030-338857C89A6F}"/>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In the integrated application, the team extended that foundation with purchase logs, integer-cent prices and additional consistency checks. I will explain how the current backend works while distinguishing those shared integration changes from the original functions I contributed.</a:t>
            </a:r>
          </a:p>
        </p:txBody>
      </p:sp>
      <p:sp>
        <p:nvSpPr>
          <p:cNvPr id="7" name="">
            <a:extLst xmlns:a="http://schemas.openxmlformats.org/drawingml/2006/main">
              <a:ext uri="{FF2B5EF4-FFF2-40B4-BE49-F238E27FC236}">
                <a16:creationId xmlns:a16="http://schemas.microsoft.com/office/drawing/2014/main" id="{3C87CCB2-0860-4A43-8407-8DF47E63945A}"/>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MealDatabase provides one boundary for local SQLite access. The interface requests operations through it, while validation and database tests focus on the same boundary.</a:t>
            </a:r>
          </a:p>
        </p:txBody>
      </p:sp>
    </p:spTree>
    <p:extLst>
      <p:ext uri="{BB962C8B-B14F-4D97-AF65-F5344CB8AC3E}">
        <p14:creationId xmlns:p14="http://schemas.microsoft.com/office/powerpoint/2010/main" val="206889965"/>
      </p:ext>
    </p:extLst>
  </p:cSld>
  <p:transition spd="med">
    <p:fade/>
  </p:transition>
</p:sld>
</file>

<file path=ppt/slides/slide6.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D0B47C-0186-4FAB-9A90-8CF7CD8B3A3A}"/>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A.J. speaking: Backend</a:t>
            </a:r>
          </a:p>
        </p:txBody>
      </p:sp>
      <p:sp>
        <p:nvSpPr>
          <p:cNvPr id="2" name="">
            <a:extLst xmlns:a="http://schemas.openxmlformats.org/drawingml/2006/main">
              <a:ext uri="{FF2B5EF4-FFF2-40B4-BE49-F238E27FC236}">
                <a16:creationId xmlns:a16="http://schemas.microsoft.com/office/drawing/2014/main" id="{D7426123-9C9B-43DB-B06F-1A43CB5CDF5C}"/>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Meal model and stored values</a:t>
            </a:r>
          </a:p>
        </p:txBody>
      </p:sp>
      <p:sp>
        <p:nvSpPr>
          <p:cNvPr id="3" name="">
            <a:extLst xmlns:a="http://schemas.openxmlformats.org/drawingml/2006/main">
              <a:ext uri="{FF2B5EF4-FFF2-40B4-BE49-F238E27FC236}">
                <a16:creationId xmlns:a16="http://schemas.microsoft.com/office/drawing/2014/main" id="{6A76C13A-0C5A-455C-9E47-A86F0AB7DEC0}"/>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8D3D33B6-BA36-49A7-AD09-1AFEB3E9FE3E}"/>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6</a:t>
            </a:r>
          </a:p>
        </p:txBody>
      </p:sp>
      <p:sp>
        <p:nvSpPr>
          <p:cNvPr id="5" name="">
            <a:extLst xmlns:a="http://schemas.openxmlformats.org/drawingml/2006/main">
              <a:ext uri="{FF2B5EF4-FFF2-40B4-BE49-F238E27FC236}">
                <a16:creationId xmlns:a16="http://schemas.microsoft.com/office/drawing/2014/main" id="{FE41C61D-D666-4CFF-B5EC-71777CE51F65}"/>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Meal model represents an entry in the student's personal catalog. It contains a generated ID, meal name, venue note and cuisine. It also stores labels and estimated prices for an entree, a side and another optional item, plus a favorite flag.</a:t>
            </a:r>
          </a:p>
        </p:txBody>
      </p:sp>
      <p:sp>
        <p:nvSpPr>
          <p:cNvPr id="6" name="">
            <a:extLst xmlns:a="http://schemas.openxmlformats.org/drawingml/2006/main">
              <a:ext uri="{FF2B5EF4-FFF2-40B4-BE49-F238E27FC236}">
                <a16:creationId xmlns:a16="http://schemas.microsoft.com/office/drawing/2014/main" id="{8616868B-9D1B-4E8A-803B-186A089D478B}"/>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final model derives the total estimate by adding the three item prices. It stores prices as integer cents, so a value of 650 represents six dollars and fifty cents. This makes money calculations consistent with the values used by the purchase log.</a:t>
            </a:r>
          </a:p>
        </p:txBody>
      </p:sp>
      <p:sp>
        <p:nvSpPr>
          <p:cNvPr id="7" name="">
            <a:extLst xmlns:a="http://schemas.openxmlformats.org/drawingml/2006/main">
              <a:ext uri="{FF2B5EF4-FFF2-40B4-BE49-F238E27FC236}">
                <a16:creationId xmlns:a16="http://schemas.microsoft.com/office/drawing/2014/main" id="{1242DC05-9A8C-4D14-9EE5-41494E497EBE}"/>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toMap method prepares values for SQLite, and fromMap reconstructs the Meal. A stable ID lets the interface update the correct record even after its name or position changes.</a:t>
            </a:r>
          </a:p>
        </p:txBody>
      </p:sp>
    </p:spTree>
    <p:extLst>
      <p:ext uri="{BB962C8B-B14F-4D97-AF65-F5344CB8AC3E}">
        <p14:creationId xmlns:p14="http://schemas.microsoft.com/office/powerpoint/2010/main" val="2136926510"/>
      </p:ext>
    </p:extLst>
  </p:cSld>
  <p:transition spd="med">
    <p:fade/>
  </p:transition>
</p:sld>
</file>

<file path=ppt/slides/slide7.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B66794-6A9A-4053-9D17-87DECD2E842F}"/>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A.J. speaking: Backend</a:t>
            </a:r>
          </a:p>
        </p:txBody>
      </p:sp>
      <p:sp>
        <p:nvSpPr>
          <p:cNvPr id="2" name="">
            <a:extLst xmlns:a="http://schemas.openxmlformats.org/drawingml/2006/main">
              <a:ext uri="{FF2B5EF4-FFF2-40B4-BE49-F238E27FC236}">
                <a16:creationId xmlns:a16="http://schemas.microsoft.com/office/drawing/2014/main" id="{AFBA96E0-BCBA-402D-9164-A1706A449037}"/>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Two related SQLite tables</a:t>
            </a:r>
          </a:p>
        </p:txBody>
      </p:sp>
      <p:sp>
        <p:nvSpPr>
          <p:cNvPr id="3" name="">
            <a:extLst xmlns:a="http://schemas.openxmlformats.org/drawingml/2006/main">
              <a:ext uri="{FF2B5EF4-FFF2-40B4-BE49-F238E27FC236}">
                <a16:creationId xmlns:a16="http://schemas.microsoft.com/office/drawing/2014/main" id="{B9E903E8-E1F9-4072-99B6-0AE2EE983FEA}"/>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1B824856-FEF1-4EE2-B571-7E1C0386B3B9}"/>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7</a:t>
            </a:r>
          </a:p>
        </p:txBody>
      </p:sp>
      <p:sp>
        <p:nvSpPr>
          <p:cNvPr id="5" name="">
            <a:extLst xmlns:a="http://schemas.openxmlformats.org/drawingml/2006/main">
              <a:ext uri="{FF2B5EF4-FFF2-40B4-BE49-F238E27FC236}">
                <a16:creationId xmlns:a16="http://schemas.microsoft.com/office/drawing/2014/main" id="{E3D24B8E-6DC7-4B3F-A068-582182D7CC40}"/>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meals table stores catalog information. The purchase_logs table stores actual receipts, including its own ID, the related mealId, the amount paid, a purchase timestamp, a note and a unique save token. One meal can therefore have many separate purchases.</a:t>
            </a:r>
          </a:p>
        </p:txBody>
      </p:sp>
      <p:sp>
        <p:nvSpPr>
          <p:cNvPr id="6" name="">
            <a:extLst xmlns:a="http://schemas.openxmlformats.org/drawingml/2006/main">
              <a:ext uri="{FF2B5EF4-FFF2-40B4-BE49-F238E27FC236}">
                <a16:creationId xmlns:a16="http://schemas.microsoft.com/office/drawing/2014/main" id="{2C84C26B-95EB-4EEF-B1D5-1AC0E6FC205D}"/>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foreign key connects each purchase to an existing meal. We enable foreign-key enforcement when opening the database. Parent deletion uses a restriction, so a meal with saved purchases cannot disappear while those receipts still depend on it. The interface explains which records need attention.</a:t>
            </a:r>
          </a:p>
        </p:txBody>
      </p:sp>
      <p:sp>
        <p:nvSpPr>
          <p:cNvPr id="7" name="">
            <a:extLst xmlns:a="http://schemas.openxmlformats.org/drawingml/2006/main">
              <a:ext uri="{FF2B5EF4-FFF2-40B4-BE49-F238E27FC236}">
                <a16:creationId xmlns:a16="http://schemas.microsoft.com/office/drawing/2014/main" id="{294B5BE3-B27A-45A7-B10D-B0BCB602CE5C}"/>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Editing a catalog estimate leaves earlier actual amounts unchanged. Preferences use SharedPreferences, and favorites remain a Meal field, keeping the relational model to two entities.</a:t>
            </a:r>
          </a:p>
        </p:txBody>
      </p:sp>
    </p:spTree>
    <p:extLst>
      <p:ext uri="{BB962C8B-B14F-4D97-AF65-F5344CB8AC3E}">
        <p14:creationId xmlns:p14="http://schemas.microsoft.com/office/powerpoint/2010/main" val="1787517746"/>
      </p:ext>
    </p:extLst>
  </p:cSld>
  <p:transition spd="med">
    <p:fade/>
  </p:transition>
</p:sld>
</file>

<file path=ppt/slides/slide8.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1BB0B0-0F54-404E-8921-96B9AD788552}"/>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A.J. speaking: Backend</a:t>
            </a:r>
          </a:p>
        </p:txBody>
      </p:sp>
      <p:sp>
        <p:nvSpPr>
          <p:cNvPr id="2" name="">
            <a:extLst xmlns:a="http://schemas.openxmlformats.org/drawingml/2006/main">
              <a:ext uri="{FF2B5EF4-FFF2-40B4-BE49-F238E27FC236}">
                <a16:creationId xmlns:a16="http://schemas.microsoft.com/office/drawing/2014/main" id="{812F2569-BD4A-4313-AD04-224908D29672}"/>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CRUD functions and database IDs</a:t>
            </a:r>
          </a:p>
        </p:txBody>
      </p:sp>
      <p:sp>
        <p:nvSpPr>
          <p:cNvPr id="3" name="">
            <a:extLst xmlns:a="http://schemas.openxmlformats.org/drawingml/2006/main">
              <a:ext uri="{FF2B5EF4-FFF2-40B4-BE49-F238E27FC236}">
                <a16:creationId xmlns:a16="http://schemas.microsoft.com/office/drawing/2014/main" id="{3A479418-0A0F-4D69-9156-D9DAEA7C90BA}"/>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BC261D29-EA43-4945-B295-6383BF05A96A}"/>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8</a:t>
            </a:r>
          </a:p>
        </p:txBody>
      </p:sp>
      <p:sp>
        <p:nvSpPr>
          <p:cNvPr id="5" name="">
            <a:extLst xmlns:a="http://schemas.openxmlformats.org/drawingml/2006/main">
              <a:ext uri="{FF2B5EF4-FFF2-40B4-BE49-F238E27FC236}">
                <a16:creationId xmlns:a16="http://schemas.microsoft.com/office/drawing/2014/main" id="{91B015E7-6EAB-484E-A2C8-9FCF216EEBC5}"/>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Create inserts a validated Meal and lets SQLite generate its ID. Read retrieves saved rows in a consistent order and converts them into Meal objects. Update requires an existing ID and applies changes to the row whose ID matches that value.</a:t>
            </a:r>
          </a:p>
        </p:txBody>
      </p:sp>
      <p:sp>
        <p:nvSpPr>
          <p:cNvPr id="6" name="">
            <a:extLst xmlns:a="http://schemas.openxmlformats.org/drawingml/2006/main">
              <a:ext uri="{FF2B5EF4-FFF2-40B4-BE49-F238E27FC236}">
                <a16:creationId xmlns:a16="http://schemas.microsoft.com/office/drawing/2014/main" id="{76BA5E05-EBF4-43D3-A725-09D2A3B29E75}"/>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Delete also uses the database ID. Before deleting a meal, the data layer checks for linked purchases. The final application provides the same independent CRUD operations for PurchaseLog, allowing users to add a receipt, view it, correct its amount or remove it after confirmation.</a:t>
            </a:r>
          </a:p>
        </p:txBody>
      </p:sp>
      <p:sp>
        <p:nvSpPr>
          <p:cNvPr id="7" name="">
            <a:extLst xmlns:a="http://schemas.openxmlformats.org/drawingml/2006/main">
              <a:ext uri="{FF2B5EF4-FFF2-40B4-BE49-F238E27FC236}">
                <a16:creationId xmlns:a16="http://schemas.microsoft.com/office/drawing/2014/main" id="{5C18DD59-988C-4133-AA26-11ED29296C91}"/>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Queries use bound arguments for IDs. Refreshing the saved lists after a successful change keeps the catalog, purchase log and totals aligned with current database rows.</a:t>
            </a:r>
          </a:p>
        </p:txBody>
      </p:sp>
    </p:spTree>
    <p:extLst>
      <p:ext uri="{BB962C8B-B14F-4D97-AF65-F5344CB8AC3E}">
        <p14:creationId xmlns:p14="http://schemas.microsoft.com/office/powerpoint/2010/main" val="2104175741"/>
      </p:ext>
    </p:extLst>
  </p:cSld>
  <p:transition spd="med">
    <p:fade/>
  </p:transition>
</p:sld>
</file>

<file path=ppt/slides/slide9.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9D942E-A700-44CB-BFA8-1935FE462711}"/>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A.J. speaking: Backend</a:t>
            </a:r>
          </a:p>
        </p:txBody>
      </p:sp>
      <p:sp>
        <p:nvSpPr>
          <p:cNvPr id="2" name="">
            <a:extLst xmlns:a="http://schemas.openxmlformats.org/drawingml/2006/main">
              <a:ext uri="{FF2B5EF4-FFF2-40B4-BE49-F238E27FC236}">
                <a16:creationId xmlns:a16="http://schemas.microsoft.com/office/drawing/2014/main" id="{E2BED45E-D30B-48F7-A09D-771869471AD5}"/>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Money validation and migration</a:t>
            </a:r>
          </a:p>
        </p:txBody>
      </p:sp>
      <p:sp>
        <p:nvSpPr>
          <p:cNvPr id="3" name="">
            <a:extLst xmlns:a="http://schemas.openxmlformats.org/drawingml/2006/main">
              <a:ext uri="{FF2B5EF4-FFF2-40B4-BE49-F238E27FC236}">
                <a16:creationId xmlns:a16="http://schemas.microsoft.com/office/drawing/2014/main" id="{1D013DEE-B8DB-46BE-8CA4-9D5F9FBF0CC5}"/>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8586C17E-0CB6-4F15-A571-3994969666C0}"/>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9</a:t>
            </a:r>
          </a:p>
        </p:txBody>
      </p:sp>
      <p:sp>
        <p:nvSpPr>
          <p:cNvPr id="5" name="">
            <a:extLst xmlns:a="http://schemas.openxmlformats.org/drawingml/2006/main">
              <a:ext uri="{FF2B5EF4-FFF2-40B4-BE49-F238E27FC236}">
                <a16:creationId xmlns:a16="http://schemas.microsoft.com/office/drawing/2014/main" id="{778E2BB2-4AC2-443C-83EA-B01E7AF55F9B}"/>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Required names and venue notes cannot be blank. The money parser accepts dollar input with up to two decimal places and converts it into integer cents. SQLite adds stored-type and range checks.</a:t>
            </a:r>
          </a:p>
        </p:txBody>
      </p:sp>
      <p:sp>
        <p:nvSpPr>
          <p:cNvPr id="6" name="">
            <a:extLst xmlns:a="http://schemas.openxmlformats.org/drawingml/2006/main">
              <a:ext uri="{FF2B5EF4-FFF2-40B4-BE49-F238E27FC236}">
                <a16:creationId xmlns:a16="http://schemas.microsoft.com/office/drawing/2014/main" id="{92E8D7CF-BFF7-48A8-AF72-7436A340BE81}"/>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integrated database uses version two. Its migration preserves the original version-one meal rows and their IDs while converting the earlier decimal dollar prices into integer cents. Keeping the IDs matters because they identify the same meals before and after the upgrade.</a:t>
            </a:r>
          </a:p>
        </p:txBody>
      </p:sp>
      <p:sp>
        <p:nvSpPr>
          <p:cNvPr id="7" name="">
            <a:extLst xmlns:a="http://schemas.openxmlformats.org/drawingml/2006/main">
              <a:ext uri="{FF2B5EF4-FFF2-40B4-BE49-F238E27FC236}">
                <a16:creationId xmlns:a16="http://schemas.microsoft.com/office/drawing/2014/main" id="{E12761EE-0BF6-4FF0-A78F-7208D5DB4BE4}"/>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We checked the migration with an actual old-schema fixture on Android. That fixture preserves meal ID seventeen and converts a price of six dollars and fifty cents to 650 cents. This verifies preservation during an upgrade, in addition to testing a fresh database installation.</a:t>
            </a:r>
          </a:p>
        </p:txBody>
      </p:sp>
    </p:spTree>
    <p:extLst>
      <p:ext uri="{BB962C8B-B14F-4D97-AF65-F5344CB8AC3E}">
        <p14:creationId xmlns:p14="http://schemas.microsoft.com/office/powerpoint/2010/main" val="1233965292"/>
      </p:ext>
    </p:extLst>
  </p:cSld>
  <p:transition spd="med">
    <p:fade/>
  </p:transition>
</p:sld>
</file>

<file path=ppt/slides/slide10.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289BCE-FDEF-440F-B819-3F5C0DDBB99C}"/>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A.J. speaking: Backend</a:t>
            </a:r>
          </a:p>
        </p:txBody>
      </p:sp>
      <p:sp>
        <p:nvSpPr>
          <p:cNvPr id="2" name="">
            <a:extLst xmlns:a="http://schemas.openxmlformats.org/drawingml/2006/main">
              <a:ext uri="{FF2B5EF4-FFF2-40B4-BE49-F238E27FC236}">
                <a16:creationId xmlns:a16="http://schemas.microsoft.com/office/drawing/2014/main" id="{D7E2B507-B638-4D66-96A8-1D6F88AA52C7}"/>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Reliable saves and purchase history</a:t>
            </a:r>
          </a:p>
        </p:txBody>
      </p:sp>
      <p:sp>
        <p:nvSpPr>
          <p:cNvPr id="3" name="">
            <a:extLst xmlns:a="http://schemas.openxmlformats.org/drawingml/2006/main">
              <a:ext uri="{FF2B5EF4-FFF2-40B4-BE49-F238E27FC236}">
                <a16:creationId xmlns:a16="http://schemas.microsoft.com/office/drawing/2014/main" id="{4C153198-7FA8-4C52-B8EA-80807DBE330C}"/>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44FD3329-9BCD-4470-83D4-53AED5106571}"/>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94E9FFAD-E1D8-438C-9A1F-7C949AB81B97}"/>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Repeated taps or a retried operation should not create duplicate receipts. The final save path uses a stable token for one purchase draft. Inside a transaction, it looks for an existing receipt with that token and returns the existing ID when one is already present.</a:t>
            </a:r>
          </a:p>
        </p:txBody>
      </p:sp>
      <p:sp>
        <p:nvSpPr>
          <p:cNvPr id="6" name="">
            <a:extLst xmlns:a="http://schemas.openxmlformats.org/drawingml/2006/main">
              <a:ext uri="{FF2B5EF4-FFF2-40B4-BE49-F238E27FC236}">
                <a16:creationId xmlns:a16="http://schemas.microsoft.com/office/drawing/2014/main" id="{6B23E4B7-D58F-47F7-B156-75C7F5280345}"/>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A unique constraint protects the token. Each deliberate new purchase receives a new token, while the frontend disables Save during a pending write.</a:t>
            </a:r>
          </a:p>
        </p:txBody>
      </p:sp>
      <p:sp>
        <p:nvSpPr>
          <p:cNvPr id="7" name="">
            <a:extLst xmlns:a="http://schemas.openxmlformats.org/drawingml/2006/main">
              <a:ext uri="{FF2B5EF4-FFF2-40B4-BE49-F238E27FC236}">
                <a16:creationId xmlns:a16="http://schemas.microsoft.com/office/drawing/2014/main" id="{D8F0292C-D9AB-43D9-9566-B5C3A282F9BD}"/>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My original History page supplied the Card and ListTile foundation. The integrated version now displays child purchase records and passes their IDs to the appropriate actions. Om will now explain how the frontend connects these backend operations to the student's workflow.</a:t>
            </a:r>
          </a:p>
        </p:txBody>
      </p:sp>
    </p:spTree>
    <p:extLst>
      <p:ext uri="{BB962C8B-B14F-4D97-AF65-F5344CB8AC3E}">
        <p14:creationId xmlns:p14="http://schemas.microsoft.com/office/powerpoint/2010/main" val="754685743"/>
      </p:ext>
    </p:extLst>
  </p:cSld>
  <p:transition spd="med">
    <p:fade/>
  </p:transition>
</p:sld>
</file>

<file path=ppt/slides/slide11.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80D417-482D-49DB-A927-EF8D0CE90F33}"/>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Om speaking: Frontend and integration</a:t>
            </a:r>
          </a:p>
        </p:txBody>
      </p:sp>
      <p:sp>
        <p:nvSpPr>
          <p:cNvPr id="2" name="">
            <a:extLst xmlns:a="http://schemas.openxmlformats.org/drawingml/2006/main">
              <a:ext uri="{FF2B5EF4-FFF2-40B4-BE49-F238E27FC236}">
                <a16:creationId xmlns:a16="http://schemas.microsoft.com/office/drawing/2014/main" id="{3774FC53-9757-481E-A37C-B1B328413092}"/>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Frontend navigation and screen roles</a:t>
            </a:r>
          </a:p>
        </p:txBody>
      </p:sp>
      <p:sp>
        <p:nvSpPr>
          <p:cNvPr id="3" name="">
            <a:extLst xmlns:a="http://schemas.openxmlformats.org/drawingml/2006/main">
              <a:ext uri="{FF2B5EF4-FFF2-40B4-BE49-F238E27FC236}">
                <a16:creationId xmlns:a16="http://schemas.microsoft.com/office/drawing/2014/main" id="{E119E14B-298B-4DAF-A21B-B589281B4EF9}"/>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D35A6979-B025-43FB-9CDA-403072084536}"/>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AD8029F4-9648-4D99-A78B-3D9218D95791}"/>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My frontend work connects the student's actions to the shared data layer. Home provides meal search, a cuisine filter and a favorites filter. Add and Edit open the same meal form. View meal opens the planning activity, where the student can enter an actual purchase amount.</a:t>
            </a:r>
          </a:p>
        </p:txBody>
      </p:sp>
      <p:sp>
        <p:nvSpPr>
          <p:cNvPr id="6" name="">
            <a:extLst xmlns:a="http://schemas.openxmlformats.org/drawingml/2006/main">
              <a:ext uri="{FF2B5EF4-FFF2-40B4-BE49-F238E27FC236}">
                <a16:creationId xmlns:a16="http://schemas.microsoft.com/office/drawing/2014/main" id="{89E10EA6-CF7C-4375-A3AB-D140D004F7B3}"/>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History is the purchase log. It displays receipts with their amounts and dates and supports viewing, correction and deletion. Its selected filters determine the spending total. Settings provides the budget slider and a saved display preference, completing the five required screen roles.</a:t>
            </a:r>
          </a:p>
        </p:txBody>
      </p:sp>
      <p:sp>
        <p:nvSpPr>
          <p:cNvPr id="7" name="">
            <a:extLst xmlns:a="http://schemas.openxmlformats.org/drawingml/2006/main">
              <a:ext uri="{FF2B5EF4-FFF2-40B4-BE49-F238E27FC236}">
                <a16:creationId xmlns:a16="http://schemas.microsoft.com/office/drawing/2014/main" id="{6AA06E61-BDAD-4DF0-94A2-157C9FBAB802}"/>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Stateless MealCard and EmptyView render supplied values and callbacks. Reusing them keeps presentation consistent when saved records change or a filter returns no results.</a:t>
            </a:r>
          </a:p>
        </p:txBody>
      </p:sp>
    </p:spTree>
    <p:extLst>
      <p:ext uri="{BB962C8B-B14F-4D97-AF65-F5344CB8AC3E}">
        <p14:creationId xmlns:p14="http://schemas.microsoft.com/office/powerpoint/2010/main" val="1526955900"/>
      </p:ext>
    </p:extLst>
  </p:cSld>
  <p:transition spd="med">
    <p:fade/>
  </p:transition>
</p:sld>
</file>

<file path=ppt/slides/slide12.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C7643D-6090-4EE7-9C9A-3CCEE655AA14}"/>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Om speaking: Frontend and integration</a:t>
            </a:r>
          </a:p>
        </p:txBody>
      </p:sp>
      <p:sp>
        <p:nvSpPr>
          <p:cNvPr id="2" name="">
            <a:extLst xmlns:a="http://schemas.openxmlformats.org/drawingml/2006/main">
              <a:ext uri="{FF2B5EF4-FFF2-40B4-BE49-F238E27FC236}">
                <a16:creationId xmlns:a16="http://schemas.microsoft.com/office/drawing/2014/main" id="{81542BE3-5DFC-42DA-B4CC-7898D3916FD8}"/>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Shared state and widget lifecycle</a:t>
            </a:r>
          </a:p>
        </p:txBody>
      </p:sp>
      <p:sp>
        <p:nvSpPr>
          <p:cNvPr id="3" name="">
            <a:extLst xmlns:a="http://schemas.openxmlformats.org/drawingml/2006/main">
              <a:ext uri="{FF2B5EF4-FFF2-40B4-BE49-F238E27FC236}">
                <a16:creationId xmlns:a16="http://schemas.microsoft.com/office/drawing/2014/main" id="{B5EAA166-1A20-4BA0-814D-A7ADF75C11EC}"/>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CD7D2423-0C49-488E-BD71-4D9945CC574A}"/>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F099AA25-3836-4903-B341-C5D2F7BAEDEA}"/>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AppStore is our shared ChangeNotifier. It holds the loaded meals, purchases, budget and dark-mode value. After a successful database mutation, refreshing the store reloads current rows and notifies the interface. This allows multiple screens to reflect the same saved information.</a:t>
            </a:r>
          </a:p>
        </p:txBody>
      </p:sp>
      <p:sp>
        <p:nvSpPr>
          <p:cNvPr id="6" name="">
            <a:extLst xmlns:a="http://schemas.openxmlformats.org/drawingml/2006/main">
              <a:ext uri="{FF2B5EF4-FFF2-40B4-BE49-F238E27FC236}">
                <a16:creationId xmlns:a16="http://schemas.microsoft.com/office/drawing/2014/main" id="{070E79B7-A0E6-4427-9F8A-41B21DB51F6A}"/>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forms use StatefulWidget for temporary input, validation and a pending-save flag. For example, dragging the budget slider shows a draft value immediately, while releasing it saves the preference. This separates interaction in progress from the value that has successfully reached local storage.</a:t>
            </a:r>
          </a:p>
        </p:txBody>
      </p:sp>
      <p:sp>
        <p:nvSpPr>
          <p:cNvPr id="7" name="">
            <a:extLst xmlns:a="http://schemas.openxmlformats.org/drawingml/2006/main">
              <a:ext uri="{FF2B5EF4-FFF2-40B4-BE49-F238E27FC236}">
                <a16:creationId xmlns:a16="http://schemas.microsoft.com/office/drawing/2014/main" id="{8CB7BA66-440F-4CD4-8FD2-C4FDF8FF5643}"/>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We dispose controllers and check mounted after asynchronous operations. The application owns database lifetime, and AppStore suppresses notifications after disposal, reducing stale updates.</a:t>
            </a:r>
          </a:p>
        </p:txBody>
      </p:sp>
    </p:spTree>
    <p:extLst>
      <p:ext uri="{BB962C8B-B14F-4D97-AF65-F5344CB8AC3E}">
        <p14:creationId xmlns:p14="http://schemas.microsoft.com/office/powerpoint/2010/main" val="1972596227"/>
      </p:ext>
    </p:extLst>
  </p:cSld>
  <p:transition spd="med">
    <p:fade/>
  </p:transition>
</p:sld>
</file>

<file path=ppt/slides/slide13.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6F8B07-F378-40EB-8DFE-2638D1148113}"/>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Om speaking: Frontend and integration</a:t>
            </a:r>
          </a:p>
        </p:txBody>
      </p:sp>
      <p:sp>
        <p:nvSpPr>
          <p:cNvPr id="2" name="">
            <a:extLst xmlns:a="http://schemas.openxmlformats.org/drawingml/2006/main">
              <a:ext uri="{FF2B5EF4-FFF2-40B4-BE49-F238E27FC236}">
                <a16:creationId xmlns:a16="http://schemas.microsoft.com/office/drawing/2014/main" id="{E157DBC5-BBDB-42C3-BF19-CC8F0618F9B2}"/>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Meal editor and input feedback</a:t>
            </a:r>
          </a:p>
        </p:txBody>
      </p:sp>
      <p:sp>
        <p:nvSpPr>
          <p:cNvPr id="3" name="">
            <a:extLst xmlns:a="http://schemas.openxmlformats.org/drawingml/2006/main">
              <a:ext uri="{FF2B5EF4-FFF2-40B4-BE49-F238E27FC236}">
                <a16:creationId xmlns:a16="http://schemas.microsoft.com/office/drawing/2014/main" id="{1E9FE2C1-7DAA-4416-8D1B-ABBFC12E7C1E}"/>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4FD383C6-A5C6-4560-AECB-E86FC28C5460}"/>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A9E68963-E724-401F-B79C-156310CB2558}"/>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MealEditor handles both creation and updates. Editing loads the selected Meal's current values and retains its ID. Creating collects new values and receives a database-generated ID after saving.</a:t>
            </a:r>
          </a:p>
        </p:txBody>
      </p:sp>
      <p:sp>
        <p:nvSpPr>
          <p:cNvPr id="6" name="">
            <a:extLst xmlns:a="http://schemas.openxmlformats.org/drawingml/2006/main">
              <a:ext uri="{FF2B5EF4-FFF2-40B4-BE49-F238E27FC236}">
                <a16:creationId xmlns:a16="http://schemas.microsoft.com/office/drawing/2014/main" id="{CE8FE0D5-6A32-4152-B20A-90ADF14CF25E}"/>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form requires a meal name and venue note and validates the money fields before submitting. An inline message explains an invalid amount, so the student can correct the input instead of discovering the problem after leaving the page. All amounts have explicit USD labels.</a:t>
            </a:r>
          </a:p>
        </p:txBody>
      </p:sp>
      <p:sp>
        <p:nvSpPr>
          <p:cNvPr id="7" name="">
            <a:extLst xmlns:a="http://schemas.openxmlformats.org/drawingml/2006/main">
              <a:ext uri="{FF2B5EF4-FFF2-40B4-BE49-F238E27FC236}">
                <a16:creationId xmlns:a16="http://schemas.microsoft.com/office/drawing/2014/main" id="{F42DF2E7-83E2-4DA9-BB68-9B9731A2C8B2}"/>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Saving and navigation wait for the asynchronous operation to finish. If a write fails, the form provides feedback and preserves the draft. Delete actions require confirmation, and linked purchase records produce a clear restriction message. This connects backend rules to understandable user feedback.</a:t>
            </a:r>
          </a:p>
        </p:txBody>
      </p:sp>
    </p:spTree>
    <p:extLst>
      <p:ext uri="{BB962C8B-B14F-4D97-AF65-F5344CB8AC3E}">
        <p14:creationId xmlns:p14="http://schemas.microsoft.com/office/powerpoint/2010/main" val="1774955214"/>
      </p:ext>
    </p:extLst>
  </p:cSld>
  <p:transition spd="med">
    <p:fade/>
  </p:transition>
</p:sld>
</file>

<file path=ppt/slides/slide14.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522A43-0E47-43DE-BB31-EB98C41DB608}"/>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Om speaking: Frontend and integration</a:t>
            </a:r>
          </a:p>
        </p:txBody>
      </p:sp>
      <p:sp>
        <p:nvSpPr>
          <p:cNvPr id="2" name="">
            <a:extLst xmlns:a="http://schemas.openxmlformats.org/drawingml/2006/main">
              <a:ext uri="{FF2B5EF4-FFF2-40B4-BE49-F238E27FC236}">
                <a16:creationId xmlns:a16="http://schemas.microsoft.com/office/drawing/2014/main" id="{B865C813-5028-4520-9346-0707CD2D13D7}"/>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Plan, purchase and saved preferences</a:t>
            </a:r>
          </a:p>
        </p:txBody>
      </p:sp>
      <p:sp>
        <p:nvSpPr>
          <p:cNvPr id="3" name="">
            <a:extLst xmlns:a="http://schemas.openxmlformats.org/drawingml/2006/main">
              <a:ext uri="{FF2B5EF4-FFF2-40B4-BE49-F238E27FC236}">
                <a16:creationId xmlns:a16="http://schemas.microsoft.com/office/drawing/2014/main" id="{3A908C72-1B1C-459A-9636-6D576F251F6E}"/>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78DA305C-9AF9-4859-A7E4-E638156FDF6F}"/>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E0B22110-E26E-4B56-AA33-54C0FAFEE466}"/>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activity begins with Start plan. The student enters the actual amount and explicitly chooses Save purchase and finish. An amount over the lunch budget triggers a confirmation. Reset asks for confirmation and discards the active unsaved draft while keeping saved purchase history available.</a:t>
            </a:r>
          </a:p>
        </p:txBody>
      </p:sp>
      <p:sp>
        <p:nvSpPr>
          <p:cNvPr id="6" name="">
            <a:extLst xmlns:a="http://schemas.openxmlformats.org/drawingml/2006/main">
              <a:ext uri="{FF2B5EF4-FFF2-40B4-BE49-F238E27FC236}">
                <a16:creationId xmlns:a16="http://schemas.microsoft.com/office/drawing/2014/main" id="{5699560D-A31C-4366-8A06-861B6D03B7B7}"/>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Correcting a receipt refreshes its actual amount, spending total and dependent Lunch Lens result. The flow distinguishes current catalog estimates, unsaved drafts and saved receipts.</a:t>
            </a:r>
          </a:p>
        </p:txBody>
      </p:sp>
      <p:sp>
        <p:nvSpPr>
          <p:cNvPr id="7" name="">
            <a:extLst xmlns:a="http://schemas.openxmlformats.org/drawingml/2006/main">
              <a:ext uri="{FF2B5EF4-FFF2-40B4-BE49-F238E27FC236}">
                <a16:creationId xmlns:a16="http://schemas.microsoft.com/office/drawing/2014/main" id="{978713AA-F048-4230-97A3-F42446117637}"/>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budget slider covers zero to thirty dollars in fifty-cent steps. SharedPreferences stores the budget and dark mode, while SQLite stores the meals and receipts. The application loads both kinds of saved information after a process restart, which we also demonstrate with networking disabled.</a:t>
            </a:r>
          </a:p>
        </p:txBody>
      </p:sp>
    </p:spTree>
    <p:extLst>
      <p:ext uri="{BB962C8B-B14F-4D97-AF65-F5344CB8AC3E}">
        <p14:creationId xmlns:p14="http://schemas.microsoft.com/office/powerpoint/2010/main" val="912633506"/>
      </p:ext>
    </p:extLst>
  </p:cSld>
  <p:transition spd="med">
    <p:fade/>
  </p:transition>
</p:sld>
</file>

<file path=ppt/slides/slide15.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DDB640-D283-47AC-8D9F-84DA8C15E52D}"/>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Om speaking: Frontend and integration</a:t>
            </a:r>
          </a:p>
        </p:txBody>
      </p:sp>
      <p:sp>
        <p:nvSpPr>
          <p:cNvPr id="2" name="">
            <a:extLst xmlns:a="http://schemas.openxmlformats.org/drawingml/2006/main">
              <a:ext uri="{FF2B5EF4-FFF2-40B4-BE49-F238E27FC236}">
                <a16:creationId xmlns:a16="http://schemas.microsoft.com/office/drawing/2014/main" id="{EEE5C834-1C32-4196-9268-FDE9A2320D71}"/>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Lunch Lens method and user control</a:t>
            </a:r>
          </a:p>
        </p:txBody>
      </p:sp>
      <p:sp>
        <p:nvSpPr>
          <p:cNvPr id="3" name="">
            <a:extLst xmlns:a="http://schemas.openxmlformats.org/drawingml/2006/main">
              <a:ext uri="{FF2B5EF4-FFF2-40B4-BE49-F238E27FC236}">
                <a16:creationId xmlns:a16="http://schemas.microsoft.com/office/drawing/2014/main" id="{21219F12-4CC6-46C3-A0D2-F40BF13CAF74}"/>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0CCCA6EA-C925-439E-BD64-099A1C33A4B5}"/>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4B5F72C1-AA89-4CDC-9913-090C19ED9047}"/>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Lunch Lens is our local rule-based smart helper. A pure Dart function selects the three most recent earlier purchases of the selected meal. It sorts them by timestamp and uses the row ID to break equal-time ties. Other meals and later purchases do not enter that estimate.</a:t>
            </a:r>
          </a:p>
        </p:txBody>
      </p:sp>
      <p:sp>
        <p:nvSpPr>
          <p:cNvPr id="6" name="">
            <a:extLst xmlns:a="http://schemas.openxmlformats.org/drawingml/2006/main">
              <a:ext uri="{FF2B5EF4-FFF2-40B4-BE49-F238E27FC236}">
                <a16:creationId xmlns:a16="http://schemas.microsoft.com/office/drawing/2014/main" id="{54C29E35-3011-496A-BA4B-AFA7FEE1A9BF}"/>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helper calculates and rounds the mean in cents. It also reports the last-price baseline. The activity shows the input amounts and date range alongside its explanation.</a:t>
            </a:r>
          </a:p>
        </p:txBody>
      </p:sp>
      <p:sp>
        <p:nvSpPr>
          <p:cNvPr id="7" name="">
            <a:extLst xmlns:a="http://schemas.openxmlformats.org/drawingml/2006/main">
              <a:ext uri="{FF2B5EF4-FFF2-40B4-BE49-F238E27FC236}">
                <a16:creationId xmlns:a16="http://schemas.microsoft.com/office/drawing/2014/main" id="{A41438D0-90B2-4001-85B1-7BDADAF32274}"/>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student can dismiss the card with Not now and restore it later. The helper never overwrites the actual amount or saves a purchase by itself. Insufficient history produces a clear message. This gives the user a suggestion with a visible reason while preserving control over the recorded amount.</a:t>
            </a:r>
          </a:p>
        </p:txBody>
      </p:sp>
    </p:spTree>
    <p:extLst>
      <p:ext uri="{BB962C8B-B14F-4D97-AF65-F5344CB8AC3E}">
        <p14:creationId xmlns:p14="http://schemas.microsoft.com/office/powerpoint/2010/main" val="1832918885"/>
      </p:ext>
    </p:extLst>
  </p:cSld>
  <p:transition spd="med">
    <p:fade/>
  </p:transition>
</p:sld>
</file>

<file path=ppt/slides/slide16.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DC649E-C2AD-4B0F-B37C-866CB426A17D}"/>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Om speaking: Frontend and integration</a:t>
            </a:r>
          </a:p>
        </p:txBody>
      </p:sp>
      <p:sp>
        <p:nvSpPr>
          <p:cNvPr id="2" name="">
            <a:extLst xmlns:a="http://schemas.openxmlformats.org/drawingml/2006/main">
              <a:ext uri="{FF2B5EF4-FFF2-40B4-BE49-F238E27FC236}">
                <a16:creationId xmlns:a16="http://schemas.microsoft.com/office/drawing/2014/main" id="{499BFEF4-08E7-47FA-96A3-2D4B9531AEBA}"/>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Five helper evaluation cases</a:t>
            </a:r>
          </a:p>
        </p:txBody>
      </p:sp>
      <p:sp>
        <p:nvSpPr>
          <p:cNvPr id="3" name="">
            <a:extLst xmlns:a="http://schemas.openxmlformats.org/drawingml/2006/main">
              <a:ext uri="{FF2B5EF4-FFF2-40B4-BE49-F238E27FC236}">
                <a16:creationId xmlns:a16="http://schemas.microsoft.com/office/drawing/2014/main" id="{FEDA36F4-EBE8-4068-8284-6E2EF6F43BFC}"/>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136267D4-98F0-4360-9E96-00140660E92D}"/>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D86288CE-9CF2-49CF-B850-107C1AC94552}"/>
              </a:ext>
            </a:extLst>
          </p:cNvPr>
          <p:cNvSpPr>
            <a:spLocks xmlns:a="http://schemas.openxmlformats.org/drawingml/2006/main" noGrp="1"/>
          </p:cNvSpPr>
          <p:nvPr/>
        </p:nvSpPr>
        <p:spPr>
          <a:xfrm xmlns:a="http://schemas.openxmlformats.org/drawingml/2006/main">
            <a:off x="666750" y="1628775"/>
            <a:ext cx="10858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2B25"/>
                </a:solidFill>
                <a:latin typeface="Arial"/>
                <a:ea typeface="Arial"/>
                <a:cs typeface="Arial"/>
              </a:defRPr>
            </a:defPPr>
            <a:lvl1pPr>
              <a:defRPr sz="1875" b="0">
                <a:solidFill>
                  <a:srgbClr val="152B25"/>
                </a:solidFill>
                <a:latin typeface="Arial"/>
                <a:ea typeface="Arial"/>
                <a:cs typeface="Arial"/>
              </a:defRPr>
            </a:lvl1pPr>
            <a:lvl2pPr>
              <a:defRPr sz="1875" b="0">
                <a:solidFill>
                  <a:srgbClr val="152B25"/>
                </a:solidFill>
                <a:latin typeface="Arial"/>
                <a:ea typeface="Arial"/>
                <a:cs typeface="Arial"/>
              </a:defRPr>
            </a:lvl2pPr>
            <a:lvl3pPr>
              <a:defRPr sz="1875" b="0">
                <a:solidFill>
                  <a:srgbClr val="152B25"/>
                </a:solidFill>
                <a:latin typeface="Arial"/>
                <a:ea typeface="Arial"/>
                <a:cs typeface="Arial"/>
              </a:defRPr>
            </a:lvl3pPr>
            <a:lvl4pPr>
              <a:defRPr sz="1875" b="0">
                <a:solidFill>
                  <a:srgbClr val="152B25"/>
                </a:solidFill>
                <a:latin typeface="Arial"/>
                <a:ea typeface="Arial"/>
                <a:cs typeface="Arial"/>
              </a:defRPr>
            </a:lvl4pPr>
            <a:lvl5pPr>
              <a:defRPr sz="1875" b="0">
                <a:solidFill>
                  <a:srgbClr val="152B25"/>
                </a:solidFill>
                <a:latin typeface="Arial"/>
                <a:ea typeface="Arial"/>
                <a:cs typeface="Arial"/>
              </a:defRPr>
            </a:lvl5pPr>
            <a:lvl6pPr>
              <a:defRPr sz="1875" b="0">
                <a:solidFill>
                  <a:srgbClr val="152B25"/>
                </a:solidFill>
                <a:latin typeface="Arial"/>
                <a:ea typeface="Arial"/>
                <a:cs typeface="Arial"/>
              </a:defRPr>
            </a:lvl6pPr>
            <a:lvl7pPr>
              <a:defRPr sz="1875" b="0">
                <a:solidFill>
                  <a:srgbClr val="152B25"/>
                </a:solidFill>
                <a:latin typeface="Arial"/>
                <a:ea typeface="Arial"/>
                <a:cs typeface="Arial"/>
              </a:defRPr>
            </a:lvl7pPr>
            <a:lvl8pPr>
              <a:defRPr sz="1875" b="0">
                <a:solidFill>
                  <a:srgbClr val="152B25"/>
                </a:solidFill>
                <a:latin typeface="Arial"/>
                <a:ea typeface="Arial"/>
                <a:cs typeface="Arial"/>
              </a:defRPr>
            </a:lvl8pPr>
            <a:lvl9pPr>
              <a:defRPr sz="1875" b="0">
                <a:solidFill>
                  <a:srgbClr val="152B25"/>
                </a:solidFill>
                <a:latin typeface="Arial"/>
                <a:ea typeface="Arial"/>
                <a:cs typeface="Arial"/>
              </a:defRPr>
            </a:lvl9pPr>
          </a:lstStyle>
          <a:p xmlns:a="http://schemas.openxmlformats.org/drawingml/2006/main">
            <a:pPr>
              <a:defRPr sz="1875" b="0">
                <a:solidFill>
                  <a:srgbClr val="152B25"/>
                </a:solidFill>
                <a:latin typeface="Arial"/>
                <a:ea typeface="Arial"/>
                <a:cs typeface="Arial"/>
              </a:defRPr>
            </a:pPr>
            <a:r>
              <a:rPr sz="1875" b="0">
                <a:solidFill>
                  <a:srgbClr val="152B25"/>
                </a:solidFill>
                <a:latin typeface="Arial"/>
                <a:ea typeface="Arial"/>
                <a:cs typeface="Arial"/>
              </a:rPr>
              <a:t>We checked five fictional case types. The table shows chronological input amounts in cents and the actual outputs from the passing checks.</a:t>
            </a:r>
          </a:p>
        </p:txBody>
      </p:sp>
      <p:graphicFrame>
        <p:nvGraphicFramePr>
          <p:cNvPr id="6" name="">
            <a:extLst xmlns:a="http://schemas.openxmlformats.org/drawingml/2006/main">
              <a:ext uri="{FF2B5EF4-FFF2-40B4-BE49-F238E27FC236}">
                <a16:creationId xmlns:a16="http://schemas.microsoft.com/office/drawing/2014/main" id="{46C6A228-4AB0-4DE6-8C0A-472E54820F6A}"/>
              </a:ext>
            </a:extLst>
          </p:cNvPr>
          <p:cNvGraphicFramePr/>
          <p:nvPr/>
        </p:nvGraphicFramePr>
        <p:xfrm>
          <a:off xmlns:a="http://schemas.openxmlformats.org/drawingml/2006/main" x="666750" y="2457450"/>
          <a:ext xmlns:a="http://schemas.openxmlformats.org/drawingml/2006/main" cx="10858500" cy="2743200"/>
        </p:xfrm>
        <a:graphic xmlns:a="http://schemas.openxmlformats.org/drawingml/2006/main">
          <a:graphicData uri="http://schemas.openxmlformats.org/drawingml/2006/table">
            <a:tbl>
              <a:tblPr/>
              <a:tblGrid>
                <a:gridCol w="2190750"/>
                <a:gridCol w="3714750"/>
                <a:gridCol w="2476500"/>
                <a:gridCol w="2476500"/>
              </a:tblGrid>
              <a:tr h="457200">
                <a:tc>
                  <a:txBody>
                    <a:bodyPr/>
                    <a:lstStyle/>
                    <a:p>
                      <a:r>
                        <a:rPr sz="1800" b="1">
                          <a:solidFill>
                            <a:srgbClr val="152B25"/>
                          </a:solidFill>
                          <a:latin typeface="Arial"/>
                          <a:ea typeface="Arial"/>
                          <a:cs typeface="Arial"/>
                        </a:rPr>
                        <a:t>Case</a:t>
                      </a:r>
                    </a:p>
                  </a:txBody>
                  <a:tcPr marL="91440" marR="91440" marT="45720" marB="45720">
                    <a:lnL w="9525">
                      <a:solidFill>
                        <a:srgbClr val="A9BBB1"/>
                      </a:solidFill>
                      <a:prstDash val="solid"/>
                    </a:lnL>
                    <a:lnR w="9525">
                      <a:solidFill>
                        <a:srgbClr val="A9BBB1"/>
                      </a:solidFill>
                      <a:prstDash val="solid"/>
                    </a:lnR>
                    <a:lnT w="9525">
                      <a:solidFill>
                        <a:srgbClr val="A9BBB1"/>
                      </a:solidFill>
                      <a:prstDash val="solid"/>
                    </a:lnT>
                    <a:lnB w="9525">
                      <a:solidFill>
                        <a:srgbClr val="A9BBB1"/>
                      </a:solidFill>
                      <a:prstDash val="solid"/>
                    </a:lnB>
                    <a:solidFill>
                      <a:srgbClr val="DCECE2"/>
                    </a:solidFill>
                  </a:tcPr>
                </a:tc>
                <a:tc>
                  <a:txBody>
                    <a:bodyPr/>
                    <a:lstStyle/>
                    <a:p>
                      <a:r>
                        <a:rPr sz="1800" b="1">
                          <a:solidFill>
                            <a:srgbClr val="152B25"/>
                          </a:solidFill>
                          <a:latin typeface="Arial"/>
                          <a:ea typeface="Arial"/>
                          <a:cs typeface="Arial"/>
                        </a:rPr>
                        <a:t>Input cents</a:t>
                      </a:r>
                    </a:p>
                  </a:txBody>
                  <a:tcPr marL="91440" marR="91440" marT="45720" marB="45720">
                    <a:lnR w="9525">
                      <a:solidFill>
                        <a:srgbClr val="A9BBB1"/>
                      </a:solidFill>
                      <a:prstDash val="solid"/>
                    </a:lnR>
                    <a:lnT w="9525">
                      <a:solidFill>
                        <a:srgbClr val="A9BBB1"/>
                      </a:solidFill>
                      <a:prstDash val="solid"/>
                    </a:lnT>
                    <a:lnB w="9525">
                      <a:solidFill>
                        <a:srgbClr val="A9BBB1"/>
                      </a:solidFill>
                      <a:prstDash val="solid"/>
                    </a:lnB>
                    <a:solidFill>
                      <a:srgbClr val="DCECE2"/>
                    </a:solidFill>
                  </a:tcPr>
                </a:tc>
                <a:tc>
                  <a:txBody>
                    <a:bodyPr/>
                    <a:lstStyle/>
                    <a:p>
                      <a:r>
                        <a:rPr sz="1800" b="1">
                          <a:solidFill>
                            <a:srgbClr val="152B25"/>
                          </a:solidFill>
                          <a:latin typeface="Arial"/>
                          <a:ea typeface="Arial"/>
                          <a:cs typeface="Arial"/>
                        </a:rPr>
                        <a:t>Mean helper</a:t>
                      </a:r>
                    </a:p>
                  </a:txBody>
                  <a:tcPr marL="91440" marR="91440" marT="45720" marB="45720">
                    <a:lnR w="9525">
                      <a:solidFill>
                        <a:srgbClr val="A9BBB1"/>
                      </a:solidFill>
                      <a:prstDash val="solid"/>
                    </a:lnR>
                    <a:lnT w="9525">
                      <a:solidFill>
                        <a:srgbClr val="A9BBB1"/>
                      </a:solidFill>
                      <a:prstDash val="solid"/>
                    </a:lnT>
                    <a:lnB w="9525">
                      <a:solidFill>
                        <a:srgbClr val="A9BBB1"/>
                      </a:solidFill>
                      <a:prstDash val="solid"/>
                    </a:lnB>
                    <a:solidFill>
                      <a:srgbClr val="DCECE2"/>
                    </a:solidFill>
                  </a:tcPr>
                </a:tc>
                <a:tc>
                  <a:txBody>
                    <a:bodyPr/>
                    <a:lstStyle/>
                    <a:p>
                      <a:r>
                        <a:rPr sz="1800" b="1">
                          <a:solidFill>
                            <a:srgbClr val="152B25"/>
                          </a:solidFill>
                          <a:latin typeface="Arial"/>
                          <a:ea typeface="Arial"/>
                          <a:cs typeface="Arial"/>
                        </a:rPr>
                        <a:t>Last price</a:t>
                      </a:r>
                    </a:p>
                  </a:txBody>
                  <a:tcPr marL="91440" marR="91440" marT="45720" marB="45720">
                    <a:lnR w="9525">
                      <a:solidFill>
                        <a:srgbClr val="A9BBB1"/>
                      </a:solidFill>
                      <a:prstDash val="solid"/>
                    </a:lnR>
                    <a:lnT w="9525">
                      <a:solidFill>
                        <a:srgbClr val="A9BBB1"/>
                      </a:solidFill>
                      <a:prstDash val="solid"/>
                    </a:lnT>
                    <a:lnB w="9525">
                      <a:solidFill>
                        <a:srgbClr val="A9BBB1"/>
                      </a:solidFill>
                      <a:prstDash val="solid"/>
                    </a:lnB>
                    <a:solidFill>
                      <a:srgbClr val="DCECE2"/>
                    </a:solidFill>
                  </a:tcPr>
                </a:tc>
              </a:tr>
              <a:tr h="457200">
                <a:tc>
                  <a:txBody>
                    <a:bodyPr/>
                    <a:lstStyle/>
                    <a:p>
                      <a:r>
                        <a:rPr sz="1800" b="0">
                          <a:solidFill>
                            <a:srgbClr val="152B25"/>
                          </a:solidFill>
                          <a:latin typeface="Arial"/>
                          <a:ea typeface="Arial"/>
                          <a:cs typeface="Arial"/>
                        </a:rPr>
                        <a:t>Normal</a:t>
                      </a:r>
                    </a:p>
                  </a:txBody>
                  <a:tcPr marL="91440" marR="91440" marT="45720" marB="45720">
                    <a:lnL w="9525">
                      <a:solidFill>
                        <a:srgbClr val="A9BBB1"/>
                      </a:solidFill>
                      <a:prstDash val="solid"/>
                    </a:lnL>
                    <a:lnR w="9525">
                      <a:solidFill>
                        <a:srgbClr val="A9BBB1"/>
                      </a:solidFill>
                      <a:prstDash val="solid"/>
                    </a:lnR>
                    <a:lnB w="9525">
                      <a:solidFill>
                        <a:srgbClr val="A9BBB1"/>
                      </a:solidFill>
                      <a:prstDash val="solid"/>
                    </a:lnB>
                    <a:solidFill>
                      <a:srgbClr val="FFFFFF"/>
                    </a:solidFill>
                  </a:tcPr>
                </a:tc>
                <a:tc>
                  <a:txBody>
                    <a:bodyPr/>
                    <a:lstStyle/>
                    <a:p>
                      <a:r>
                        <a:rPr sz="1800" b="0">
                          <a:solidFill>
                            <a:srgbClr val="152B25"/>
                          </a:solidFill>
                          <a:latin typeface="Arial"/>
                          <a:ea typeface="Arial"/>
                          <a:cs typeface="Arial"/>
                        </a:rPr>
                        <a:t>450, 600, 750</a:t>
                      </a:r>
                    </a:p>
                  </a:txBody>
                  <a:tcPr marL="91440" marR="91440" marT="45720" marB="45720">
                    <a:lnR w="9525">
                      <a:solidFill>
                        <a:srgbClr val="A9BBB1"/>
                      </a:solidFill>
                      <a:prstDash val="solid"/>
                    </a:lnR>
                    <a:lnB w="9525">
                      <a:solidFill>
                        <a:srgbClr val="A9BBB1"/>
                      </a:solidFill>
                      <a:prstDash val="solid"/>
                    </a:lnB>
                    <a:solidFill>
                      <a:srgbClr val="FFFFFF"/>
                    </a:solidFill>
                  </a:tcPr>
                </a:tc>
                <a:tc>
                  <a:txBody>
                    <a:bodyPr/>
                    <a:lstStyle/>
                    <a:p>
                      <a:r>
                        <a:rPr sz="1800" b="0">
                          <a:solidFill>
                            <a:srgbClr val="152B25"/>
                          </a:solidFill>
                          <a:latin typeface="Arial"/>
                          <a:ea typeface="Arial"/>
                          <a:cs typeface="Arial"/>
                        </a:rPr>
                        <a:t>600</a:t>
                      </a:r>
                    </a:p>
                  </a:txBody>
                  <a:tcPr marL="91440" marR="91440" marT="45720" marB="45720">
                    <a:lnR w="9525">
                      <a:solidFill>
                        <a:srgbClr val="A9BBB1"/>
                      </a:solidFill>
                      <a:prstDash val="solid"/>
                    </a:lnR>
                    <a:lnB w="9525">
                      <a:solidFill>
                        <a:srgbClr val="A9BBB1"/>
                      </a:solidFill>
                      <a:prstDash val="solid"/>
                    </a:lnB>
                    <a:solidFill>
                      <a:srgbClr val="FFFFFF"/>
                    </a:solidFill>
                  </a:tcPr>
                </a:tc>
                <a:tc>
                  <a:txBody>
                    <a:bodyPr/>
                    <a:lstStyle/>
                    <a:p>
                      <a:r>
                        <a:rPr sz="1800" b="0">
                          <a:solidFill>
                            <a:srgbClr val="152B25"/>
                          </a:solidFill>
                          <a:latin typeface="Arial"/>
                          <a:ea typeface="Arial"/>
                          <a:cs typeface="Arial"/>
                        </a:rPr>
                        <a:t>750</a:t>
                      </a:r>
                    </a:p>
                  </a:txBody>
                  <a:tcPr marL="91440" marR="91440" marT="45720" marB="45720">
                    <a:lnR w="9525">
                      <a:solidFill>
                        <a:srgbClr val="A9BBB1"/>
                      </a:solidFill>
                      <a:prstDash val="solid"/>
                    </a:lnR>
                    <a:lnB w="9525">
                      <a:solidFill>
                        <a:srgbClr val="A9BBB1"/>
                      </a:solidFill>
                      <a:prstDash val="solid"/>
                    </a:lnB>
                    <a:solidFill>
                      <a:srgbClr val="FFFFFF"/>
                    </a:solidFill>
                  </a:tcPr>
                </a:tc>
              </a:tr>
              <a:tr h="457200">
                <a:tc>
                  <a:txBody>
                    <a:bodyPr/>
                    <a:lstStyle/>
                    <a:p>
                      <a:r>
                        <a:rPr sz="1800" b="0">
                          <a:solidFill>
                            <a:srgbClr val="152B25"/>
                          </a:solidFill>
                          <a:latin typeface="Arial"/>
                          <a:ea typeface="Arial"/>
                          <a:cs typeface="Arial"/>
                        </a:rPr>
                        <a:t>Insufficient</a:t>
                      </a:r>
                    </a:p>
                  </a:txBody>
                  <a:tcPr marL="91440" marR="91440" marT="45720" marB="45720">
                    <a:lnL w="9525">
                      <a:solidFill>
                        <a:srgbClr val="A9BBB1"/>
                      </a:solidFill>
                      <a:prstDash val="solid"/>
                    </a:lnL>
                    <a:lnR w="9525">
                      <a:solidFill>
                        <a:srgbClr val="A9BBB1"/>
                      </a:solidFill>
                      <a:prstDash val="solid"/>
                    </a:lnR>
                    <a:lnB w="9525">
                      <a:solidFill>
                        <a:srgbClr val="A9BBB1"/>
                      </a:solidFill>
                      <a:prstDash val="solid"/>
                    </a:lnB>
                    <a:solidFill>
                      <a:srgbClr val="FFFFFF"/>
                    </a:solidFill>
                  </a:tcPr>
                </a:tc>
                <a:tc>
                  <a:txBody>
                    <a:bodyPr/>
                    <a:lstStyle/>
                    <a:p>
                      <a:r>
                        <a:rPr sz="1800" b="0">
                          <a:solidFill>
                            <a:srgbClr val="152B25"/>
                          </a:solidFill>
                          <a:latin typeface="Arial"/>
                          <a:ea typeface="Arial"/>
                          <a:cs typeface="Arial"/>
                        </a:rPr>
                        <a:t>450, 600</a:t>
                      </a:r>
                    </a:p>
                  </a:txBody>
                  <a:tcPr marL="91440" marR="91440" marT="45720" marB="45720">
                    <a:lnR w="9525">
                      <a:solidFill>
                        <a:srgbClr val="A9BBB1"/>
                      </a:solidFill>
                      <a:prstDash val="solid"/>
                    </a:lnR>
                    <a:lnB w="9525">
                      <a:solidFill>
                        <a:srgbClr val="A9BBB1"/>
                      </a:solidFill>
                      <a:prstDash val="solid"/>
                    </a:lnB>
                    <a:solidFill>
                      <a:srgbClr val="FFFFFF"/>
                    </a:solidFill>
                  </a:tcPr>
                </a:tc>
                <a:tc>
                  <a:txBody>
                    <a:bodyPr/>
                    <a:lstStyle/>
                    <a:p>
                      <a:r>
                        <a:rPr sz="1800" b="0">
                          <a:solidFill>
                            <a:srgbClr val="152B25"/>
                          </a:solidFill>
                          <a:latin typeface="Arial"/>
                          <a:ea typeface="Arial"/>
                          <a:cs typeface="Arial"/>
                        </a:rPr>
                        <a:t>No estimate</a:t>
                      </a:r>
                    </a:p>
                  </a:txBody>
                  <a:tcPr marL="91440" marR="91440" marT="45720" marB="45720">
                    <a:lnR w="9525">
                      <a:solidFill>
                        <a:srgbClr val="A9BBB1"/>
                      </a:solidFill>
                      <a:prstDash val="solid"/>
                    </a:lnR>
                    <a:lnB w="9525">
                      <a:solidFill>
                        <a:srgbClr val="A9BBB1"/>
                      </a:solidFill>
                      <a:prstDash val="solid"/>
                    </a:lnB>
                    <a:solidFill>
                      <a:srgbClr val="FFFFFF"/>
                    </a:solidFill>
                  </a:tcPr>
                </a:tc>
                <a:tc>
                  <a:txBody>
                    <a:bodyPr/>
                    <a:lstStyle/>
                    <a:p>
                      <a:r>
                        <a:rPr sz="1800" b="0">
                          <a:solidFill>
                            <a:srgbClr val="152B25"/>
                          </a:solidFill>
                          <a:latin typeface="Arial"/>
                          <a:ea typeface="Arial"/>
                          <a:cs typeface="Arial"/>
                        </a:rPr>
                        <a:t>Not scored</a:t>
                      </a:r>
                    </a:p>
                  </a:txBody>
                  <a:tcPr marL="91440" marR="91440" marT="45720" marB="45720">
                    <a:lnR w="9525">
                      <a:solidFill>
                        <a:srgbClr val="A9BBB1"/>
                      </a:solidFill>
                      <a:prstDash val="solid"/>
                    </a:lnR>
                    <a:lnB w="9525">
                      <a:solidFill>
                        <a:srgbClr val="A9BBB1"/>
                      </a:solidFill>
                      <a:prstDash val="solid"/>
                    </a:lnB>
                    <a:solidFill>
                      <a:srgbClr val="FFFFFF"/>
                    </a:solidFill>
                  </a:tcPr>
                </a:tc>
              </a:tr>
              <a:tr h="457200">
                <a:tc>
                  <a:txBody>
                    <a:bodyPr/>
                    <a:lstStyle/>
                    <a:p>
                      <a:r>
                        <a:rPr sz="1800" b="0">
                          <a:solidFill>
                            <a:srgbClr val="152B25"/>
                          </a:solidFill>
                          <a:latin typeface="Arial"/>
                          <a:ea typeface="Arial"/>
                          <a:cs typeface="Arial"/>
                        </a:rPr>
                        <a:t>Invalid</a:t>
                      </a:r>
                    </a:p>
                  </a:txBody>
                  <a:tcPr marL="91440" marR="91440" marT="45720" marB="45720">
                    <a:lnL w="9525">
                      <a:solidFill>
                        <a:srgbClr val="A9BBB1"/>
                      </a:solidFill>
                      <a:prstDash val="solid"/>
                    </a:lnL>
                    <a:lnR w="9525">
                      <a:solidFill>
                        <a:srgbClr val="A9BBB1"/>
                      </a:solidFill>
                      <a:prstDash val="solid"/>
                    </a:lnR>
                    <a:lnB w="9525">
                      <a:solidFill>
                        <a:srgbClr val="A9BBB1"/>
                      </a:solidFill>
                      <a:prstDash val="solid"/>
                    </a:lnB>
                    <a:solidFill>
                      <a:srgbClr val="FFFFFF"/>
                    </a:solidFill>
                  </a:tcPr>
                </a:tc>
                <a:tc>
                  <a:txBody>
                    <a:bodyPr/>
                    <a:lstStyle/>
                    <a:p>
                      <a:r>
                        <a:rPr sz="1800" b="0">
                          <a:solidFill>
                            <a:srgbClr val="152B25"/>
                          </a:solidFill>
                          <a:latin typeface="Arial"/>
                          <a:ea typeface="Arial"/>
                          <a:cs typeface="Arial"/>
                        </a:rPr>
                        <a:t>450, -1, 750</a:t>
                      </a:r>
                    </a:p>
                  </a:txBody>
                  <a:tcPr marL="91440" marR="91440" marT="45720" marB="45720">
                    <a:lnR w="9525">
                      <a:solidFill>
                        <a:srgbClr val="A9BBB1"/>
                      </a:solidFill>
                      <a:prstDash val="solid"/>
                    </a:lnR>
                    <a:lnB w="9525">
                      <a:solidFill>
                        <a:srgbClr val="A9BBB1"/>
                      </a:solidFill>
                      <a:prstDash val="solid"/>
                    </a:lnB>
                    <a:solidFill>
                      <a:srgbClr val="FFFFFF"/>
                    </a:solidFill>
                  </a:tcPr>
                </a:tc>
                <a:tc>
                  <a:txBody>
                    <a:bodyPr/>
                    <a:lstStyle/>
                    <a:p>
                      <a:r>
                        <a:rPr sz="1800" b="0">
                          <a:solidFill>
                            <a:srgbClr val="152B25"/>
                          </a:solidFill>
                          <a:latin typeface="Arial"/>
                          <a:ea typeface="Arial"/>
                          <a:cs typeface="Arial"/>
                        </a:rPr>
                        <a:t>Correction</a:t>
                      </a:r>
                    </a:p>
                  </a:txBody>
                  <a:tcPr marL="91440" marR="91440" marT="45720" marB="45720">
                    <a:lnR w="9525">
                      <a:solidFill>
                        <a:srgbClr val="A9BBB1"/>
                      </a:solidFill>
                      <a:prstDash val="solid"/>
                    </a:lnR>
                    <a:lnB w="9525">
                      <a:solidFill>
                        <a:srgbClr val="A9BBB1"/>
                      </a:solidFill>
                      <a:prstDash val="solid"/>
                    </a:lnB>
                    <a:solidFill>
                      <a:srgbClr val="FFFFFF"/>
                    </a:solidFill>
                  </a:tcPr>
                </a:tc>
                <a:tc>
                  <a:txBody>
                    <a:bodyPr/>
                    <a:lstStyle/>
                    <a:p>
                      <a:r>
                        <a:rPr sz="1800" b="0">
                          <a:solidFill>
                            <a:srgbClr val="152B25"/>
                          </a:solidFill>
                          <a:latin typeface="Arial"/>
                          <a:ea typeface="Arial"/>
                          <a:cs typeface="Arial"/>
                        </a:rPr>
                        <a:t>Not scored</a:t>
                      </a:r>
                    </a:p>
                  </a:txBody>
                  <a:tcPr marL="91440" marR="91440" marT="45720" marB="45720">
                    <a:lnR w="9525">
                      <a:solidFill>
                        <a:srgbClr val="A9BBB1"/>
                      </a:solidFill>
                      <a:prstDash val="solid"/>
                    </a:lnR>
                    <a:lnB w="9525">
                      <a:solidFill>
                        <a:srgbClr val="A9BBB1"/>
                      </a:solidFill>
                      <a:prstDash val="solid"/>
                    </a:lnB>
                    <a:solidFill>
                      <a:srgbClr val="FFFFFF"/>
                    </a:solidFill>
                  </a:tcPr>
                </a:tc>
              </a:tr>
              <a:tr h="457200">
                <a:tc>
                  <a:txBody>
                    <a:bodyPr/>
                    <a:lstStyle/>
                    <a:p>
                      <a:r>
                        <a:rPr sz="1800" b="0">
                          <a:solidFill>
                            <a:srgbClr val="152B25"/>
                          </a:solidFill>
                          <a:latin typeface="Arial"/>
                          <a:ea typeface="Arial"/>
                          <a:cs typeface="Arial"/>
                        </a:rPr>
                        <a:t>Boundary</a:t>
                      </a:r>
                    </a:p>
                  </a:txBody>
                  <a:tcPr marL="91440" marR="91440" marT="45720" marB="45720">
                    <a:lnL w="9525">
                      <a:solidFill>
                        <a:srgbClr val="A9BBB1"/>
                      </a:solidFill>
                      <a:prstDash val="solid"/>
                    </a:lnL>
                    <a:lnR w="9525">
                      <a:solidFill>
                        <a:srgbClr val="A9BBB1"/>
                      </a:solidFill>
                      <a:prstDash val="solid"/>
                    </a:lnR>
                    <a:lnB w="9525">
                      <a:solidFill>
                        <a:srgbClr val="A9BBB1"/>
                      </a:solidFill>
                      <a:prstDash val="solid"/>
                    </a:lnB>
                    <a:solidFill>
                      <a:srgbClr val="FFFFFF"/>
                    </a:solidFill>
                  </a:tcPr>
                </a:tc>
                <a:tc>
                  <a:txBody>
                    <a:bodyPr/>
                    <a:lstStyle/>
                    <a:p>
                      <a:r>
                        <a:rPr sz="1800" b="0">
                          <a:solidFill>
                            <a:srgbClr val="152B25"/>
                          </a:solidFill>
                          <a:latin typeface="Arial"/>
                          <a:ea typeface="Arial"/>
                          <a:cs typeface="Arial"/>
                        </a:rPr>
                        <a:t>100, 100, 101</a:t>
                      </a:r>
                    </a:p>
                  </a:txBody>
                  <a:tcPr marL="91440" marR="91440" marT="45720" marB="45720">
                    <a:lnR w="9525">
                      <a:solidFill>
                        <a:srgbClr val="A9BBB1"/>
                      </a:solidFill>
                      <a:prstDash val="solid"/>
                    </a:lnR>
                    <a:lnB w="9525">
                      <a:solidFill>
                        <a:srgbClr val="A9BBB1"/>
                      </a:solidFill>
                      <a:prstDash val="solid"/>
                    </a:lnB>
                    <a:solidFill>
                      <a:srgbClr val="FFFFFF"/>
                    </a:solidFill>
                  </a:tcPr>
                </a:tc>
                <a:tc>
                  <a:txBody>
                    <a:bodyPr/>
                    <a:lstStyle/>
                    <a:p>
                      <a:r>
                        <a:rPr sz="1800" b="0">
                          <a:solidFill>
                            <a:srgbClr val="152B25"/>
                          </a:solidFill>
                          <a:latin typeface="Arial"/>
                          <a:ea typeface="Arial"/>
                          <a:cs typeface="Arial"/>
                        </a:rPr>
                        <a:t>100</a:t>
                      </a:r>
                    </a:p>
                  </a:txBody>
                  <a:tcPr marL="91440" marR="91440" marT="45720" marB="45720">
                    <a:lnR w="9525">
                      <a:solidFill>
                        <a:srgbClr val="A9BBB1"/>
                      </a:solidFill>
                      <a:prstDash val="solid"/>
                    </a:lnR>
                    <a:lnB w="9525">
                      <a:solidFill>
                        <a:srgbClr val="A9BBB1"/>
                      </a:solidFill>
                      <a:prstDash val="solid"/>
                    </a:lnB>
                    <a:solidFill>
                      <a:srgbClr val="FFFFFF"/>
                    </a:solidFill>
                  </a:tcPr>
                </a:tc>
                <a:tc>
                  <a:txBody>
                    <a:bodyPr/>
                    <a:lstStyle/>
                    <a:p>
                      <a:r>
                        <a:rPr sz="1800" b="0">
                          <a:solidFill>
                            <a:srgbClr val="152B25"/>
                          </a:solidFill>
                          <a:latin typeface="Arial"/>
                          <a:ea typeface="Arial"/>
                          <a:cs typeface="Arial"/>
                        </a:rPr>
                        <a:t>101</a:t>
                      </a:r>
                    </a:p>
                  </a:txBody>
                  <a:tcPr marL="91440" marR="91440" marT="45720" marB="45720">
                    <a:lnR w="9525">
                      <a:solidFill>
                        <a:srgbClr val="A9BBB1"/>
                      </a:solidFill>
                      <a:prstDash val="solid"/>
                    </a:lnR>
                    <a:lnB w="9525">
                      <a:solidFill>
                        <a:srgbClr val="A9BBB1"/>
                      </a:solidFill>
                      <a:prstDash val="solid"/>
                    </a:lnB>
                    <a:solidFill>
                      <a:srgbClr val="FFFFFF"/>
                    </a:solidFill>
                  </a:tcPr>
                </a:tc>
              </a:tr>
              <a:tr h="457200">
                <a:tc>
                  <a:txBody>
                    <a:bodyPr/>
                    <a:lstStyle/>
                    <a:p>
                      <a:r>
                        <a:rPr sz="1800" b="0">
                          <a:solidFill>
                            <a:srgbClr val="152B25"/>
                          </a:solidFill>
                          <a:latin typeface="Arial"/>
                          <a:ea typeface="Arial"/>
                          <a:cs typeface="Arial"/>
                        </a:rPr>
                        <a:t>Counterexample</a:t>
                      </a:r>
                    </a:p>
                  </a:txBody>
                  <a:tcPr marL="91440" marR="91440" marT="45720" marB="45720">
                    <a:lnL w="9525">
                      <a:solidFill>
                        <a:srgbClr val="A9BBB1"/>
                      </a:solidFill>
                      <a:prstDash val="solid"/>
                    </a:lnL>
                    <a:lnR w="9525">
                      <a:solidFill>
                        <a:srgbClr val="A9BBB1"/>
                      </a:solidFill>
                      <a:prstDash val="solid"/>
                    </a:lnR>
                    <a:lnB w="9525">
                      <a:solidFill>
                        <a:srgbClr val="A9BBB1"/>
                      </a:solidFill>
                      <a:prstDash val="solid"/>
                    </a:lnB>
                    <a:solidFill>
                      <a:srgbClr val="FFFFFF"/>
                    </a:solidFill>
                  </a:tcPr>
                </a:tc>
                <a:tc>
                  <a:txBody>
                    <a:bodyPr/>
                    <a:lstStyle/>
                    <a:p>
                      <a:r>
                        <a:rPr sz="1800" b="0">
                          <a:solidFill>
                            <a:srgbClr val="152B25"/>
                          </a:solidFill>
                          <a:latin typeface="Arial"/>
                          <a:ea typeface="Arial"/>
                          <a:cs typeface="Arial"/>
                        </a:rPr>
                        <a:t>500, 2000, 500</a:t>
                      </a:r>
                    </a:p>
                  </a:txBody>
                  <a:tcPr marL="91440" marR="91440" marT="45720" marB="45720">
                    <a:lnR w="9525">
                      <a:solidFill>
                        <a:srgbClr val="A9BBB1"/>
                      </a:solidFill>
                      <a:prstDash val="solid"/>
                    </a:lnR>
                    <a:lnB w="9525">
                      <a:solidFill>
                        <a:srgbClr val="A9BBB1"/>
                      </a:solidFill>
                      <a:prstDash val="solid"/>
                    </a:lnB>
                    <a:solidFill>
                      <a:srgbClr val="FFFFFF"/>
                    </a:solidFill>
                  </a:tcPr>
                </a:tc>
                <a:tc>
                  <a:txBody>
                    <a:bodyPr/>
                    <a:lstStyle/>
                    <a:p>
                      <a:r>
                        <a:rPr sz="1800" b="0">
                          <a:solidFill>
                            <a:srgbClr val="152B25"/>
                          </a:solidFill>
                          <a:latin typeface="Arial"/>
                          <a:ea typeface="Arial"/>
                          <a:cs typeface="Arial"/>
                        </a:rPr>
                        <a:t>1000</a:t>
                      </a:r>
                    </a:p>
                  </a:txBody>
                  <a:tcPr marL="91440" marR="91440" marT="45720" marB="45720">
                    <a:lnR w="9525">
                      <a:solidFill>
                        <a:srgbClr val="A9BBB1"/>
                      </a:solidFill>
                      <a:prstDash val="solid"/>
                    </a:lnR>
                    <a:lnB w="9525">
                      <a:solidFill>
                        <a:srgbClr val="A9BBB1"/>
                      </a:solidFill>
                      <a:prstDash val="solid"/>
                    </a:lnB>
                    <a:solidFill>
                      <a:srgbClr val="FFFFFF"/>
                    </a:solidFill>
                  </a:tcPr>
                </a:tc>
                <a:tc>
                  <a:txBody>
                    <a:bodyPr/>
                    <a:lstStyle/>
                    <a:p>
                      <a:r>
                        <a:rPr sz="1800" b="0">
                          <a:solidFill>
                            <a:srgbClr val="152B25"/>
                          </a:solidFill>
                          <a:latin typeface="Arial"/>
                          <a:ea typeface="Arial"/>
                          <a:cs typeface="Arial"/>
                        </a:rPr>
                        <a:t>500</a:t>
                      </a:r>
                    </a:p>
                  </a:txBody>
                  <a:tcPr marL="91440" marR="91440" marT="45720" marB="45720">
                    <a:lnR w="9525">
                      <a:solidFill>
                        <a:srgbClr val="A9BBB1"/>
                      </a:solidFill>
                      <a:prstDash val="solid"/>
                    </a:lnR>
                    <a:lnB w="9525">
                      <a:solidFill>
                        <a:srgbClr val="A9BBB1"/>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6B55A56-58CC-42EC-9584-C1954E35B009}"/>
              </a:ext>
            </a:extLst>
          </p:cNvPr>
          <p:cNvSpPr>
            <a:spLocks xmlns:a="http://schemas.openxmlformats.org/drawingml/2006/main" noGrp="1"/>
          </p:cNvSpPr>
          <p:nvPr/>
        </p:nvSpPr>
        <p:spPr>
          <a:xfrm xmlns:a="http://schemas.openxmlformats.org/drawingml/2006/main">
            <a:off x="666750" y="5381625"/>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2B25"/>
                </a:solidFill>
                <a:latin typeface="Arial"/>
                <a:ea typeface="Arial"/>
                <a:cs typeface="Arial"/>
              </a:defRPr>
            </a:defPPr>
            <a:lvl1pPr>
              <a:defRPr sz="1875" b="0">
                <a:solidFill>
                  <a:srgbClr val="152B25"/>
                </a:solidFill>
                <a:latin typeface="Arial"/>
                <a:ea typeface="Arial"/>
                <a:cs typeface="Arial"/>
              </a:defRPr>
            </a:lvl1pPr>
            <a:lvl2pPr>
              <a:defRPr sz="1875" b="0">
                <a:solidFill>
                  <a:srgbClr val="152B25"/>
                </a:solidFill>
                <a:latin typeface="Arial"/>
                <a:ea typeface="Arial"/>
                <a:cs typeface="Arial"/>
              </a:defRPr>
            </a:lvl2pPr>
            <a:lvl3pPr>
              <a:defRPr sz="1875" b="0">
                <a:solidFill>
                  <a:srgbClr val="152B25"/>
                </a:solidFill>
                <a:latin typeface="Arial"/>
                <a:ea typeface="Arial"/>
                <a:cs typeface="Arial"/>
              </a:defRPr>
            </a:lvl3pPr>
            <a:lvl4pPr>
              <a:defRPr sz="1875" b="0">
                <a:solidFill>
                  <a:srgbClr val="152B25"/>
                </a:solidFill>
                <a:latin typeface="Arial"/>
                <a:ea typeface="Arial"/>
                <a:cs typeface="Arial"/>
              </a:defRPr>
            </a:lvl4pPr>
            <a:lvl5pPr>
              <a:defRPr sz="1875" b="0">
                <a:solidFill>
                  <a:srgbClr val="152B25"/>
                </a:solidFill>
                <a:latin typeface="Arial"/>
                <a:ea typeface="Arial"/>
                <a:cs typeface="Arial"/>
              </a:defRPr>
            </a:lvl5pPr>
            <a:lvl6pPr>
              <a:defRPr sz="1875" b="0">
                <a:solidFill>
                  <a:srgbClr val="152B25"/>
                </a:solidFill>
                <a:latin typeface="Arial"/>
                <a:ea typeface="Arial"/>
                <a:cs typeface="Arial"/>
              </a:defRPr>
            </a:lvl6pPr>
            <a:lvl7pPr>
              <a:defRPr sz="1875" b="0">
                <a:solidFill>
                  <a:srgbClr val="152B25"/>
                </a:solidFill>
                <a:latin typeface="Arial"/>
                <a:ea typeface="Arial"/>
                <a:cs typeface="Arial"/>
              </a:defRPr>
            </a:lvl7pPr>
            <a:lvl8pPr>
              <a:defRPr sz="1875" b="0">
                <a:solidFill>
                  <a:srgbClr val="152B25"/>
                </a:solidFill>
                <a:latin typeface="Arial"/>
                <a:ea typeface="Arial"/>
                <a:cs typeface="Arial"/>
              </a:defRPr>
            </a:lvl8pPr>
            <a:lvl9pPr>
              <a:defRPr sz="1875" b="0">
                <a:solidFill>
                  <a:srgbClr val="152B25"/>
                </a:solidFill>
                <a:latin typeface="Arial"/>
                <a:ea typeface="Arial"/>
                <a:cs typeface="Arial"/>
              </a:defRPr>
            </a:lvl9pPr>
          </a:lstStyle>
          <a:p xmlns:a="http://schemas.openxmlformats.org/drawingml/2006/main">
            <a:pPr>
              <a:defRPr sz="1875" b="0">
                <a:solidFill>
                  <a:srgbClr val="152B25"/>
                </a:solidFill>
                <a:latin typeface="Arial"/>
                <a:ea typeface="Arial"/>
                <a:cs typeface="Arial"/>
              </a:defRPr>
            </a:pPr>
            <a:r>
              <a:rPr sz="1875" b="0">
                <a:solidFill>
                  <a:srgbClr val="152B25"/>
                </a:solidFill>
                <a:latin typeface="Arial"/>
                <a:ea typeface="Arial"/>
                <a:cs typeface="Arial"/>
              </a:rPr>
              <a:t>Normal, insufficient, invalid, boundary and counterexample cases test different behaviors. Empty and invalid cases assess feedback. They do not receive invented numeric error scores.</a:t>
            </a:r>
          </a:p>
        </p:txBody>
      </p:sp>
    </p:spTree>
    <p:extLst>
      <p:ext uri="{BB962C8B-B14F-4D97-AF65-F5344CB8AC3E}">
        <p14:creationId xmlns:p14="http://schemas.microsoft.com/office/powerpoint/2010/main" val="1903842899"/>
      </p:ext>
    </p:extLst>
  </p:cSld>
  <p:transition spd="med">
    <p:fade/>
  </p:transition>
</p:sld>
</file>

<file path=ppt/slides/slide17.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F0092C-42CF-4FC8-87C0-BED65F6EE7D9}"/>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Om speaking: Frontend and integration</a:t>
            </a:r>
          </a:p>
        </p:txBody>
      </p:sp>
      <p:sp>
        <p:nvSpPr>
          <p:cNvPr id="2" name="">
            <a:extLst xmlns:a="http://schemas.openxmlformats.org/drawingml/2006/main">
              <a:ext uri="{FF2B5EF4-FFF2-40B4-BE49-F238E27FC236}">
                <a16:creationId xmlns:a16="http://schemas.microsoft.com/office/drawing/2014/main" id="{56D3EB67-23F9-408A-8685-2D9E4B1C1476}"/>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Evaluation result and limitation</a:t>
            </a:r>
          </a:p>
        </p:txBody>
      </p:sp>
      <p:sp>
        <p:nvSpPr>
          <p:cNvPr id="3" name="">
            <a:extLst xmlns:a="http://schemas.openxmlformats.org/drawingml/2006/main">
              <a:ext uri="{FF2B5EF4-FFF2-40B4-BE49-F238E27FC236}">
                <a16:creationId xmlns:a16="http://schemas.microsoft.com/office/drawing/2014/main" id="{AC437317-1F18-4C95-A480-187D2269A9B1}"/>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4933E172-7B60-4018-B758-45AFAE43E5D4}"/>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C61EC5FE-612F-4D98-A05E-4229F568ECF9}"/>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For the normal case, an earlier history of 450, 600 and 750 cents produces a 600-cent estimate. Against a later fictional reference of 650 cents, its absolute error is fifty cents. The last-price baseline predicts 750 cents and has an error of one hundred cents.</a:t>
            </a:r>
          </a:p>
        </p:txBody>
      </p:sp>
      <p:sp>
        <p:nvSpPr>
          <p:cNvPr id="6" name="">
            <a:extLst xmlns:a="http://schemas.openxmlformats.org/drawingml/2006/main">
              <a:ext uri="{FF2B5EF4-FFF2-40B4-BE49-F238E27FC236}">
                <a16:creationId xmlns:a16="http://schemas.microsoft.com/office/drawing/2014/main" id="{6113ECE9-721E-4AA9-813D-4042D30AA401}"/>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counterexample exposes the weakness of a mean. Inputs of 500, 2000 and 500 cents produce a 1000-cent estimate, although the reference is 500. Across the three valid numeric comparisons, the helper's mean absolute error is 183.33 cents, while the baseline's is 33.67 cents.</a:t>
            </a:r>
          </a:p>
        </p:txBody>
      </p:sp>
      <p:sp>
        <p:nvSpPr>
          <p:cNvPr id="7" name="">
            <a:extLst xmlns:a="http://schemas.openxmlformats.org/drawingml/2006/main">
              <a:ext uri="{FF2B5EF4-FFF2-40B4-BE49-F238E27FC236}">
                <a16:creationId xmlns:a16="http://schemas.microsoft.com/office/drawing/2014/main" id="{4B29AD0A-D086-4334-AB4F-18570462994E}"/>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baseline wins on this tiny designed set. We retain the recipe's transparent mean and disclose its outlier sensitivity. A future median comparison needs new cases before any improvement claim.</a:t>
            </a:r>
          </a:p>
        </p:txBody>
      </p:sp>
    </p:spTree>
    <p:extLst>
      <p:ext uri="{BB962C8B-B14F-4D97-AF65-F5344CB8AC3E}">
        <p14:creationId xmlns:p14="http://schemas.microsoft.com/office/powerpoint/2010/main" val="115998517"/>
      </p:ext>
    </p:extLst>
  </p:cSld>
  <p:transition spd="med">
    <p:fade/>
  </p:transition>
</p:sld>
</file>

<file path=ppt/slides/slide18.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399E2A-8DFD-454A-8736-F5DA0BDE29CB}"/>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Om speaking: Frontend and integration</a:t>
            </a:r>
          </a:p>
        </p:txBody>
      </p:sp>
      <p:sp>
        <p:nvSpPr>
          <p:cNvPr id="2" name="">
            <a:extLst xmlns:a="http://schemas.openxmlformats.org/drawingml/2006/main">
              <a:ext uri="{FF2B5EF4-FFF2-40B4-BE49-F238E27FC236}">
                <a16:creationId xmlns:a16="http://schemas.microsoft.com/office/drawing/2014/main" id="{9148DB75-000D-4F8D-ABE0-F81554C20B0C}"/>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Testing techniques and actual evidence</a:t>
            </a:r>
          </a:p>
        </p:txBody>
      </p:sp>
      <p:sp>
        <p:nvSpPr>
          <p:cNvPr id="3" name="">
            <a:extLst xmlns:a="http://schemas.openxmlformats.org/drawingml/2006/main">
              <a:ext uri="{FF2B5EF4-FFF2-40B4-BE49-F238E27FC236}">
                <a16:creationId xmlns:a16="http://schemas.microsoft.com/office/drawing/2014/main" id="{747E357B-A013-4EAA-9F9D-8BF3B12F3FB9}"/>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5531E1E0-60FB-454C-A0BD-90A05AFB3E9E}"/>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3357B91C-7096-4467-B868-C362A4563962}"/>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Our final analyzer run reported no issues, and the logic and widget suite passed seventeen checks. Pure-function tests cover money rules and helper cases. Widget tests use an injected fake data boundary to examine navigation, invalid inputs, a failed save and the helper's explanation and dismissal.</a:t>
            </a:r>
          </a:p>
        </p:txBody>
      </p:sp>
      <p:sp>
        <p:nvSpPr>
          <p:cNvPr id="6" name="">
            <a:extLst xmlns:a="http://schemas.openxmlformats.org/drawingml/2006/main">
              <a:ext uri="{FF2B5EF4-FFF2-40B4-BE49-F238E27FC236}">
                <a16:creationId xmlns:a16="http://schemas.microsoft.com/office/drawing/2014/main" id="{BC17231F-A645-4E1B-9F7F-FB6F08A03DC5}"/>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Android integration checks use the real SQLite plugin. Three checks passed on each of two emulator profiles, covering CRUD, constraints, repeated-save behavior, migration and reopening saved data. Release installation and offline restart checks also showed retained records and preferences through the running interface.</a:t>
            </a:r>
          </a:p>
        </p:txBody>
      </p:sp>
      <p:sp>
        <p:nvSpPr>
          <p:cNvPr id="7" name="">
            <a:extLst xmlns:a="http://schemas.openxmlformats.org/drawingml/2006/main">
              <a:ext uri="{FF2B5EF4-FFF2-40B4-BE49-F238E27FC236}">
                <a16:creationId xmlns:a16="http://schemas.microsoft.com/office/drawing/2014/main" id="{76798991-1FB3-41CC-90D8-BFF7BC09FB8A}"/>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emulators have different display settings but share one Android API image. Physical-device testing and independent peer revision remain incomplete. Genuine logs identify the checks we actually performed.</a:t>
            </a:r>
          </a:p>
        </p:txBody>
      </p:sp>
    </p:spTree>
    <p:extLst>
      <p:ext uri="{BB962C8B-B14F-4D97-AF65-F5344CB8AC3E}">
        <p14:creationId xmlns:p14="http://schemas.microsoft.com/office/powerpoint/2010/main" val="1916671242"/>
      </p:ext>
    </p:extLst>
  </p:cSld>
  <p:transition spd="med">
    <p:fade/>
  </p:transition>
</p:sld>
</file>

<file path=ppt/slides/slide19.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9D823B-A4A4-4775-9CAE-C523A3E22501}"/>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Om speaking: Frontend and integration</a:t>
            </a:r>
          </a:p>
        </p:txBody>
      </p:sp>
      <p:sp>
        <p:nvSpPr>
          <p:cNvPr id="2" name="">
            <a:extLst xmlns:a="http://schemas.openxmlformats.org/drawingml/2006/main">
              <a:ext uri="{FF2B5EF4-FFF2-40B4-BE49-F238E27FC236}">
                <a16:creationId xmlns:a16="http://schemas.microsoft.com/office/drawing/2014/main" id="{586FDB0C-1EDA-4A66-B7D4-A973FD2A5C8F}"/>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Integration, contribution and workflow</a:t>
            </a:r>
          </a:p>
        </p:txBody>
      </p:sp>
      <p:sp>
        <p:nvSpPr>
          <p:cNvPr id="3" name="">
            <a:extLst xmlns:a="http://schemas.openxmlformats.org/drawingml/2006/main">
              <a:ext uri="{FF2B5EF4-FFF2-40B4-BE49-F238E27FC236}">
                <a16:creationId xmlns:a16="http://schemas.microsoft.com/office/drawing/2014/main" id="{1DDDC9BE-2BBB-45BB-9C0B-43FFECEEBEE3}"/>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FD5250A2-ADDE-4FFE-9DF0-D77488B79694}"/>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6721E8ED-A5C1-497C-8F21-BD8F267E0D3B}"/>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main integration task was connecting A.J.'s database and History foundation to the frontend and the child purchase model. We adapted History actions to use PurchaseLog IDs, connected it to AppStore and checked that filters, totals and corrections reflected current saved records.</a:t>
            </a:r>
          </a:p>
        </p:txBody>
      </p:sp>
      <p:sp>
        <p:nvSpPr>
          <p:cNvPr id="6" name="">
            <a:extLst xmlns:a="http://schemas.openxmlformats.org/drawingml/2006/main">
              <a:ext uri="{FF2B5EF4-FFF2-40B4-BE49-F238E27FC236}">
                <a16:creationId xmlns:a16="http://schemas.microsoft.com/office/drawing/2014/main" id="{7B7D67CE-EB9D-403B-A658-0ABB7B4A0F8D}"/>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We preserved A.J.'s branch history and added History regression checks before merging. This creates a contribution trail and separates his original foundation from my frontend and integration focus.</a:t>
            </a:r>
          </a:p>
        </p:txBody>
      </p:sp>
      <p:sp>
        <p:nvSpPr>
          <p:cNvPr id="7" name="">
            <a:extLst xmlns:a="http://schemas.openxmlformats.org/drawingml/2006/main">
              <a:ext uri="{FF2B5EF4-FFF2-40B4-BE49-F238E27FC236}">
                <a16:creationId xmlns:a16="http://schemas.microsoft.com/office/drawing/2014/main" id="{7BCE32D8-8E39-4AB2-ACF0-79F2907ADAD8}"/>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dated ClickUp snapshots and steady target of twenty meaningful commits per person remain gaps in our evidence. The preserved branch history, integration and actual test logs are available for review. In a future project, we would collect board evidence throughout development.</a:t>
            </a:r>
          </a:p>
        </p:txBody>
      </p:sp>
    </p:spTree>
    <p:extLst>
      <p:ext uri="{BB962C8B-B14F-4D97-AF65-F5344CB8AC3E}">
        <p14:creationId xmlns:p14="http://schemas.microsoft.com/office/powerpoint/2010/main" val="1611726632"/>
      </p:ext>
    </p:extLst>
  </p:cSld>
  <p:transition spd="med">
    <p:fade/>
  </p:transition>
</p:sld>
</file>

<file path=ppt/slides/slide20.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0E873B-BE12-497C-8F51-3A4CCB075F60}"/>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Om speaking: Frontend and integration</a:t>
            </a:r>
          </a:p>
        </p:txBody>
      </p:sp>
      <p:sp>
        <p:nvSpPr>
          <p:cNvPr id="2" name="">
            <a:extLst xmlns:a="http://schemas.openxmlformats.org/drawingml/2006/main">
              <a:ext uri="{FF2B5EF4-FFF2-40B4-BE49-F238E27FC236}">
                <a16:creationId xmlns:a16="http://schemas.microsoft.com/office/drawing/2014/main" id="{7502C671-E080-459F-9E7B-99C8E01596A0}"/>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Future work</a:t>
            </a:r>
          </a:p>
        </p:txBody>
      </p:sp>
      <p:sp>
        <p:nvSpPr>
          <p:cNvPr id="3" name="">
            <a:extLst xmlns:a="http://schemas.openxmlformats.org/drawingml/2006/main">
              <a:ext uri="{FF2B5EF4-FFF2-40B4-BE49-F238E27FC236}">
                <a16:creationId xmlns:a16="http://schemas.microsoft.com/office/drawing/2014/main" id="{E8615FD8-F2AD-4706-8CF2-3BCE6CD4C6FC}"/>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217F91DC-EFCC-4A83-9EFA-9E80520520C8}"/>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2D11A4A3-231F-46B0-BE64-7BA411EAE704}"/>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Our first improvement would be a more robust cost comparison. We would test a median against the current mean and last-price baseline on new chronological cases. That would help us decide whether a change handles unusual purchases more usefully without hiding how the suggestion works.</a:t>
            </a:r>
          </a:p>
        </p:txBody>
      </p:sp>
      <p:sp>
        <p:nvSpPr>
          <p:cNvPr id="6" name="">
            <a:extLst xmlns:a="http://schemas.openxmlformats.org/drawingml/2006/main">
              <a:ext uri="{FF2B5EF4-FFF2-40B4-BE49-F238E27FC236}">
                <a16:creationId xmlns:a16="http://schemas.microsoft.com/office/drawing/2014/main" id="{D07F554A-CB82-4E78-B4F8-7EAEC05E48BD}"/>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We would also test on physical devices and more Android versions and arrange independent peer tasks. Those observations could reveal navigation problems, unclear messages or accessibility issues that our current emulator checks do not cover. We would record the feedback and verify any resulting revision.</a:t>
            </a:r>
          </a:p>
        </p:txBody>
      </p:sp>
      <p:sp>
        <p:nvSpPr>
          <p:cNvPr id="7" name="">
            <a:extLst xmlns:a="http://schemas.openxmlformats.org/drawingml/2006/main">
              <a:ext uri="{FF2B5EF4-FFF2-40B4-BE49-F238E27FC236}">
                <a16:creationId xmlns:a16="http://schemas.microsoft.com/office/drawing/2014/main" id="{6B27D2A7-0363-4A4D-9ECC-97A45ECED64B}"/>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Weekly summaries and a local CSV export could make personal spending easier to review while preserving offline use. These are proposed improvements beyond the current release.</a:t>
            </a:r>
          </a:p>
        </p:txBody>
      </p:sp>
    </p:spTree>
    <p:extLst>
      <p:ext uri="{BB962C8B-B14F-4D97-AF65-F5344CB8AC3E}">
        <p14:creationId xmlns:p14="http://schemas.microsoft.com/office/powerpoint/2010/main" val="594272098"/>
      </p:ext>
    </p:extLst>
  </p:cSld>
  <p:transition spd="med">
    <p:fade/>
  </p:transition>
</p:sld>
</file>

<file path=ppt/slides/slide21.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6DD6EE-09D6-431D-A28B-91AB8F172EF4}"/>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Om speaking: Frontend and integration</a:t>
            </a:r>
          </a:p>
        </p:txBody>
      </p:sp>
      <p:sp>
        <p:nvSpPr>
          <p:cNvPr id="2" name="">
            <a:extLst xmlns:a="http://schemas.openxmlformats.org/drawingml/2006/main">
              <a:ext uri="{FF2B5EF4-FFF2-40B4-BE49-F238E27FC236}">
                <a16:creationId xmlns:a16="http://schemas.microsoft.com/office/drawing/2014/main" id="{26968581-DFD4-40F9-A70E-F5955276115E}"/>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GitHub repository and release</a:t>
            </a:r>
          </a:p>
        </p:txBody>
      </p:sp>
      <p:sp>
        <p:nvSpPr>
          <p:cNvPr id="3" name="">
            <a:extLst xmlns:a="http://schemas.openxmlformats.org/drawingml/2006/main">
              <a:ext uri="{FF2B5EF4-FFF2-40B4-BE49-F238E27FC236}">
                <a16:creationId xmlns:a16="http://schemas.microsoft.com/office/drawing/2014/main" id="{3439D40D-AD2A-44A4-AF6C-01DBB8E9E404}"/>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65D7C193-017D-45DF-96C9-711167DB054A}"/>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93EDDDDC-D851-4D5D-870F-39B145CF9055}"/>
              </a:ext>
            </a:extLst>
          </p:cNvPr>
          <p:cNvSpPr>
            <a:spLocks xmlns:a="http://schemas.openxmlformats.org/drawingml/2006/main" noGrp="1"/>
          </p:cNvSpPr>
          <p:nvPr/>
        </p:nvSpPr>
        <p:spPr>
          <a:xfrm xmlns:a="http://schemas.openxmlformats.org/drawingml/2006/main">
            <a:off x="666750" y="15811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6452"/>
                </a:solidFill>
                <a:latin typeface="Arial"/>
                <a:ea typeface="Arial"/>
                <a:cs typeface="Arial"/>
              </a:defRPr>
            </a:defPPr>
            <a:lvl1pPr>
              <a:defRPr sz="1800" b="1">
                <a:solidFill>
                  <a:srgbClr val="176452"/>
                </a:solidFill>
                <a:latin typeface="Arial"/>
                <a:ea typeface="Arial"/>
                <a:cs typeface="Arial"/>
              </a:defRPr>
            </a:lvl1pPr>
            <a:lvl2pPr>
              <a:defRPr sz="1800" b="1">
                <a:solidFill>
                  <a:srgbClr val="176452"/>
                </a:solidFill>
                <a:latin typeface="Arial"/>
                <a:ea typeface="Arial"/>
                <a:cs typeface="Arial"/>
              </a:defRPr>
            </a:lvl2pPr>
            <a:lvl3pPr>
              <a:defRPr sz="1800" b="1">
                <a:solidFill>
                  <a:srgbClr val="176452"/>
                </a:solidFill>
                <a:latin typeface="Arial"/>
                <a:ea typeface="Arial"/>
                <a:cs typeface="Arial"/>
              </a:defRPr>
            </a:lvl3pPr>
            <a:lvl4pPr>
              <a:defRPr sz="1800" b="1">
                <a:solidFill>
                  <a:srgbClr val="176452"/>
                </a:solidFill>
                <a:latin typeface="Arial"/>
                <a:ea typeface="Arial"/>
                <a:cs typeface="Arial"/>
              </a:defRPr>
            </a:lvl4pPr>
            <a:lvl5pPr>
              <a:defRPr sz="1800" b="1">
                <a:solidFill>
                  <a:srgbClr val="176452"/>
                </a:solidFill>
                <a:latin typeface="Arial"/>
                <a:ea typeface="Arial"/>
                <a:cs typeface="Arial"/>
              </a:defRPr>
            </a:lvl5pPr>
            <a:lvl6pPr>
              <a:defRPr sz="1800" b="1">
                <a:solidFill>
                  <a:srgbClr val="176452"/>
                </a:solidFill>
                <a:latin typeface="Arial"/>
                <a:ea typeface="Arial"/>
                <a:cs typeface="Arial"/>
              </a:defRPr>
            </a:lvl6pPr>
            <a:lvl7pPr>
              <a:defRPr sz="1800" b="1">
                <a:solidFill>
                  <a:srgbClr val="176452"/>
                </a:solidFill>
                <a:latin typeface="Arial"/>
                <a:ea typeface="Arial"/>
                <a:cs typeface="Arial"/>
              </a:defRPr>
            </a:lvl7pPr>
            <a:lvl8pPr>
              <a:defRPr sz="1800" b="1">
                <a:solidFill>
                  <a:srgbClr val="176452"/>
                </a:solidFill>
                <a:latin typeface="Arial"/>
                <a:ea typeface="Arial"/>
                <a:cs typeface="Arial"/>
              </a:defRPr>
            </a:lvl8pPr>
            <a:lvl9pPr>
              <a:defRPr sz="1800" b="1">
                <a:solidFill>
                  <a:srgbClr val="176452"/>
                </a:solidFill>
                <a:latin typeface="Arial"/>
                <a:ea typeface="Arial"/>
                <a:cs typeface="Arial"/>
              </a:defRPr>
            </a:lvl9pPr>
          </a:lstStyle>
          <a:p xmlns:a="http://schemas.openxmlformats.org/drawingml/2006/main">
            <a:pPr>
              <a:defRPr sz="1800" b="1">
                <a:solidFill>
                  <a:srgbClr val="176452"/>
                </a:solidFill>
                <a:latin typeface="Arial"/>
                <a:ea typeface="Arial"/>
                <a:cs typeface="Arial"/>
              </a:defRPr>
            </a:pPr>
            <a:r>
              <a:rPr sz="1800" b="1">
                <a:solidFill>
                  <a:srgbClr val="176452"/>
                </a:solidFill>
                <a:latin typeface="Arial"/>
                <a:ea typeface="Arial"/>
                <a:cs typeface="Arial"/>
                <a:hlinkClick xmlns:r="http://schemas.openxmlformats.org/officeDocument/2006/relationships" r:id="R5adbcbf81e904139"/>
              </a:rPr>
              <a:t>https://github.com/Omswaroopreddyudumula/ajxom-budget-bites</a:t>
            </a:r>
          </a:p>
        </p:txBody>
      </p:sp>
      <p:sp>
        <p:nvSpPr>
          <p:cNvPr id="6" name="">
            <a:extLst xmlns:a="http://schemas.openxmlformats.org/drawingml/2006/main">
              <a:ext uri="{FF2B5EF4-FFF2-40B4-BE49-F238E27FC236}">
                <a16:creationId xmlns:a16="http://schemas.microsoft.com/office/drawing/2014/main" id="{A31A285A-32A0-4F6C-A092-1C5B05378DD2}"/>
              </a:ext>
            </a:extLst>
          </p:cNvPr>
          <p:cNvSpPr>
            <a:spLocks xmlns:a="http://schemas.openxmlformats.org/drawingml/2006/main" noGrp="1"/>
          </p:cNvSpPr>
          <p:nvPr/>
        </p:nvSpPr>
        <p:spPr>
          <a:xfrm xmlns:a="http://schemas.openxmlformats.org/drawingml/2006/main">
            <a:off x="666750" y="2238375"/>
            <a:ext cx="10858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Our public GitHub repository contains the source and the evidence behind the application. The lib folder holds the screens, AppStore, SQLite boundary and domain rules. The test and integration_test folders contain checks at different levels, while docs and evidence explain the architecture and record actual results.</a:t>
            </a:r>
          </a:p>
        </p:txBody>
      </p:sp>
      <p:sp>
        <p:nvSpPr>
          <p:cNvPr id="7" name="">
            <a:extLst xmlns:a="http://schemas.openxmlformats.org/drawingml/2006/main">
              <a:ext uri="{FF2B5EF4-FFF2-40B4-BE49-F238E27FC236}">
                <a16:creationId xmlns:a16="http://schemas.microsoft.com/office/drawing/2014/main" id="{2ABCFB5C-8738-48B2-91C0-EA5E9AE07AE6}"/>
              </a:ext>
            </a:extLst>
          </p:cNvPr>
          <p:cNvSpPr>
            <a:spLocks xmlns:a="http://schemas.openxmlformats.org/drawingml/2006/main" noGrp="1"/>
          </p:cNvSpPr>
          <p:nvPr/>
        </p:nvSpPr>
        <p:spPr>
          <a:xfrm xmlns:a="http://schemas.openxmlformats.org/drawingml/2006/main">
            <a:off x="666750" y="3505200"/>
            <a:ext cx="10858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commit history preserves A.J.'s original contributions and the integration work. The release page provides the Android APK for direct installation. GitHub supports development and delivery, while the application itself reads its records from local device storage.</a:t>
            </a:r>
          </a:p>
        </p:txBody>
      </p:sp>
      <p:sp>
        <p:nvSpPr>
          <p:cNvPr id="8" name="">
            <a:extLst xmlns:a="http://schemas.openxmlformats.org/drawingml/2006/main">
              <a:ext uri="{FF2B5EF4-FFF2-40B4-BE49-F238E27FC236}">
                <a16:creationId xmlns:a16="http://schemas.microsoft.com/office/drawing/2014/main" id="{C765282A-B231-4600-8138-3D865528E6AD}"/>
              </a:ext>
            </a:extLst>
          </p:cNvPr>
          <p:cNvSpPr>
            <a:spLocks xmlns:a="http://schemas.openxmlformats.org/drawingml/2006/main" noGrp="1"/>
          </p:cNvSpPr>
          <p:nvPr/>
        </p:nvSpPr>
        <p:spPr>
          <a:xfrm xmlns:a="http://schemas.openxmlformats.org/drawingml/2006/main">
            <a:off x="666750" y="4772025"/>
            <a:ext cx="10858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README links setup instructions and project resources. The architecture and helper documents explain the decisions and evaluation, allowing reviewers to connect application behavior with the supporting evidence.</a:t>
            </a:r>
          </a:p>
        </p:txBody>
      </p:sp>
    </p:spTree>
    <p:extLst>
      <p:ext uri="{BB962C8B-B14F-4D97-AF65-F5344CB8AC3E}">
        <p14:creationId xmlns:p14="http://schemas.microsoft.com/office/powerpoint/2010/main" val="371652266"/>
      </p:ext>
    </p:extLst>
  </p:cSld>
  <p:transition spd="med">
    <p:fade/>
  </p:transition>
</p:sld>
</file>

<file path=ppt/slides/slide22.xml><?xml version="1.0" encoding="utf-8"?>
<p:sld xmlns:p="http://schemas.openxmlformats.org/presentationml/2006/main">
  <p:cSld>
    <p:bg>
      <p:bgPr>
        <a:solidFill xmlns:a="http://schemas.openxmlformats.org/drawingml/2006/main">
          <a:srgbClr val="F6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74D23F-FBDF-4B6F-8C79-7D3187AE58B9}"/>
              </a:ext>
            </a:extLst>
          </p:cNvPr>
          <p:cNvSpPr>
            <a:spLocks xmlns:a="http://schemas.openxmlformats.org/drawingml/2006/main" noGrp="1"/>
          </p:cNvSpPr>
          <p:nvPr/>
        </p:nvSpPr>
        <p:spPr>
          <a:xfrm xmlns:a="http://schemas.openxmlformats.org/drawingml/2006/main">
            <a:off x="666750" y="238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6452"/>
                </a:solidFill>
                <a:latin typeface="Arial"/>
                <a:ea typeface="Arial"/>
                <a:cs typeface="Arial"/>
              </a:defRPr>
            </a:defPPr>
            <a:lvl1pPr>
              <a:defRPr sz="1500" b="1">
                <a:solidFill>
                  <a:srgbClr val="176452"/>
                </a:solidFill>
                <a:latin typeface="Arial"/>
                <a:ea typeface="Arial"/>
                <a:cs typeface="Arial"/>
              </a:defRPr>
            </a:lvl1pPr>
            <a:lvl2pPr>
              <a:defRPr sz="1500" b="1">
                <a:solidFill>
                  <a:srgbClr val="176452"/>
                </a:solidFill>
                <a:latin typeface="Arial"/>
                <a:ea typeface="Arial"/>
                <a:cs typeface="Arial"/>
              </a:defRPr>
            </a:lvl2pPr>
            <a:lvl3pPr>
              <a:defRPr sz="1500" b="1">
                <a:solidFill>
                  <a:srgbClr val="176452"/>
                </a:solidFill>
                <a:latin typeface="Arial"/>
                <a:ea typeface="Arial"/>
                <a:cs typeface="Arial"/>
              </a:defRPr>
            </a:lvl3pPr>
            <a:lvl4pPr>
              <a:defRPr sz="1500" b="1">
                <a:solidFill>
                  <a:srgbClr val="176452"/>
                </a:solidFill>
                <a:latin typeface="Arial"/>
                <a:ea typeface="Arial"/>
                <a:cs typeface="Arial"/>
              </a:defRPr>
            </a:lvl4pPr>
            <a:lvl5pPr>
              <a:defRPr sz="1500" b="1">
                <a:solidFill>
                  <a:srgbClr val="176452"/>
                </a:solidFill>
                <a:latin typeface="Arial"/>
                <a:ea typeface="Arial"/>
                <a:cs typeface="Arial"/>
              </a:defRPr>
            </a:lvl5pPr>
            <a:lvl6pPr>
              <a:defRPr sz="1500" b="1">
                <a:solidFill>
                  <a:srgbClr val="176452"/>
                </a:solidFill>
                <a:latin typeface="Arial"/>
                <a:ea typeface="Arial"/>
                <a:cs typeface="Arial"/>
              </a:defRPr>
            </a:lvl6pPr>
            <a:lvl7pPr>
              <a:defRPr sz="1500" b="1">
                <a:solidFill>
                  <a:srgbClr val="176452"/>
                </a:solidFill>
                <a:latin typeface="Arial"/>
                <a:ea typeface="Arial"/>
                <a:cs typeface="Arial"/>
              </a:defRPr>
            </a:lvl7pPr>
            <a:lvl8pPr>
              <a:defRPr sz="1500" b="1">
                <a:solidFill>
                  <a:srgbClr val="176452"/>
                </a:solidFill>
                <a:latin typeface="Arial"/>
                <a:ea typeface="Arial"/>
                <a:cs typeface="Arial"/>
              </a:defRPr>
            </a:lvl8pPr>
            <a:lvl9pPr>
              <a:defRPr sz="1500" b="1">
                <a:solidFill>
                  <a:srgbClr val="176452"/>
                </a:solidFill>
                <a:latin typeface="Arial"/>
                <a:ea typeface="Arial"/>
                <a:cs typeface="Arial"/>
              </a:defRPr>
            </a:lvl9pPr>
          </a:lstStyle>
          <a:p xmlns:a="http://schemas.openxmlformats.org/drawingml/2006/main">
            <a:pPr>
              <a:defRPr sz="1500" b="1">
                <a:solidFill>
                  <a:srgbClr val="176452"/>
                </a:solidFill>
                <a:latin typeface="Arial"/>
                <a:ea typeface="Arial"/>
                <a:cs typeface="Arial"/>
              </a:defRPr>
            </a:pPr>
            <a:r>
              <a:rPr sz="1500" b="1">
                <a:solidFill>
                  <a:srgbClr val="176452"/>
                </a:solidFill>
                <a:latin typeface="Arial"/>
                <a:ea typeface="Arial"/>
                <a:cs typeface="Arial"/>
              </a:rPr>
              <a:t>Om speaking: Demo handoff</a:t>
            </a:r>
          </a:p>
        </p:txBody>
      </p:sp>
      <p:sp>
        <p:nvSpPr>
          <p:cNvPr id="2" name="">
            <a:extLst xmlns:a="http://schemas.openxmlformats.org/drawingml/2006/main">
              <a:ext uri="{FF2B5EF4-FFF2-40B4-BE49-F238E27FC236}">
                <a16:creationId xmlns:a16="http://schemas.microsoft.com/office/drawing/2014/main" id="{FE97EA3F-6B8B-4685-9510-886C3E86EAF5}"/>
              </a:ext>
            </a:extLst>
          </p:cNvPr>
          <p:cNvSpPr>
            <a:spLocks xmlns:a="http://schemas.openxmlformats.org/drawingml/2006/main" noGrp="1"/>
          </p:cNvSpPr>
          <p:nvPr/>
        </p:nvSpPr>
        <p:spPr>
          <a:xfrm xmlns:a="http://schemas.openxmlformats.org/drawingml/2006/main">
            <a:off x="609600" y="666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52B25"/>
                </a:solidFill>
                <a:latin typeface="Arial"/>
                <a:ea typeface="Arial"/>
                <a:cs typeface="Arial"/>
              </a:defRPr>
            </a:defPPr>
            <a:lvl1pPr>
              <a:defRPr sz="3150" b="1">
                <a:solidFill>
                  <a:srgbClr val="152B25"/>
                </a:solidFill>
                <a:latin typeface="Arial"/>
                <a:ea typeface="Arial"/>
                <a:cs typeface="Arial"/>
              </a:defRPr>
            </a:lvl1pPr>
            <a:lvl2pPr>
              <a:defRPr sz="3150" b="1">
                <a:solidFill>
                  <a:srgbClr val="152B25"/>
                </a:solidFill>
                <a:latin typeface="Arial"/>
                <a:ea typeface="Arial"/>
                <a:cs typeface="Arial"/>
              </a:defRPr>
            </a:lvl2pPr>
            <a:lvl3pPr>
              <a:defRPr sz="3150" b="1">
                <a:solidFill>
                  <a:srgbClr val="152B25"/>
                </a:solidFill>
                <a:latin typeface="Arial"/>
                <a:ea typeface="Arial"/>
                <a:cs typeface="Arial"/>
              </a:defRPr>
            </a:lvl3pPr>
            <a:lvl4pPr>
              <a:defRPr sz="3150" b="1">
                <a:solidFill>
                  <a:srgbClr val="152B25"/>
                </a:solidFill>
                <a:latin typeface="Arial"/>
                <a:ea typeface="Arial"/>
                <a:cs typeface="Arial"/>
              </a:defRPr>
            </a:lvl4pPr>
            <a:lvl5pPr>
              <a:defRPr sz="3150" b="1">
                <a:solidFill>
                  <a:srgbClr val="152B25"/>
                </a:solidFill>
                <a:latin typeface="Arial"/>
                <a:ea typeface="Arial"/>
                <a:cs typeface="Arial"/>
              </a:defRPr>
            </a:lvl5pPr>
            <a:lvl6pPr>
              <a:defRPr sz="3150" b="1">
                <a:solidFill>
                  <a:srgbClr val="152B25"/>
                </a:solidFill>
                <a:latin typeface="Arial"/>
                <a:ea typeface="Arial"/>
                <a:cs typeface="Arial"/>
              </a:defRPr>
            </a:lvl6pPr>
            <a:lvl7pPr>
              <a:defRPr sz="3150" b="1">
                <a:solidFill>
                  <a:srgbClr val="152B25"/>
                </a:solidFill>
                <a:latin typeface="Arial"/>
                <a:ea typeface="Arial"/>
                <a:cs typeface="Arial"/>
              </a:defRPr>
            </a:lvl7pPr>
            <a:lvl8pPr>
              <a:defRPr sz="3150" b="1">
                <a:solidFill>
                  <a:srgbClr val="152B25"/>
                </a:solidFill>
                <a:latin typeface="Arial"/>
                <a:ea typeface="Arial"/>
                <a:cs typeface="Arial"/>
              </a:defRPr>
            </a:lvl8pPr>
            <a:lvl9pPr>
              <a:defRPr sz="3150" b="1">
                <a:solidFill>
                  <a:srgbClr val="152B25"/>
                </a:solidFill>
                <a:latin typeface="Arial"/>
                <a:ea typeface="Arial"/>
                <a:cs typeface="Arial"/>
              </a:defRPr>
            </a:lvl9pPr>
          </a:lstStyle>
          <a:p xmlns:a="http://schemas.openxmlformats.org/drawingml/2006/main">
            <a:pPr>
              <a:defRPr sz="3150" b="1">
                <a:solidFill>
                  <a:srgbClr val="152B25"/>
                </a:solidFill>
                <a:latin typeface="Arial"/>
                <a:ea typeface="Arial"/>
                <a:cs typeface="Arial"/>
              </a:defRPr>
            </a:pPr>
            <a:r>
              <a:rPr sz="3150" b="1">
                <a:solidFill>
                  <a:srgbClr val="152B25"/>
                </a:solidFill>
                <a:latin typeface="Arial"/>
                <a:ea typeface="Arial"/>
                <a:cs typeface="Arial"/>
              </a:rPr>
              <a:t>Application demo with A.J.</a:t>
            </a:r>
          </a:p>
        </p:txBody>
      </p:sp>
      <p:sp>
        <p:nvSpPr>
          <p:cNvPr id="3" name="">
            <a:extLst xmlns:a="http://schemas.openxmlformats.org/drawingml/2006/main">
              <a:ext uri="{FF2B5EF4-FFF2-40B4-BE49-F238E27FC236}">
                <a16:creationId xmlns:a16="http://schemas.microsoft.com/office/drawing/2014/main" id="{76E89A6B-CEB9-4D8D-9448-9D3C976657C3}"/>
              </a:ext>
            </a:extLst>
          </p:cNvPr>
          <p:cNvSpPr>
            <a:spLocks xmlns:a="http://schemas.openxmlformats.org/drawingml/2006/main" noGrp="1"/>
          </p:cNvSpPr>
          <p:nvPr/>
        </p:nvSpPr>
        <p:spPr>
          <a:xfrm xmlns:a="http://schemas.openxmlformats.org/drawingml/2006/main">
            <a:off x="609600" y="6343650"/>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Budget Bites   /   AjxOm</a:t>
            </a:r>
          </a:p>
        </p:txBody>
      </p:sp>
      <p:sp>
        <p:nvSpPr>
          <p:cNvPr id="4" name="">
            <a:extLst xmlns:a="http://schemas.openxmlformats.org/drawingml/2006/main">
              <a:ext uri="{FF2B5EF4-FFF2-40B4-BE49-F238E27FC236}">
                <a16:creationId xmlns:a16="http://schemas.microsoft.com/office/drawing/2014/main" id="{AC695B11-FA7B-481E-86C9-7AF1116AA898}"/>
              </a:ext>
            </a:extLst>
          </p:cNvPr>
          <p:cNvSpPr>
            <a:spLocks xmlns:a="http://schemas.openxmlformats.org/drawingml/2006/main" noGrp="1"/>
          </p:cNvSpPr>
          <p:nvPr/>
        </p:nvSpPr>
        <p:spPr>
          <a:xfrm xmlns:a="http://schemas.openxmlformats.org/drawingml/2006/main">
            <a:off x="10953750" y="63436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B6259"/>
                </a:solidFill>
                <a:latin typeface="Arial"/>
                <a:ea typeface="Arial"/>
                <a:cs typeface="Arial"/>
              </a:defRPr>
            </a:defPPr>
            <a:lvl1pPr>
              <a:defRPr sz="1200" b="0">
                <a:solidFill>
                  <a:srgbClr val="4B6259"/>
                </a:solidFill>
                <a:latin typeface="Arial"/>
                <a:ea typeface="Arial"/>
                <a:cs typeface="Arial"/>
              </a:defRPr>
            </a:lvl1pPr>
            <a:lvl2pPr>
              <a:defRPr sz="1200" b="0">
                <a:solidFill>
                  <a:srgbClr val="4B6259"/>
                </a:solidFill>
                <a:latin typeface="Arial"/>
                <a:ea typeface="Arial"/>
                <a:cs typeface="Arial"/>
              </a:defRPr>
            </a:lvl2pPr>
            <a:lvl3pPr>
              <a:defRPr sz="1200" b="0">
                <a:solidFill>
                  <a:srgbClr val="4B6259"/>
                </a:solidFill>
                <a:latin typeface="Arial"/>
                <a:ea typeface="Arial"/>
                <a:cs typeface="Arial"/>
              </a:defRPr>
            </a:lvl3pPr>
            <a:lvl4pPr>
              <a:defRPr sz="1200" b="0">
                <a:solidFill>
                  <a:srgbClr val="4B6259"/>
                </a:solidFill>
                <a:latin typeface="Arial"/>
                <a:ea typeface="Arial"/>
                <a:cs typeface="Arial"/>
              </a:defRPr>
            </a:lvl4pPr>
            <a:lvl5pPr>
              <a:defRPr sz="1200" b="0">
                <a:solidFill>
                  <a:srgbClr val="4B6259"/>
                </a:solidFill>
                <a:latin typeface="Arial"/>
                <a:ea typeface="Arial"/>
                <a:cs typeface="Arial"/>
              </a:defRPr>
            </a:lvl5pPr>
            <a:lvl6pPr>
              <a:defRPr sz="1200" b="0">
                <a:solidFill>
                  <a:srgbClr val="4B6259"/>
                </a:solidFill>
                <a:latin typeface="Arial"/>
                <a:ea typeface="Arial"/>
                <a:cs typeface="Arial"/>
              </a:defRPr>
            </a:lvl6pPr>
            <a:lvl7pPr>
              <a:defRPr sz="1200" b="0">
                <a:solidFill>
                  <a:srgbClr val="4B6259"/>
                </a:solidFill>
                <a:latin typeface="Arial"/>
                <a:ea typeface="Arial"/>
                <a:cs typeface="Arial"/>
              </a:defRPr>
            </a:lvl7pPr>
            <a:lvl8pPr>
              <a:defRPr sz="1200" b="0">
                <a:solidFill>
                  <a:srgbClr val="4B6259"/>
                </a:solidFill>
                <a:latin typeface="Arial"/>
                <a:ea typeface="Arial"/>
                <a:cs typeface="Arial"/>
              </a:defRPr>
            </a:lvl8pPr>
            <a:lvl9pPr>
              <a:defRPr sz="1200" b="0">
                <a:solidFill>
                  <a:srgbClr val="4B6259"/>
                </a:solidFill>
                <a:latin typeface="Arial"/>
                <a:ea typeface="Arial"/>
                <a:cs typeface="Arial"/>
              </a:defRPr>
            </a:lvl9pPr>
          </a:lstStyle>
          <a:p xmlns:a="http://schemas.openxmlformats.org/drawingml/2006/main">
            <a:pPr>
              <a:defRPr sz="1200" b="0">
                <a:solidFill>
                  <a:srgbClr val="4B6259"/>
                </a:solidFill>
                <a:latin typeface="Arial"/>
                <a:ea typeface="Arial"/>
                <a:cs typeface="Arial"/>
              </a:defRPr>
            </a:pPr>
            <a:r>
              <a:rPr sz="1200" b="0">
                <a:solidFill>
                  <a:srgbClr val="4B6259"/>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AF2C6410-42BF-45B7-B512-C65E328E2300}"/>
              </a:ext>
            </a:extLst>
          </p:cNvPr>
          <p:cNvSpPr>
            <a:spLocks xmlns:a="http://schemas.openxmlformats.org/drawingml/2006/main" noGrp="1"/>
          </p:cNvSpPr>
          <p:nvPr/>
        </p:nvSpPr>
        <p:spPr>
          <a:xfrm xmlns:a="http://schemas.openxmlformats.org/drawingml/2006/main">
            <a:off x="666750" y="171450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That completes our explanation of the project, the backend foundation and the frontend integration. We will now switch from the slides to the running Android application. A.J. will narrate the demonstration, and I will assist with the on-screen actions when needed.</a:t>
            </a:r>
          </a:p>
        </p:txBody>
      </p:sp>
      <p:sp>
        <p:nvSpPr>
          <p:cNvPr id="6" name="">
            <a:extLst xmlns:a="http://schemas.openxmlformats.org/drawingml/2006/main">
              <a:ext uri="{FF2B5EF4-FFF2-40B4-BE49-F238E27FC236}">
                <a16:creationId xmlns:a16="http://schemas.microsoft.com/office/drawing/2014/main" id="{126E889F-D858-452A-8A0F-835F56564B6F}"/>
              </a:ext>
            </a:extLst>
          </p:cNvPr>
          <p:cNvSpPr>
            <a:spLocks xmlns:a="http://schemas.openxmlformats.org/drawingml/2006/main" noGrp="1"/>
          </p:cNvSpPr>
          <p:nvPr/>
        </p:nvSpPr>
        <p:spPr>
          <a:xfrm xmlns:a="http://schemas.openxmlformats.org/drawingml/2006/main">
            <a:off x="666750" y="3190875"/>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The demo follows a fictional meal through catalog entry, purchase and correction. It then shows Lunch Lens and verifies saved preferences and records after an offline restart.</a:t>
            </a:r>
          </a:p>
        </p:txBody>
      </p:sp>
      <p:sp>
        <p:nvSpPr>
          <p:cNvPr id="7" name="">
            <a:extLst xmlns:a="http://schemas.openxmlformats.org/drawingml/2006/main">
              <a:ext uri="{FF2B5EF4-FFF2-40B4-BE49-F238E27FC236}">
                <a16:creationId xmlns:a16="http://schemas.microsoft.com/office/drawing/2014/main" id="{1C9AADB8-A005-42F6-BC64-AB5CD8A85D0C}"/>
              </a:ext>
            </a:extLst>
          </p:cNvPr>
          <p:cNvSpPr>
            <a:spLocks xmlns:a="http://schemas.openxmlformats.org/drawingml/2006/main" noGrp="1"/>
          </p:cNvSpPr>
          <p:nvPr/>
        </p:nvSpPr>
        <p:spPr>
          <a:xfrm xmlns:a="http://schemas.openxmlformats.org/drawingml/2006/main">
            <a:off x="666750" y="46672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2B25"/>
                </a:solidFill>
                <a:latin typeface="Arial"/>
                <a:ea typeface="Arial"/>
                <a:cs typeface="Arial"/>
              </a:defRPr>
            </a:defPPr>
            <a:lvl1pPr>
              <a:defRPr sz="1950" b="0">
                <a:solidFill>
                  <a:srgbClr val="152B25"/>
                </a:solidFill>
                <a:latin typeface="Arial"/>
                <a:ea typeface="Arial"/>
                <a:cs typeface="Arial"/>
              </a:defRPr>
            </a:lvl1pPr>
            <a:lvl2pPr>
              <a:defRPr sz="1950" b="0">
                <a:solidFill>
                  <a:srgbClr val="152B25"/>
                </a:solidFill>
                <a:latin typeface="Arial"/>
                <a:ea typeface="Arial"/>
                <a:cs typeface="Arial"/>
              </a:defRPr>
            </a:lvl2pPr>
            <a:lvl3pPr>
              <a:defRPr sz="1950" b="0">
                <a:solidFill>
                  <a:srgbClr val="152B25"/>
                </a:solidFill>
                <a:latin typeface="Arial"/>
                <a:ea typeface="Arial"/>
                <a:cs typeface="Arial"/>
              </a:defRPr>
            </a:lvl3pPr>
            <a:lvl4pPr>
              <a:defRPr sz="1950" b="0">
                <a:solidFill>
                  <a:srgbClr val="152B25"/>
                </a:solidFill>
                <a:latin typeface="Arial"/>
                <a:ea typeface="Arial"/>
                <a:cs typeface="Arial"/>
              </a:defRPr>
            </a:lvl4pPr>
            <a:lvl5pPr>
              <a:defRPr sz="1950" b="0">
                <a:solidFill>
                  <a:srgbClr val="152B25"/>
                </a:solidFill>
                <a:latin typeface="Arial"/>
                <a:ea typeface="Arial"/>
                <a:cs typeface="Arial"/>
              </a:defRPr>
            </a:lvl5pPr>
            <a:lvl6pPr>
              <a:defRPr sz="1950" b="0">
                <a:solidFill>
                  <a:srgbClr val="152B25"/>
                </a:solidFill>
                <a:latin typeface="Arial"/>
                <a:ea typeface="Arial"/>
                <a:cs typeface="Arial"/>
              </a:defRPr>
            </a:lvl6pPr>
            <a:lvl7pPr>
              <a:defRPr sz="1950" b="0">
                <a:solidFill>
                  <a:srgbClr val="152B25"/>
                </a:solidFill>
                <a:latin typeface="Arial"/>
                <a:ea typeface="Arial"/>
                <a:cs typeface="Arial"/>
              </a:defRPr>
            </a:lvl7pPr>
            <a:lvl8pPr>
              <a:defRPr sz="1950" b="0">
                <a:solidFill>
                  <a:srgbClr val="152B25"/>
                </a:solidFill>
                <a:latin typeface="Arial"/>
                <a:ea typeface="Arial"/>
                <a:cs typeface="Arial"/>
              </a:defRPr>
            </a:lvl8pPr>
            <a:lvl9pPr>
              <a:defRPr sz="1950" b="0">
                <a:solidFill>
                  <a:srgbClr val="152B25"/>
                </a:solidFill>
                <a:latin typeface="Arial"/>
                <a:ea typeface="Arial"/>
                <a:cs typeface="Arial"/>
              </a:defRPr>
            </a:lvl9pPr>
          </a:lstStyle>
          <a:p xmlns:a="http://schemas.openxmlformats.org/drawingml/2006/main">
            <a:pPr>
              <a:defRPr sz="1950" b="0">
                <a:solidFill>
                  <a:srgbClr val="152B25"/>
                </a:solidFill>
                <a:latin typeface="Arial"/>
                <a:ea typeface="Arial"/>
                <a:cs typeface="Arial"/>
              </a:defRPr>
            </a:pPr>
            <a:r>
              <a:rPr sz="1950" b="0">
                <a:solidFill>
                  <a:srgbClr val="152B25"/>
                </a:solidFill>
                <a:latin typeface="Arial"/>
                <a:ea typeface="Arial"/>
                <a:cs typeface="Arial"/>
              </a:rPr>
              <a:t>Thank you for following our presentation. A.J. will now demonstrate Budget Bites, and we will take questions after the application walkthrough.</a:t>
            </a:r>
          </a:p>
        </p:txBody>
      </p:sp>
    </p:spTree>
    <p:extLst>
      <p:ext uri="{BB962C8B-B14F-4D97-AF65-F5344CB8AC3E}">
        <p14:creationId xmlns:p14="http://schemas.microsoft.com/office/powerpoint/2010/main" val="60963949"/>
      </p:ext>
    </p:extLst>
  </p:cSld>
  <p:transition spd="med">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2026-10-31T05:54:53.7140000Z</dcterms:created>
  <dcterms:modified xsi:type="dcterms:W3CDTF">2026-10-31T05:54:53.7140000Z</dcterms:modified>
</coreProperties>
</file>
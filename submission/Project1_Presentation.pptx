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6f17d8143442e9" /><Relationship Type="http://schemas.openxmlformats.org/officeDocument/2006/relationships/extended-properties" Target="/docProps/app.xml" Id="Ra285016313c14d86" /><Relationship Type="http://schemas.openxmlformats.org/officeDocument/2006/relationships/officeDocument" Target="/ppt/presentation.xml" Id="R2e83deaad2024127" /></Relationships>
</file>

<file path=ppt/presentation.xml><?xml version="1.0" encoding="utf-8"?>
<p:presentation xmlns:p="http://schemas.openxmlformats.org/presentationml/2006/main">
  <p:sldMasterIdLst>
    <p:sldMasterId xmlns:r="http://schemas.openxmlformats.org/officeDocument/2006/relationships" id="2147483648" r:id="R438e479fc7bf4cf6"/>
  </p:sldMasterIdLst>
  <p:notesMasterIdLst>
    <p:notesMasterId xmlns:r="http://schemas.openxmlformats.org/officeDocument/2006/relationships" r:id="R52cfd174c13049f7"/>
  </p:notesMasterIdLst>
  <p:sldIdLst>
    <p:sldId xmlns:r="http://schemas.openxmlformats.org/officeDocument/2006/relationships" id="256" r:id="R40ce531b3a0d4c9e"/>
    <p:sldId xmlns:r="http://schemas.openxmlformats.org/officeDocument/2006/relationships" id="257" r:id="R8f47a97d6db34ccb"/>
    <p:sldId xmlns:r="http://schemas.openxmlformats.org/officeDocument/2006/relationships" id="258" r:id="Ra089f5eb00a940d8"/>
    <p:sldId xmlns:r="http://schemas.openxmlformats.org/officeDocument/2006/relationships" id="259" r:id="Rcc05db4aeb034449"/>
    <p:sldId xmlns:r="http://schemas.openxmlformats.org/officeDocument/2006/relationships" id="260" r:id="Rbb379ce11032421b"/>
    <p:sldId xmlns:r="http://schemas.openxmlformats.org/officeDocument/2006/relationships" id="261" r:id="Rd22c98c46e1a405e"/>
    <p:sldId xmlns:r="http://schemas.openxmlformats.org/officeDocument/2006/relationships" id="262" r:id="Raadf550e0dc647bd"/>
    <p:sldId xmlns:r="http://schemas.openxmlformats.org/officeDocument/2006/relationships" id="263" r:id="R6f0899f68fb74cba"/>
    <p:sldId xmlns:r="http://schemas.openxmlformats.org/officeDocument/2006/relationships" id="264" r:id="Rc11d975dc14c4ef3"/>
    <p:sldId xmlns:r="http://schemas.openxmlformats.org/officeDocument/2006/relationships" id="265" r:id="Rcd80d5f4fdb843d4"/>
    <p:sldId xmlns:r="http://schemas.openxmlformats.org/officeDocument/2006/relationships" id="266" r:id="Rcd4ab1cf5a4a455b"/>
    <p:sldId xmlns:r="http://schemas.openxmlformats.org/officeDocument/2006/relationships" id="267" r:id="R219aafb666c640ee"/>
    <p:sldId xmlns:r="http://schemas.openxmlformats.org/officeDocument/2006/relationships" id="268" r:id="Rb0e6302d52e748bb"/>
    <p:sldId xmlns:r="http://schemas.openxmlformats.org/officeDocument/2006/relationships" id="269" r:id="R3e9b574ca8d84f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027334641644ae" /><Relationship Type="http://schemas.openxmlformats.org/officeDocument/2006/relationships/slideMaster" Target="/ppt/slideMasters/slideMaster1.xml" Id="R438e479fc7bf4cf6" /><Relationship Type="http://schemas.openxmlformats.org/officeDocument/2006/relationships/notesMaster" Target="/ppt/notesMasters/notesMaster1.xml" Id="R52cfd174c13049f7" /><Relationship Type="http://schemas.openxmlformats.org/officeDocument/2006/relationships/presProps" Target="/ppt/presProps.xml" Id="Rc98fb569998b4d83" /><Relationship Type="http://schemas.openxmlformats.org/officeDocument/2006/relationships/tableStyles" Target="/ppt/tableStyles.xml" Id="Rbf7b351d37994975" /><Relationship Type="http://schemas.openxmlformats.org/officeDocument/2006/relationships/slide" Target="/ppt/slides/slide1.xml" Id="R40ce531b3a0d4c9e" /><Relationship Type="http://schemas.openxmlformats.org/officeDocument/2006/relationships/slide" Target="/ppt/slides/slide2.xml" Id="R8f47a97d6db34ccb" /><Relationship Type="http://schemas.openxmlformats.org/officeDocument/2006/relationships/slide" Target="/ppt/slides/slide3.xml" Id="Ra089f5eb00a940d8" /><Relationship Type="http://schemas.openxmlformats.org/officeDocument/2006/relationships/slide" Target="/ppt/slides/slide4.xml" Id="Rcc05db4aeb034449" /><Relationship Type="http://schemas.openxmlformats.org/officeDocument/2006/relationships/slide" Target="/ppt/slides/slide5.xml" Id="Rbb379ce11032421b" /><Relationship Type="http://schemas.openxmlformats.org/officeDocument/2006/relationships/slide" Target="/ppt/slides/slide6.xml" Id="Rd22c98c46e1a405e" /><Relationship Type="http://schemas.openxmlformats.org/officeDocument/2006/relationships/slide" Target="/ppt/slides/slide7.xml" Id="Raadf550e0dc647bd" /><Relationship Type="http://schemas.openxmlformats.org/officeDocument/2006/relationships/slide" Target="/ppt/slides/slide8.xml" Id="R6f0899f68fb74cba" /><Relationship Type="http://schemas.openxmlformats.org/officeDocument/2006/relationships/slide" Target="/ppt/slides/slide9.xml" Id="Rc11d975dc14c4ef3" /><Relationship Type="http://schemas.openxmlformats.org/officeDocument/2006/relationships/slide" Target="/ppt/slides/slide10.xml" Id="Rcd80d5f4fdb843d4" /><Relationship Type="http://schemas.openxmlformats.org/officeDocument/2006/relationships/slide" Target="/ppt/slides/slide11.xml" Id="Rcd4ab1cf5a4a455b" /><Relationship Type="http://schemas.openxmlformats.org/officeDocument/2006/relationships/slide" Target="/ppt/slides/slide12.xml" Id="R219aafb666c640ee" /><Relationship Type="http://schemas.openxmlformats.org/officeDocument/2006/relationships/slide" Target="/ppt/slides/slide13.xml" Id="Rb0e6302d52e748bb" /><Relationship Type="http://schemas.openxmlformats.org/officeDocument/2006/relationships/slide" Target="/ppt/slides/slide14.xml" Id="R3e9b574ca8d84f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78e52cbb9d49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458cb0ac064102" /><Relationship Type="http://schemas.openxmlformats.org/officeDocument/2006/relationships/notesMaster" Target="/ppt/notesMasters/notesMaster1.xml" Id="R971a15113c4041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d93fd41dca4a05" /><Relationship Type="http://schemas.openxmlformats.org/officeDocument/2006/relationships/notesMaster" Target="/ppt/notesMasters/notesMaster1.xml" Id="R9ab60e9af0b640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169754fb0640b8" /><Relationship Type="http://schemas.openxmlformats.org/officeDocument/2006/relationships/notesMaster" Target="/ppt/notesMasters/notesMaster1.xml" Id="R6e608a76214247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b24f2c25804b7a" /><Relationship Type="http://schemas.openxmlformats.org/officeDocument/2006/relationships/notesMaster" Target="/ppt/notesMasters/notesMaster1.xml" Id="Raf1ae374779042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4c801640a904951" /><Relationship Type="http://schemas.openxmlformats.org/officeDocument/2006/relationships/notesMaster" Target="/ppt/notesMasters/notesMaster1.xml" Id="R91c7f26ac00b4f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1abd54fcaa4a3d" /><Relationship Type="http://schemas.openxmlformats.org/officeDocument/2006/relationships/notesMaster" Target="/ppt/notesMasters/notesMaster1.xml" Id="Rc57bcdd2fdb549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595e51ce224288" /><Relationship Type="http://schemas.openxmlformats.org/officeDocument/2006/relationships/notesMaster" Target="/ppt/notesMasters/notesMaster1.xml" Id="R85d61f0cefd64c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1f83bb42db471e" /><Relationship Type="http://schemas.openxmlformats.org/officeDocument/2006/relationships/notesMaster" Target="/ppt/notesMasters/notesMaster1.xml" Id="R7b7dda4e98bd4c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3cac9d7f47413d" /><Relationship Type="http://schemas.openxmlformats.org/officeDocument/2006/relationships/notesMaster" Target="/ppt/notesMasters/notesMaster1.xml" Id="R0fdde6570deb47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872dd074dc4040" /><Relationship Type="http://schemas.openxmlformats.org/officeDocument/2006/relationships/notesMaster" Target="/ppt/notesMasters/notesMaster1.xml" Id="R8d1913bac49f4c9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d659b7e5c5433a" /><Relationship Type="http://schemas.openxmlformats.org/officeDocument/2006/relationships/notesMaster" Target="/ppt/notesMasters/notesMaster1.xml" Id="R3ee2175d8f2f423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1bf7301812c4ed5" /><Relationship Type="http://schemas.openxmlformats.org/officeDocument/2006/relationships/notesMaster" Target="/ppt/notesMasters/notesMaster1.xml" Id="R6a713937c10c4f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4f22e1142ed4a78" /><Relationship Type="http://schemas.openxmlformats.org/officeDocument/2006/relationships/notesMaster" Target="/ppt/notesMasters/notesMaster1.xml" Id="Rea830a74b0db43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74b0c1c88d2426f" /><Relationship Type="http://schemas.openxmlformats.org/officeDocument/2006/relationships/notesMaster" Target="/ppt/notesMasters/notesMaster1.xml" Id="R9d5843eb2a164f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Both presenters introduce names and actual responsibilities. Om: frontend/integration/demo/documentation. A.J.: original Meal model/database and standalone History page, now integrated. State undergraduate pathway. Explain that this is a personal offline notebook. Do not claim real restaurant feeds or a submitted video. The user confirmed proposal approval; the report distinguishes this from a written approval attachment. Show the selected question IDs, with answers integrated through the same recording. Aim for a 23-minute team recording.</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1:00–2:00. Describe a student who keeps forgetting what a repeat lunch really cost. Input is a local meal description, venue note, estimated item prices, actual purchase amount/date/note and a budget preference. Outputs are a saved meal catalog, correctable receipt history, total spending and an explainable next-cost estimate. Prices are user-entered or labeled fictional. No ordering, payment or current venue-price verification is claimed. Introduce R1 ownership without assigning another person's work to yourself.</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2:00–3:00. Show the submitted hand-drawn wireframe or final wireframe in the course proposal, then switch to the running app. Explain catalog, meal editor, activity, history and settings. Favorites remains a Meal flag and a catalog filter. The integrated History retains A.J.'s Card/ListTile structure and uses actual child receipts. This is design iteration through code integration; no independent peer usability observation is claimed.</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3:00–4:30. I1 and I2. In VS Code show StatelessWidget MealCard and EmptyView: they render values/callbacks provided by the parent. Show StatefulWidget MealEditor/PurchaseEditor and their controllers, saving state and form validation. Then move the budget slider and explain immediate draft value versus persisted SharedPreferences value. Build renders current state; setState affects the local draft, while AppStore notifications reload shared persisted values. Show a malformed price and the inline error, then correct it. Only save intentionally.</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4:30–6:00. D1. Explain SQLite-generated integer IDs. Meal has a name, venue, cuisine, three integer-cent prices and a favorite flag. PurchaseLog has its own ID, mealId, actual cents, timestamp, note and unique save token. Demonstrate that changing a meal estimate does not rewrite old actual amounts. Parent delete is restricted while receipts exist. Settings belong in SharedPreferences rather than a third entity. In the live demo create/read/edit a meal and delete an unlinked meal after confirmation.</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6:00–8:00. D1 continued and T2 introduction. Open a meal, Start plan, enter actual price and save. Read the receipt in History, edit it, and show the changed aggregate. Use the controlled 450/600-cent fixture sequence: 1050 total, correcting 600 to 550 yields 1000, deleting 450 yields 550. Repeated pending or retried saves reuse a draft token and cannot add a second receipt for the same draft. Show Reset confirmation and explain that saved history stays intact. Demonstrate parent restriction and an invalid price. Do not delete unrelated real records during the recording.</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8:00–10:00. D2. Disable networking in the emulator, not the host computer. Save a labeled test receipt and a budget preference. Force-stop the app rather than hot reload, then relaunch and show the same values. Existing evidence includes this sequence on two emulator instances; reproduce it in the final video. Explain that SQLite stores relational records and SharedPreferences stores simple settings. GitHub, ClickUp and YouTube are planning/submission services, not app backends. Both emulator instances use API 37, so do not claim broad Android-version diversity.</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10:00–12:00. A1 and A2. Trace a button from Home/PurchaseEditor through AppStore to MealDatabase and SQLite. Domain money/helper functions have no widget dependency. Explain constructor injection and the fake used in widget tests. Show controller disposal and mounted checks after awaits. AppStore suppresses notifications after disposal. A database owner controls connection lifetime. Saved receipts persist, but an unfinished draft is transient. Explain why widget-owned SQL would make UI state and errors harder to test. The architecture is sized for undergraduate scope.</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12:00–13:00. T2. Show the actual addPurchase implementation in lib/data/meal_database.dart and the saving guard in PurchaseEditor. Explain that the pending flag prevents repeated UI submissions while a write is active. The database unique token protects retries if a committed response is lost. A new deliberate purchase receives a new token. Walk through an injected failed-write widget test and show that the input draft remains. The excerpt is intentionally short; show the complete transaction in VS Code.</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13:00–15:00. R4. Create or use three labeled earlier purchases of one meal with 450, 600 and 750 cents. The mean is 600, last-price baseline 750. Show inputs, date range, method label and Not now. The actual amount remains under user control. Show insufficient history on a different meal. Explain that the rule is a moving average, not a trained model. Pure function excludes other meals and future/reference rows, sorts ties by stable ID and rounds to cents. A budget warning alone is ordinary validation. The helper runs on-device, without a service or API key.</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15:00–16:30. R4 continued. Read the designed fictional fixture table. Empty/invalid cases assess feedback and are not scored numerically. Across three valid reference comparisons, mean absolute error is 183.33 cents for the helper and 33.67 for last price, n=3. The deliberate expensive outlier makes the mean worse. Explain the median alternative and why the initial recipe is retained with limits disclosed. These are development fixtures rather than held-out evidence or population accuracy. Do not claim the helper is more accurate.</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16:30–18:30. T1. Show final analyzer and test logs, not only a slide claim. The suite includes 17 unit/widget checks and three Android integration checks per emulator. Explain pure-logic tests, fake-database widget tests and actual sqflite integration tests. Show normal, empty, invalid, duplicate, FK, correction and migration cases. Mention the focused narrow/large-text History check. The initial fixture expected total needed adaptation to preserve other existing receipts, then was rerun. No physical device or independent peer usability observation is claimed. Record a peer revision only if genuinely completed later.</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18:30–21:00. R1 and R2. In GitHub show A.J.'s preserved data/History commits, the integration merge and actual tests. Om explains the frontend, state and integration code with assistance disclosed. Each person explains their actual authored contribution rather than repeating a team-wide claim. For ClickUp, show a genuine task ID/owner/acceptance criterion and link to commit/PR and test/review if available. Historical snapshots and daily metrics are missing; state that honestly. The integration PR is not proof of independent teammate review. Discuss the actual decision to isolate integration and add regression checks, without inventing cycle-time numbers or a blocker history.</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21:00–23:00. Both presenters summarize one concrete learning and a next change. Suggested next steps are median evaluation on new cases, broader device coverage and better evidence collection from project start. Include one issue each person actually understands and how the implementation prevents it. Verify the exact APK, readable report, signed statement, approved proposal, architecture, helper, Kanban PDF, source access and links. Upload the questions-only document before recording, publish the actual 20–25 minute video, verify YouTube access and submit individually. This deck is a rehearsal aid, not proof of recording, permission for late submission or a receipt. The published deadline was October 27. Confirm extension/late instructions.</a:t>
            </a:r>
          </a:p>
          <a:p xmlns:a="http://schemas.openxmlformats.org/drawingml/2006/main">
            <a:r>
              <a:t/>
            </a:r>
          </a:p>
          <a:p xmlns:a="http://schemas.openxmlformats.org/drawingml/2006/main">
            <a:r>
              <a:t>Sources: repository code and actual evidence logs; https://codd.cs.gsu.edu/~lhenry23/mad/Projects/Project1/ver2/assessment/curated-questions.html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5280e8ef2024fd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923b5f5a2845f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03d07dfc0c445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15e5b489d3b42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fe607a899a4a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b4358aadf4845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ca11eeca424e4e" /><Relationship Type="http://schemas.openxmlformats.org/officeDocument/2006/relationships/slideLayout" Target="/ppt/slideLayouts/slideLayout1.xml" Id="R1643be8ddcd74a40" /><Relationship Type="http://schemas.openxmlformats.org/officeDocument/2006/relationships/slideLayout" Target="/ppt/slideLayouts/slideLayout2.xml" Id="R84f4bfd4e72549a7" /><Relationship Type="http://schemas.openxmlformats.org/officeDocument/2006/relationships/slideLayout" Target="/ppt/slideLayouts/slideLayout3.xml" Id="R9fa2502105e64a09" /><Relationship Type="http://schemas.openxmlformats.org/officeDocument/2006/relationships/slideLayout" Target="/ppt/slideLayouts/slideLayout4.xml" Id="Re9f601254da44b93" /><Relationship Type="http://schemas.openxmlformats.org/officeDocument/2006/relationships/slideLayout" Target="/ppt/slideLayouts/slideLayout5.xml" Id="R92ed5dc230424462" /><Relationship Type="http://schemas.openxmlformats.org/officeDocument/2006/relationships/slideLayout" Target="/ppt/slideLayouts/slideLayout6.xml" Id="Ra8f4447289e64e1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43be8ddcd74a40"/>
    <p:sldLayoutId xmlns:r="http://schemas.openxmlformats.org/officeDocument/2006/relationships" id="2147483650" r:id="R84f4bfd4e72549a7"/>
    <p:sldLayoutId xmlns:r="http://schemas.openxmlformats.org/officeDocument/2006/relationships" id="2147483651" r:id="R9fa2502105e64a09"/>
    <p:sldLayoutId xmlns:r="http://schemas.openxmlformats.org/officeDocument/2006/relationships" id="2147483652" r:id="Re9f601254da44b93"/>
    <p:sldLayoutId xmlns:r="http://schemas.openxmlformats.org/officeDocument/2006/relationships" id="2147483653" r:id="R92ed5dc230424462"/>
    <p:sldLayoutId xmlns:r="http://schemas.openxmlformats.org/officeDocument/2006/relationships" id="2147483654" r:id="Ra8f4447289e64e1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f36b81176d544e4" /><Relationship Type="http://schemas.openxmlformats.org/officeDocument/2006/relationships/notesSlide" Target="/ppt/notesSlides/notesSlide1.xml" Id="Rd0955e9aff384e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9361867f75c4159" /><Relationship Type="http://schemas.openxmlformats.org/officeDocument/2006/relationships/notesSlide" Target="/ppt/notesSlides/notesSlide2.xml" Id="R800d2c521d3543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9338fb585584d54" /><Relationship Type="http://schemas.openxmlformats.org/officeDocument/2006/relationships/notesSlide" Target="/ppt/notesSlides/notesSlide3.xml" Id="R1da1a5b565e24e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b0d9b0cf7e4f4c" /><Relationship Type="http://schemas.openxmlformats.org/officeDocument/2006/relationships/notesSlide" Target="/ppt/notesSlides/notesSlide4.xml" Id="R1bd58358c20d46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b541c92357407c" /><Relationship Type="http://schemas.openxmlformats.org/officeDocument/2006/relationships/notesSlide" Target="/ppt/notesSlides/notesSlide5.xml" Id="Rc961cb43803e42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a3453b53c87433e" /><Relationship Type="http://schemas.openxmlformats.org/officeDocument/2006/relationships/notesSlide" Target="/ppt/notesSlides/notesSlide6.xml" Id="Rfc4e89e7b63b4e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630709e6b53466d" /><Relationship Type="http://schemas.openxmlformats.org/officeDocument/2006/relationships/notesSlide" Target="/ppt/notesSlides/notesSlide7.xml" Id="Re098a3c30ec34d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31f1d8bd4a4e8e" /><Relationship Type="http://schemas.openxmlformats.org/officeDocument/2006/relationships/notesSlide" Target="/ppt/notesSlides/notesSlide8.xml" Id="R98e5c870783e44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26fed781e1c47b1" /><Relationship Type="http://schemas.openxmlformats.org/officeDocument/2006/relationships/notesSlide" Target="/ppt/notesSlides/notesSlide9.xml" Id="R7001085394e347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b823873eca496c" /><Relationship Type="http://schemas.openxmlformats.org/officeDocument/2006/relationships/notesSlide" Target="/ppt/notesSlides/notesSlide10.xml" Id="Rcc0d0b89ca3740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d32b043364422" /><Relationship Type="http://schemas.openxmlformats.org/officeDocument/2006/relationships/notesSlide" Target="/ppt/notesSlides/notesSlide11.xml" Id="R112edb3244ed4b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c1e40b45a4fbb" /><Relationship Type="http://schemas.openxmlformats.org/officeDocument/2006/relationships/notesSlide" Target="/ppt/notesSlides/notesSlide12.xml" Id="R3378c06b1c33473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8c767d9948246c3" /><Relationship Type="http://schemas.openxmlformats.org/officeDocument/2006/relationships/notesSlide" Target="/ppt/notesSlides/notesSlide13.xml" Id="Rbec7256973c3469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20d6ea7dd944e28" /><Relationship Type="http://schemas.openxmlformats.org/officeDocument/2006/relationships/notesSlide" Target="/ppt/notesSlides/notesSlide14.xml" Id="R8cc87b1142fa4ad1" /></Relationships>
</file>

<file path=ppt/slides/slide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98E9D8-74C1-408B-A48B-0AF14A5EF4E1}"/>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Budget Bites</a:t>
            </a:r>
          </a:p>
        </p:txBody>
      </p:sp>
      <p:sp>
        <p:nvSpPr>
          <p:cNvPr id="2" name="">
            <a:extLst xmlns:a="http://schemas.openxmlformats.org/drawingml/2006/main">
              <a:ext uri="{FF2B5EF4-FFF2-40B4-BE49-F238E27FC236}">
                <a16:creationId xmlns:a16="http://schemas.microsoft.com/office/drawing/2014/main" id="{D40F3D21-25F6-4B53-8902-8D1DD5AD8B0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764B61AF-E2B9-4277-A5F1-6120E6124FB1}"/>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4CBBB810-455F-4444-8352-333BB7C755A3}"/>
              </a:ext>
            </a:extLst>
          </p:cNvPr>
          <p:cNvSpPr>
            <a:spLocks xmlns:a="http://schemas.openxmlformats.org/drawingml/2006/main" noGrp="1"/>
          </p:cNvSpPr>
          <p:nvPr/>
        </p:nvSpPr>
        <p:spPr>
          <a:xfrm xmlns:a="http://schemas.openxmlformats.org/drawingml/2006/main">
            <a:off x="66675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152B25"/>
                </a:solidFill>
                <a:latin typeface="Arial"/>
                <a:ea typeface="Arial"/>
                <a:cs typeface="Arial"/>
              </a:defRPr>
            </a:defPPr>
            <a:lvl1pPr>
              <a:defRPr sz="2850" b="0">
                <a:solidFill>
                  <a:srgbClr val="152B25"/>
                </a:solidFill>
                <a:latin typeface="Arial"/>
                <a:ea typeface="Arial"/>
                <a:cs typeface="Arial"/>
              </a:defRPr>
            </a:lvl1pPr>
            <a:lvl2pPr>
              <a:defRPr sz="2850" b="0">
                <a:solidFill>
                  <a:srgbClr val="152B25"/>
                </a:solidFill>
                <a:latin typeface="Arial"/>
                <a:ea typeface="Arial"/>
                <a:cs typeface="Arial"/>
              </a:defRPr>
            </a:lvl2pPr>
            <a:lvl3pPr>
              <a:defRPr sz="2850" b="0">
                <a:solidFill>
                  <a:srgbClr val="152B25"/>
                </a:solidFill>
                <a:latin typeface="Arial"/>
                <a:ea typeface="Arial"/>
                <a:cs typeface="Arial"/>
              </a:defRPr>
            </a:lvl3pPr>
            <a:lvl4pPr>
              <a:defRPr sz="2850" b="0">
                <a:solidFill>
                  <a:srgbClr val="152B25"/>
                </a:solidFill>
                <a:latin typeface="Arial"/>
                <a:ea typeface="Arial"/>
                <a:cs typeface="Arial"/>
              </a:defRPr>
            </a:lvl4pPr>
            <a:lvl5pPr>
              <a:defRPr sz="2850" b="0">
                <a:solidFill>
                  <a:srgbClr val="152B25"/>
                </a:solidFill>
                <a:latin typeface="Arial"/>
                <a:ea typeface="Arial"/>
                <a:cs typeface="Arial"/>
              </a:defRPr>
            </a:lvl5pPr>
            <a:lvl6pPr>
              <a:defRPr sz="2850" b="0">
                <a:solidFill>
                  <a:srgbClr val="152B25"/>
                </a:solidFill>
                <a:latin typeface="Arial"/>
                <a:ea typeface="Arial"/>
                <a:cs typeface="Arial"/>
              </a:defRPr>
            </a:lvl6pPr>
            <a:lvl7pPr>
              <a:defRPr sz="2850" b="0">
                <a:solidFill>
                  <a:srgbClr val="152B25"/>
                </a:solidFill>
                <a:latin typeface="Arial"/>
                <a:ea typeface="Arial"/>
                <a:cs typeface="Arial"/>
              </a:defRPr>
            </a:lvl7pPr>
            <a:lvl8pPr>
              <a:defRPr sz="2850" b="0">
                <a:solidFill>
                  <a:srgbClr val="152B25"/>
                </a:solidFill>
                <a:latin typeface="Arial"/>
                <a:ea typeface="Arial"/>
                <a:cs typeface="Arial"/>
              </a:defRPr>
            </a:lvl8pPr>
            <a:lvl9pPr>
              <a:defRPr sz="2850" b="0">
                <a:solidFill>
                  <a:srgbClr val="152B25"/>
                </a:solidFill>
                <a:latin typeface="Arial"/>
                <a:ea typeface="Arial"/>
                <a:cs typeface="Arial"/>
              </a:defRPr>
            </a:lvl9pPr>
          </a:lstStyle>
          <a:p xmlns:a="http://schemas.openxmlformats.org/drawingml/2006/main">
            <a:pPr>
              <a:defRPr sz="2850" b="0">
                <a:solidFill>
                  <a:srgbClr val="152B25"/>
                </a:solidFill>
                <a:latin typeface="Arial"/>
                <a:ea typeface="Arial"/>
                <a:cs typeface="Arial"/>
              </a:defRPr>
            </a:pPr>
            <a:r>
              <a:rPr sz="2850" b="0">
                <a:solidFill>
                  <a:srgbClr val="152B25"/>
                </a:solidFill>
                <a:latin typeface="Arial"/>
                <a:ea typeface="Arial"/>
                <a:cs typeface="Arial"/>
              </a:rPr>
              <a:t>An offline meal and purchase notebook</a:t>
            </a:r>
          </a:p>
        </p:txBody>
      </p:sp>
      <p:sp>
        <p:nvSpPr>
          <p:cNvPr id="5" name="">
            <a:extLst xmlns:a="http://schemas.openxmlformats.org/drawingml/2006/main">
              <a:ext uri="{FF2B5EF4-FFF2-40B4-BE49-F238E27FC236}">
                <a16:creationId xmlns:a16="http://schemas.microsoft.com/office/drawing/2014/main" id="{266D4A52-968C-4FE7-9A4C-35647C4E62E6}"/>
              </a:ext>
            </a:extLst>
          </p:cNvPr>
          <p:cNvSpPr>
            <a:spLocks xmlns:a="http://schemas.openxmlformats.org/drawingml/2006/main" noGrp="1"/>
          </p:cNvSpPr>
          <p:nvPr/>
        </p:nvSpPr>
        <p:spPr>
          <a:xfrm xmlns:a="http://schemas.openxmlformats.org/drawingml/2006/main">
            <a:off x="666750" y="328612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52B25"/>
                </a:solidFill>
                <a:latin typeface="Arial"/>
                <a:ea typeface="Arial"/>
                <a:cs typeface="Arial"/>
              </a:defRPr>
            </a:defPPr>
            <a:lvl1pPr>
              <a:defRPr sz="2250" b="0">
                <a:solidFill>
                  <a:srgbClr val="152B25"/>
                </a:solidFill>
                <a:latin typeface="Arial"/>
                <a:ea typeface="Arial"/>
                <a:cs typeface="Arial"/>
              </a:defRPr>
            </a:lvl1pPr>
            <a:lvl2pPr>
              <a:defRPr sz="2250" b="0">
                <a:solidFill>
                  <a:srgbClr val="152B25"/>
                </a:solidFill>
                <a:latin typeface="Arial"/>
                <a:ea typeface="Arial"/>
                <a:cs typeface="Arial"/>
              </a:defRPr>
            </a:lvl2pPr>
            <a:lvl3pPr>
              <a:defRPr sz="2250" b="0">
                <a:solidFill>
                  <a:srgbClr val="152B25"/>
                </a:solidFill>
                <a:latin typeface="Arial"/>
                <a:ea typeface="Arial"/>
                <a:cs typeface="Arial"/>
              </a:defRPr>
            </a:lvl3pPr>
            <a:lvl4pPr>
              <a:defRPr sz="2250" b="0">
                <a:solidFill>
                  <a:srgbClr val="152B25"/>
                </a:solidFill>
                <a:latin typeface="Arial"/>
                <a:ea typeface="Arial"/>
                <a:cs typeface="Arial"/>
              </a:defRPr>
            </a:lvl4pPr>
            <a:lvl5pPr>
              <a:defRPr sz="2250" b="0">
                <a:solidFill>
                  <a:srgbClr val="152B25"/>
                </a:solidFill>
                <a:latin typeface="Arial"/>
                <a:ea typeface="Arial"/>
                <a:cs typeface="Arial"/>
              </a:defRPr>
            </a:lvl5pPr>
            <a:lvl6pPr>
              <a:defRPr sz="2250" b="0">
                <a:solidFill>
                  <a:srgbClr val="152B25"/>
                </a:solidFill>
                <a:latin typeface="Arial"/>
                <a:ea typeface="Arial"/>
                <a:cs typeface="Arial"/>
              </a:defRPr>
            </a:lvl6pPr>
            <a:lvl7pPr>
              <a:defRPr sz="2250" b="0">
                <a:solidFill>
                  <a:srgbClr val="152B25"/>
                </a:solidFill>
                <a:latin typeface="Arial"/>
                <a:ea typeface="Arial"/>
                <a:cs typeface="Arial"/>
              </a:defRPr>
            </a:lvl7pPr>
            <a:lvl8pPr>
              <a:defRPr sz="2250" b="0">
                <a:solidFill>
                  <a:srgbClr val="152B25"/>
                </a:solidFill>
                <a:latin typeface="Arial"/>
                <a:ea typeface="Arial"/>
                <a:cs typeface="Arial"/>
              </a:defRPr>
            </a:lvl8pPr>
            <a:lvl9pPr>
              <a:defRPr sz="2250" b="0">
                <a:solidFill>
                  <a:srgbClr val="152B25"/>
                </a:solidFill>
                <a:latin typeface="Arial"/>
                <a:ea typeface="Arial"/>
                <a:cs typeface="Arial"/>
              </a:defRPr>
            </a:lvl9pPr>
          </a:lstStyle>
          <a:p xmlns:a="http://schemas.openxmlformats.org/drawingml/2006/main">
            <a:pPr>
              <a:defRPr sz="2250" b="0">
                <a:solidFill>
                  <a:srgbClr val="152B25"/>
                </a:solidFill>
                <a:latin typeface="Arial"/>
                <a:ea typeface="Arial"/>
                <a:cs typeface="Arial"/>
              </a:defRPr>
            </a:pPr>
            <a:r>
              <a:rPr sz="2250" b="0">
                <a:solidFill>
                  <a:srgbClr val="152B25"/>
                </a:solidFill>
                <a:latin typeface="Arial"/>
                <a:ea typeface="Arial"/>
                <a:cs typeface="Arial"/>
              </a:rPr>
              <a:t>Om Swaroop Reddy Udumula</a:t>
            </a:r>
          </a:p>
          <a:p xmlns:a="http://schemas.openxmlformats.org/drawingml/2006/main">
            <a:pPr>
              <a:defRPr sz="2250" b="0">
                <a:solidFill>
                  <a:srgbClr val="152B25"/>
                </a:solidFill>
                <a:latin typeface="Arial"/>
                <a:ea typeface="Arial"/>
                <a:cs typeface="Arial"/>
              </a:defRPr>
            </a:pPr>
            <a:r>
              <a:rPr sz="2250" b="0">
                <a:solidFill>
                  <a:srgbClr val="152B25"/>
                </a:solidFill>
                <a:latin typeface="Arial"/>
                <a:ea typeface="Arial"/>
                <a:cs typeface="Arial"/>
              </a:rPr>
              <a:t>Anton “A.J.” Orea</a:t>
            </a:r>
          </a:p>
        </p:txBody>
      </p:sp>
      <p:sp>
        <p:nvSpPr>
          <p:cNvPr id="6" name="">
            <a:extLst xmlns:a="http://schemas.openxmlformats.org/drawingml/2006/main">
              <a:ext uri="{FF2B5EF4-FFF2-40B4-BE49-F238E27FC236}">
                <a16:creationId xmlns:a16="http://schemas.microsoft.com/office/drawing/2014/main" id="{3243C30F-C6D1-4BA8-93D9-A56B19C328DE}"/>
              </a:ext>
            </a:extLst>
          </p:cNvPr>
          <p:cNvSpPr>
            <a:spLocks xmlns:a="http://schemas.openxmlformats.org/drawingml/2006/main" noGrp="1"/>
          </p:cNvSpPr>
          <p:nvPr/>
        </p:nvSpPr>
        <p:spPr>
          <a:xfrm xmlns:a="http://schemas.openxmlformats.org/drawingml/2006/main">
            <a:off x="666750" y="4905375"/>
            <a:ext cx="1000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defRPr sz="1725" b="0">
                <a:solidFill>
                  <a:srgbClr val="4B6259"/>
                </a:solidFill>
                <a:latin typeface="Arial"/>
                <a:ea typeface="Arial"/>
                <a:cs typeface="Arial"/>
              </a:defRPr>
            </a:lvl1pPr>
            <a:lvl2pPr>
              <a:defRPr sz="1725" b="0">
                <a:solidFill>
                  <a:srgbClr val="4B6259"/>
                </a:solidFill>
                <a:latin typeface="Arial"/>
                <a:ea typeface="Arial"/>
                <a:cs typeface="Arial"/>
              </a:defRPr>
            </a:lvl2pPr>
            <a:lvl3pPr>
              <a:defRPr sz="1725" b="0">
                <a:solidFill>
                  <a:srgbClr val="4B6259"/>
                </a:solidFill>
                <a:latin typeface="Arial"/>
                <a:ea typeface="Arial"/>
                <a:cs typeface="Arial"/>
              </a:defRPr>
            </a:lvl3pPr>
            <a:lvl4pPr>
              <a:defRPr sz="1725" b="0">
                <a:solidFill>
                  <a:srgbClr val="4B6259"/>
                </a:solidFill>
                <a:latin typeface="Arial"/>
                <a:ea typeface="Arial"/>
                <a:cs typeface="Arial"/>
              </a:defRPr>
            </a:lvl4pPr>
            <a:lvl5pPr>
              <a:defRPr sz="1725" b="0">
                <a:solidFill>
                  <a:srgbClr val="4B6259"/>
                </a:solidFill>
                <a:latin typeface="Arial"/>
                <a:ea typeface="Arial"/>
                <a:cs typeface="Arial"/>
              </a:defRPr>
            </a:lvl5pPr>
            <a:lvl6pPr>
              <a:defRPr sz="1725" b="0">
                <a:solidFill>
                  <a:srgbClr val="4B6259"/>
                </a:solidFill>
                <a:latin typeface="Arial"/>
                <a:ea typeface="Arial"/>
                <a:cs typeface="Arial"/>
              </a:defRPr>
            </a:lvl6pPr>
            <a:lvl7pPr>
              <a:defRPr sz="1725" b="0">
                <a:solidFill>
                  <a:srgbClr val="4B6259"/>
                </a:solidFill>
                <a:latin typeface="Arial"/>
                <a:ea typeface="Arial"/>
                <a:cs typeface="Arial"/>
              </a:defRPr>
            </a:lvl7pPr>
            <a:lvl8pPr>
              <a:defRPr sz="1725" b="0">
                <a:solidFill>
                  <a:srgbClr val="4B6259"/>
                </a:solidFill>
                <a:latin typeface="Arial"/>
                <a:ea typeface="Arial"/>
                <a:cs typeface="Arial"/>
              </a:defRPr>
            </a:lvl8pPr>
            <a:lvl9pPr>
              <a:defRPr sz="1725" b="0">
                <a:solidFill>
                  <a:srgbClr val="4B6259"/>
                </a:solidFill>
                <a:latin typeface="Arial"/>
                <a:ea typeface="Arial"/>
                <a:cs typeface="Arial"/>
              </a:defRPr>
            </a:lvl9pPr>
          </a:lstStyle>
          <a:p xmlns:a="http://schemas.openxmlformats.org/drawingml/2006/main">
            <a:pPr>
              <a:defRPr sz="1725" b="0">
                <a:solidFill>
                  <a:srgbClr val="4B6259"/>
                </a:solidFill>
                <a:latin typeface="Arial"/>
                <a:ea typeface="Arial"/>
                <a:cs typeface="Arial"/>
              </a:defRPr>
            </a:pPr>
            <a:r>
              <a:rPr sz="1725" b="0">
                <a:solidFill>
                  <a:srgbClr val="4B6259"/>
                </a:solidFill>
                <a:latin typeface="Arial"/>
                <a:ea typeface="Arial"/>
                <a:cs typeface="Arial"/>
              </a:rPr>
              <a:t>Undergraduate Project One</a:t>
            </a:r>
          </a:p>
          <a:p xmlns:a="http://schemas.openxmlformats.org/drawingml/2006/main">
            <a:pPr>
              <a:defRPr sz="1725" b="0">
                <a:solidFill>
                  <a:srgbClr val="4B6259"/>
                </a:solidFill>
                <a:latin typeface="Arial"/>
                <a:ea typeface="Arial"/>
                <a:cs typeface="Arial"/>
              </a:defRPr>
            </a:pPr>
            <a:r>
              <a:rPr sz="1725" b="0">
                <a:solidFill>
                  <a:srgbClr val="4B6259"/>
                </a:solidFill>
                <a:latin typeface="Arial"/>
                <a:ea typeface="Arial"/>
                <a:cs typeface="Arial"/>
              </a:rPr>
              <a:t>Integrated build prepared October 30, 2026</a:t>
            </a:r>
          </a:p>
        </p:txBody>
      </p:sp>
    </p:spTree>
    <p:extLst>
      <p:ext uri="{BB962C8B-B14F-4D97-AF65-F5344CB8AC3E}">
        <p14:creationId xmlns:p14="http://schemas.microsoft.com/office/powerpoint/2010/main" val="1201472857"/>
      </p:ext>
    </p:extLst>
  </p:cSld>
  <p:transition spd="med">
    <p:fade/>
  </p:transition>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7DDCE2-F57B-4752-A9D3-8093DB1F5C6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The student task</a:t>
            </a:r>
          </a:p>
        </p:txBody>
      </p:sp>
      <p:sp>
        <p:nvSpPr>
          <p:cNvPr id="2" name="">
            <a:extLst xmlns:a="http://schemas.openxmlformats.org/drawingml/2006/main">
              <a:ext uri="{FF2B5EF4-FFF2-40B4-BE49-F238E27FC236}">
                <a16:creationId xmlns:a16="http://schemas.microsoft.com/office/drawing/2014/main" id="{5937A37A-8189-4626-95EB-C0BD1D8C4A82}"/>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7B6379DC-F413-43F9-B062-85689A2C9E2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E0FACDD7-FABE-4D75-A885-69771E838685}"/>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Save meal estimates and venue notes on the device.</a:t>
            </a:r>
          </a:p>
        </p:txBody>
      </p:sp>
      <p:sp>
        <p:nvSpPr>
          <p:cNvPr id="5" name="">
            <a:extLst xmlns:a="http://schemas.openxmlformats.org/drawingml/2006/main">
              <a:ext uri="{FF2B5EF4-FFF2-40B4-BE49-F238E27FC236}">
                <a16:creationId xmlns:a16="http://schemas.microsoft.com/office/drawing/2014/main" id="{B675B131-6484-4007-BC25-55BFBA15F3FA}"/>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Record what lunch actually cost and correct mistakes.</a:t>
            </a:r>
          </a:p>
        </p:txBody>
      </p:sp>
      <p:sp>
        <p:nvSpPr>
          <p:cNvPr id="6" name="">
            <a:extLst xmlns:a="http://schemas.openxmlformats.org/drawingml/2006/main">
              <a:ext uri="{FF2B5EF4-FFF2-40B4-BE49-F238E27FC236}">
                <a16:creationId xmlns:a16="http://schemas.microsoft.com/office/drawing/2014/main" id="{E5AC5976-EEF9-4FF4-B36C-5F3BAB743B4B}"/>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Compare a possible next cost with a personal budget.</a:t>
            </a:r>
          </a:p>
        </p:txBody>
      </p:sp>
      <p:sp>
        <p:nvSpPr>
          <p:cNvPr id="7" name="">
            <a:extLst xmlns:a="http://schemas.openxmlformats.org/drawingml/2006/main">
              <a:ext uri="{FF2B5EF4-FFF2-40B4-BE49-F238E27FC236}">
                <a16:creationId xmlns:a16="http://schemas.microsoft.com/office/drawing/2014/main" id="{6E9B6EA2-953F-4B42-AC7D-B54260C9F431}"/>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Keep records and preferences available offline.</a:t>
            </a:r>
          </a:p>
        </p:txBody>
      </p:sp>
    </p:spTree>
    <p:extLst>
      <p:ext uri="{BB962C8B-B14F-4D97-AF65-F5344CB8AC3E}">
        <p14:creationId xmlns:p14="http://schemas.microsoft.com/office/powerpoint/2010/main" val="503989069"/>
      </p:ext>
    </p:extLst>
  </p:cSld>
  <p:transition spd="med">
    <p:fade/>
  </p:transition>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C740CB-7B60-4723-8C50-5666B89AEC3E}"/>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Five screen roles</a:t>
            </a:r>
          </a:p>
        </p:txBody>
      </p:sp>
      <p:sp>
        <p:nvSpPr>
          <p:cNvPr id="2" name="">
            <a:extLst xmlns:a="http://schemas.openxmlformats.org/drawingml/2006/main">
              <a:ext uri="{FF2B5EF4-FFF2-40B4-BE49-F238E27FC236}">
                <a16:creationId xmlns:a16="http://schemas.microsoft.com/office/drawing/2014/main" id="{6BF66E2A-C6EA-4195-98C5-871C382FEDB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DA7924B-4E8D-4DA9-8217-5B6CEE8AD18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8F593391-2C43-457C-A88E-556CC822B7FC}"/>
              </a:ext>
            </a:extLst>
          </p:cNvPr>
          <p:cNvSpPr>
            <a:spLocks xmlns:a="http://schemas.openxmlformats.org/drawingml/2006/main" noGrp="1"/>
          </p:cNvSpPr>
          <p:nvPr/>
        </p:nvSpPr>
        <p:spPr>
          <a:xfrm xmlns:a="http://schemas.openxmlformats.org/drawingml/2006/main">
            <a:off x="666750" y="152400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Home catalog: meals, search, cuisine and favorites</a:t>
            </a:r>
          </a:p>
        </p:txBody>
      </p:sp>
      <p:sp>
        <p:nvSpPr>
          <p:cNvPr id="5" name="">
            <a:extLst xmlns:a="http://schemas.openxmlformats.org/drawingml/2006/main">
              <a:ext uri="{FF2B5EF4-FFF2-40B4-BE49-F238E27FC236}">
                <a16:creationId xmlns:a16="http://schemas.microsoft.com/office/drawing/2014/main" id="{B3F9E506-C97E-46C5-B5B9-C0FF3B3708C2}"/>
              </a:ext>
            </a:extLst>
          </p:cNvPr>
          <p:cNvSpPr>
            <a:spLocks xmlns:a="http://schemas.openxmlformats.org/drawingml/2006/main" noGrp="1"/>
          </p:cNvSpPr>
          <p:nvPr/>
        </p:nvSpPr>
        <p:spPr>
          <a:xfrm xmlns:a="http://schemas.openxmlformats.org/drawingml/2006/main">
            <a:off x="666750" y="23526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Meal editor: names, items and estimated USD prices</a:t>
            </a:r>
          </a:p>
        </p:txBody>
      </p:sp>
      <p:sp>
        <p:nvSpPr>
          <p:cNvPr id="6" name="">
            <a:extLst xmlns:a="http://schemas.openxmlformats.org/drawingml/2006/main">
              <a:ext uri="{FF2B5EF4-FFF2-40B4-BE49-F238E27FC236}">
                <a16:creationId xmlns:a16="http://schemas.microsoft.com/office/drawing/2014/main" id="{6E129584-F3F7-4201-BC17-DBDC623907A0}"/>
              </a:ext>
            </a:extLst>
          </p:cNvPr>
          <p:cNvSpPr>
            <a:spLocks xmlns:a="http://schemas.openxmlformats.org/drawingml/2006/main" noGrp="1"/>
          </p:cNvSpPr>
          <p:nvPr/>
        </p:nvSpPr>
        <p:spPr>
          <a:xfrm xmlns:a="http://schemas.openxmlformats.org/drawingml/2006/main">
            <a:off x="666750" y="318135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Meal activity: start, enter actual cost, save or reset</a:t>
            </a:r>
          </a:p>
        </p:txBody>
      </p:sp>
      <p:sp>
        <p:nvSpPr>
          <p:cNvPr id="7" name="">
            <a:extLst xmlns:a="http://schemas.openxmlformats.org/drawingml/2006/main">
              <a:ext uri="{FF2B5EF4-FFF2-40B4-BE49-F238E27FC236}">
                <a16:creationId xmlns:a16="http://schemas.microsoft.com/office/drawing/2014/main" id="{FD66D7BD-FFB7-4DDF-A1FB-56E70BB37980}"/>
              </a:ext>
            </a:extLst>
          </p:cNvPr>
          <p:cNvSpPr>
            <a:spLocks xmlns:a="http://schemas.openxmlformats.org/drawingml/2006/main" noGrp="1"/>
          </p:cNvSpPr>
          <p:nvPr/>
        </p:nvSpPr>
        <p:spPr>
          <a:xfrm xmlns:a="http://schemas.openxmlformats.org/drawingml/2006/main">
            <a:off x="666750" y="401002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History: purchase receipts, corrections, filters and totals</a:t>
            </a:r>
          </a:p>
        </p:txBody>
      </p:sp>
      <p:sp>
        <p:nvSpPr>
          <p:cNvPr id="8" name="">
            <a:extLst xmlns:a="http://schemas.openxmlformats.org/drawingml/2006/main">
              <a:ext uri="{FF2B5EF4-FFF2-40B4-BE49-F238E27FC236}">
                <a16:creationId xmlns:a16="http://schemas.microsoft.com/office/drawing/2014/main" id="{32FF2E95-1E5F-49EA-8713-71EF86D2442D}"/>
              </a:ext>
            </a:extLst>
          </p:cNvPr>
          <p:cNvSpPr>
            <a:spLocks xmlns:a="http://schemas.openxmlformats.org/drawingml/2006/main" noGrp="1"/>
          </p:cNvSpPr>
          <p:nvPr/>
        </p:nvSpPr>
        <p:spPr>
          <a:xfrm xmlns:a="http://schemas.openxmlformats.org/drawingml/2006/main">
            <a:off x="666750" y="483870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Settings: budget slider and saved dark mode</a:t>
            </a:r>
          </a:p>
        </p:txBody>
      </p:sp>
    </p:spTree>
    <p:extLst>
      <p:ext uri="{BB962C8B-B14F-4D97-AF65-F5344CB8AC3E}">
        <p14:creationId xmlns:p14="http://schemas.microsoft.com/office/powerpoint/2010/main" val="1693026170"/>
      </p:ext>
    </p:extLst>
  </p:cSld>
  <p:transition spd="med">
    <p:fade/>
  </p:transition>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ED0A96-754E-46F3-839C-400EB67CFEA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Widgets and state ownership</a:t>
            </a:r>
          </a:p>
        </p:txBody>
      </p:sp>
      <p:sp>
        <p:nvSpPr>
          <p:cNvPr id="2" name="">
            <a:extLst xmlns:a="http://schemas.openxmlformats.org/drawingml/2006/main">
              <a:ext uri="{FF2B5EF4-FFF2-40B4-BE49-F238E27FC236}">
                <a16:creationId xmlns:a16="http://schemas.microsoft.com/office/drawing/2014/main" id="{DFA9D50E-A7B8-4FE8-AAA6-50DA8D9EA1C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574FFBF2-CF52-4FB5-A847-6765FB0603B5}"/>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E6C25F01-6FCD-4C15-941F-95C1839D17D3}"/>
              </a:ext>
            </a:extLst>
          </p:cNvPr>
          <p:cNvSpPr>
            <a:spLocks xmlns:a="http://schemas.openxmlformats.org/drawingml/2006/main" noGrp="1"/>
          </p:cNvSpPr>
          <p:nvPr/>
        </p:nvSpPr>
        <p:spPr>
          <a:xfrm xmlns:a="http://schemas.openxmlformats.org/drawingml/2006/main">
            <a:off x="666750" y="1809750"/>
            <a:ext cx="5048250" cy="295275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8A5147D8-9D12-4637-8B52-3E3B555738B0}"/>
              </a:ext>
            </a:extLst>
          </p:cNvPr>
          <p:cNvSpPr>
            <a:spLocks xmlns:a="http://schemas.openxmlformats.org/drawingml/2006/main" noGrp="1"/>
          </p:cNvSpPr>
          <p:nvPr/>
        </p:nvSpPr>
        <p:spPr>
          <a:xfrm xmlns:a="http://schemas.openxmlformats.org/drawingml/2006/main">
            <a:off x="857250" y="1981200"/>
            <a:ext cx="4667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Stateless display</a:t>
            </a:r>
          </a:p>
        </p:txBody>
      </p:sp>
      <p:sp>
        <p:nvSpPr>
          <p:cNvPr id="6" name="">
            <a:extLst xmlns:a="http://schemas.openxmlformats.org/drawingml/2006/main">
              <a:ext uri="{FF2B5EF4-FFF2-40B4-BE49-F238E27FC236}">
                <a16:creationId xmlns:a16="http://schemas.microsoft.com/office/drawing/2014/main" id="{1AF85D8A-5760-4F20-8D45-22192E7DA07F}"/>
              </a:ext>
            </a:extLst>
          </p:cNvPr>
          <p:cNvSpPr>
            <a:spLocks xmlns:a="http://schemas.openxmlformats.org/drawingml/2006/main" noGrp="1"/>
          </p:cNvSpPr>
          <p:nvPr/>
        </p:nvSpPr>
        <p:spPr>
          <a:xfrm xmlns:a="http://schemas.openxmlformats.org/drawingml/2006/main">
            <a:off x="857250" y="2524125"/>
            <a:ext cx="4667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MealCard</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EmptyView</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Render passed values and callbacks</a:t>
            </a:r>
          </a:p>
        </p:txBody>
      </p:sp>
      <p:sp>
        <p:nvSpPr>
          <p:cNvPr id="7" name="">
            <a:extLst xmlns:a="http://schemas.openxmlformats.org/drawingml/2006/main">
              <a:ext uri="{FF2B5EF4-FFF2-40B4-BE49-F238E27FC236}">
                <a16:creationId xmlns:a16="http://schemas.microsoft.com/office/drawing/2014/main" id="{7BE6CD2D-C54D-4FA6-9B13-9275AB687ABF}"/>
              </a:ext>
            </a:extLst>
          </p:cNvPr>
          <p:cNvSpPr>
            <a:spLocks xmlns:a="http://schemas.openxmlformats.org/drawingml/2006/main" noGrp="1"/>
          </p:cNvSpPr>
          <p:nvPr/>
        </p:nvSpPr>
        <p:spPr>
          <a:xfrm xmlns:a="http://schemas.openxmlformats.org/drawingml/2006/main">
            <a:off x="6191250" y="1809750"/>
            <a:ext cx="5334000" cy="295275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56336E70-D415-494E-A7E8-FC5DDEF3DB7A}"/>
              </a:ext>
            </a:extLst>
          </p:cNvPr>
          <p:cNvSpPr>
            <a:spLocks xmlns:a="http://schemas.openxmlformats.org/drawingml/2006/main" noGrp="1"/>
          </p:cNvSpPr>
          <p:nvPr/>
        </p:nvSpPr>
        <p:spPr>
          <a:xfrm xmlns:a="http://schemas.openxmlformats.org/drawingml/2006/main">
            <a:off x="6381750" y="198120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Stateful interaction</a:t>
            </a:r>
          </a:p>
        </p:txBody>
      </p:sp>
      <p:sp>
        <p:nvSpPr>
          <p:cNvPr id="9" name="">
            <a:extLst xmlns:a="http://schemas.openxmlformats.org/drawingml/2006/main">
              <a:ext uri="{FF2B5EF4-FFF2-40B4-BE49-F238E27FC236}">
                <a16:creationId xmlns:a16="http://schemas.microsoft.com/office/drawing/2014/main" id="{03E6FBD6-EAF5-46CA-89BD-998981861720}"/>
              </a:ext>
            </a:extLst>
          </p:cNvPr>
          <p:cNvSpPr>
            <a:spLocks xmlns:a="http://schemas.openxmlformats.org/drawingml/2006/main" noGrp="1"/>
          </p:cNvSpPr>
          <p:nvPr/>
        </p:nvSpPr>
        <p:spPr>
          <a:xfrm xmlns:a="http://schemas.openxmlformats.org/drawingml/2006/main">
            <a:off x="6381750" y="2524125"/>
            <a:ext cx="4953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MealEditor and PurchaseEditor</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MealHistory filters</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Form drafts and pending-save state</a:t>
            </a:r>
          </a:p>
        </p:txBody>
      </p:sp>
      <p:sp>
        <p:nvSpPr>
          <p:cNvPr id="10" name="">
            <a:extLst xmlns:a="http://schemas.openxmlformats.org/drawingml/2006/main">
              <a:ext uri="{FF2B5EF4-FFF2-40B4-BE49-F238E27FC236}">
                <a16:creationId xmlns:a16="http://schemas.microsoft.com/office/drawing/2014/main" id="{47CCC592-1383-4802-BB1D-D6D6C6AC93ED}"/>
              </a:ext>
            </a:extLst>
          </p:cNvPr>
          <p:cNvSpPr>
            <a:spLocks xmlns:a="http://schemas.openxmlformats.org/drawingml/2006/main" noGrp="1"/>
          </p:cNvSpPr>
          <p:nvPr/>
        </p:nvSpPr>
        <p:spPr>
          <a:xfrm xmlns:a="http://schemas.openxmlformats.org/drawingml/2006/main">
            <a:off x="666750" y="5238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AppStore shares saved records and preferences across screens.</a:t>
            </a:r>
          </a:p>
        </p:txBody>
      </p:sp>
    </p:spTree>
    <p:extLst>
      <p:ext uri="{BB962C8B-B14F-4D97-AF65-F5344CB8AC3E}">
        <p14:creationId xmlns:p14="http://schemas.microsoft.com/office/powerpoint/2010/main" val="206889965"/>
      </p:ext>
    </p:extLst>
  </p:cSld>
  <p:transition spd="med">
    <p:fade/>
  </p:transition>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EFBE5C8-44F0-490E-9970-73110D8CADEE}"/>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Two related SQLite entities</a:t>
            </a:r>
          </a:p>
        </p:txBody>
      </p:sp>
      <p:sp>
        <p:nvSpPr>
          <p:cNvPr id="2" name="">
            <a:extLst xmlns:a="http://schemas.openxmlformats.org/drawingml/2006/main">
              <a:ext uri="{FF2B5EF4-FFF2-40B4-BE49-F238E27FC236}">
                <a16:creationId xmlns:a16="http://schemas.microsoft.com/office/drawing/2014/main" id="{F8A79A2D-DB21-4B6A-A6C3-F256721ACF4E}"/>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7C77B52-0CB3-439E-AA00-880CA0A292ED}"/>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9B8E8734-2ED1-412D-9783-7CD1DE1CB6AE}"/>
              </a:ext>
            </a:extLst>
          </p:cNvPr>
          <p:cNvSpPr>
            <a:spLocks xmlns:a="http://schemas.openxmlformats.org/drawingml/2006/main" noGrp="1"/>
          </p:cNvSpPr>
          <p:nvPr/>
        </p:nvSpPr>
        <p:spPr>
          <a:xfrm xmlns:a="http://schemas.openxmlformats.org/drawingml/2006/main">
            <a:off x="666750" y="1666875"/>
            <a:ext cx="4953000" cy="366712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21261725-C8C2-4182-A0B3-E4311F1CB9D1}"/>
              </a:ext>
            </a:extLst>
          </p:cNvPr>
          <p:cNvSpPr>
            <a:spLocks xmlns:a="http://schemas.openxmlformats.org/drawingml/2006/main" noGrp="1"/>
          </p:cNvSpPr>
          <p:nvPr/>
        </p:nvSpPr>
        <p:spPr>
          <a:xfrm xmlns:a="http://schemas.openxmlformats.org/drawingml/2006/main">
            <a:off x="857250" y="1838325"/>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Meal</a:t>
            </a:r>
          </a:p>
        </p:txBody>
      </p:sp>
      <p:sp>
        <p:nvSpPr>
          <p:cNvPr id="6" name="">
            <a:extLst xmlns:a="http://schemas.openxmlformats.org/drawingml/2006/main">
              <a:ext uri="{FF2B5EF4-FFF2-40B4-BE49-F238E27FC236}">
                <a16:creationId xmlns:a16="http://schemas.microsoft.com/office/drawing/2014/main" id="{FE37F14C-F1C5-46A6-A063-245AE3042DFA}"/>
              </a:ext>
            </a:extLst>
          </p:cNvPr>
          <p:cNvSpPr>
            <a:spLocks xmlns:a="http://schemas.openxmlformats.org/drawingml/2006/main" noGrp="1"/>
          </p:cNvSpPr>
          <p:nvPr/>
        </p:nvSpPr>
        <p:spPr>
          <a:xfrm xmlns:a="http://schemas.openxmlformats.org/drawingml/2006/main">
            <a:off x="857250" y="2381250"/>
            <a:ext cx="45720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id</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name and venue note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cuisine and item labels</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integer-cent item estimates</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favorite flag</a:t>
            </a:r>
          </a:p>
        </p:txBody>
      </p:sp>
      <p:sp>
        <p:nvSpPr>
          <p:cNvPr id="7" name="">
            <a:extLst xmlns:a="http://schemas.openxmlformats.org/drawingml/2006/main">
              <a:ext uri="{FF2B5EF4-FFF2-40B4-BE49-F238E27FC236}">
                <a16:creationId xmlns:a16="http://schemas.microsoft.com/office/drawing/2014/main" id="{0FE056DF-D5DF-45AB-ADFD-78C31FB058E1}"/>
              </a:ext>
            </a:extLst>
          </p:cNvPr>
          <p:cNvSpPr>
            <a:spLocks xmlns:a="http://schemas.openxmlformats.org/drawingml/2006/main" noGrp="1"/>
          </p:cNvSpPr>
          <p:nvPr/>
        </p:nvSpPr>
        <p:spPr>
          <a:xfrm xmlns:a="http://schemas.openxmlformats.org/drawingml/2006/main">
            <a:off x="6572250" y="1666875"/>
            <a:ext cx="4953000" cy="366712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020D4351-5256-4B30-874E-E217557B8CD8}"/>
              </a:ext>
            </a:extLst>
          </p:cNvPr>
          <p:cNvSpPr>
            <a:spLocks xmlns:a="http://schemas.openxmlformats.org/drawingml/2006/main" noGrp="1"/>
          </p:cNvSpPr>
          <p:nvPr/>
        </p:nvSpPr>
        <p:spPr>
          <a:xfrm xmlns:a="http://schemas.openxmlformats.org/drawingml/2006/main">
            <a:off x="6762750" y="1838325"/>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PurchaseLog</a:t>
            </a:r>
          </a:p>
        </p:txBody>
      </p:sp>
      <p:sp>
        <p:nvSpPr>
          <p:cNvPr id="9" name="">
            <a:extLst xmlns:a="http://schemas.openxmlformats.org/drawingml/2006/main">
              <a:ext uri="{FF2B5EF4-FFF2-40B4-BE49-F238E27FC236}">
                <a16:creationId xmlns:a16="http://schemas.microsoft.com/office/drawing/2014/main" id="{485E4701-B9B1-4CB6-8243-C0CD28DE0EA4}"/>
              </a:ext>
            </a:extLst>
          </p:cNvPr>
          <p:cNvSpPr>
            <a:spLocks xmlns:a="http://schemas.openxmlformats.org/drawingml/2006/main" noGrp="1"/>
          </p:cNvSpPr>
          <p:nvPr/>
        </p:nvSpPr>
        <p:spPr>
          <a:xfrm xmlns:a="http://schemas.openxmlformats.org/drawingml/2006/main">
            <a:off x="6762750" y="2381250"/>
            <a:ext cx="45720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id and mealId foreign key</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actualPriceMinor</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purchasedAt</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note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unique saveToken</a:t>
            </a:r>
          </a:p>
        </p:txBody>
      </p:sp>
      <p:sp>
        <p:nvSpPr>
          <p:cNvPr id="10" name="">
            <a:extLst xmlns:a="http://schemas.openxmlformats.org/drawingml/2006/main">
              <a:ext uri="{FF2B5EF4-FFF2-40B4-BE49-F238E27FC236}">
                <a16:creationId xmlns:a16="http://schemas.microsoft.com/office/drawing/2014/main" id="{11EA7407-D0B4-4943-8A97-FAA5FDE3F37C}"/>
              </a:ext>
            </a:extLst>
          </p:cNvPr>
          <p:cNvSpPr>
            <a:spLocks xmlns:a="http://schemas.openxmlformats.org/drawingml/2006/main" noGrp="1"/>
          </p:cNvSpPr>
          <p:nvPr/>
        </p:nvSpPr>
        <p:spPr>
          <a:xfrm xmlns:a="http://schemas.openxmlformats.org/drawingml/2006/main">
            <a:off x="5695950" y="2857500"/>
            <a:ext cx="838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52B25"/>
                </a:solidFill>
                <a:latin typeface="Arial"/>
                <a:ea typeface="Arial"/>
                <a:cs typeface="Arial"/>
              </a:defRPr>
            </a:defPPr>
            <a:lvl1pPr>
              <a:defRPr sz="1800" b="1">
                <a:solidFill>
                  <a:srgbClr val="152B25"/>
                </a:solidFill>
                <a:latin typeface="Arial"/>
                <a:ea typeface="Arial"/>
                <a:cs typeface="Arial"/>
              </a:defRPr>
            </a:lvl1pPr>
            <a:lvl2pPr>
              <a:defRPr sz="1800" b="1">
                <a:solidFill>
                  <a:srgbClr val="152B25"/>
                </a:solidFill>
                <a:latin typeface="Arial"/>
                <a:ea typeface="Arial"/>
                <a:cs typeface="Arial"/>
              </a:defRPr>
            </a:lvl2pPr>
            <a:lvl3pPr>
              <a:defRPr sz="1800" b="1">
                <a:solidFill>
                  <a:srgbClr val="152B25"/>
                </a:solidFill>
                <a:latin typeface="Arial"/>
                <a:ea typeface="Arial"/>
                <a:cs typeface="Arial"/>
              </a:defRPr>
            </a:lvl3pPr>
            <a:lvl4pPr>
              <a:defRPr sz="1800" b="1">
                <a:solidFill>
                  <a:srgbClr val="152B25"/>
                </a:solidFill>
                <a:latin typeface="Arial"/>
                <a:ea typeface="Arial"/>
                <a:cs typeface="Arial"/>
              </a:defRPr>
            </a:lvl4pPr>
            <a:lvl5pPr>
              <a:defRPr sz="1800" b="1">
                <a:solidFill>
                  <a:srgbClr val="152B25"/>
                </a:solidFill>
                <a:latin typeface="Arial"/>
                <a:ea typeface="Arial"/>
                <a:cs typeface="Arial"/>
              </a:defRPr>
            </a:lvl5pPr>
            <a:lvl6pPr>
              <a:defRPr sz="1800" b="1">
                <a:solidFill>
                  <a:srgbClr val="152B25"/>
                </a:solidFill>
                <a:latin typeface="Arial"/>
                <a:ea typeface="Arial"/>
                <a:cs typeface="Arial"/>
              </a:defRPr>
            </a:lvl6pPr>
            <a:lvl7pPr>
              <a:defRPr sz="1800" b="1">
                <a:solidFill>
                  <a:srgbClr val="152B25"/>
                </a:solidFill>
                <a:latin typeface="Arial"/>
                <a:ea typeface="Arial"/>
                <a:cs typeface="Arial"/>
              </a:defRPr>
            </a:lvl7pPr>
            <a:lvl8pPr>
              <a:defRPr sz="1800" b="1">
                <a:solidFill>
                  <a:srgbClr val="152B25"/>
                </a:solidFill>
                <a:latin typeface="Arial"/>
                <a:ea typeface="Arial"/>
                <a:cs typeface="Arial"/>
              </a:defRPr>
            </a:lvl8pPr>
            <a:lvl9pPr>
              <a:defRPr sz="1800" b="1">
                <a:solidFill>
                  <a:srgbClr val="152B25"/>
                </a:solidFill>
                <a:latin typeface="Arial"/>
                <a:ea typeface="Arial"/>
                <a:cs typeface="Arial"/>
              </a:defRPr>
            </a:lvl9pPr>
          </a:lstStyle>
          <a:p xmlns:a="http://schemas.openxmlformats.org/drawingml/2006/main">
            <a:pPr>
              <a:defRPr sz="1800" b="1">
                <a:solidFill>
                  <a:srgbClr val="152B25"/>
                </a:solidFill>
                <a:latin typeface="Arial"/>
                <a:ea typeface="Arial"/>
                <a:cs typeface="Arial"/>
              </a:defRPr>
            </a:pPr>
            <a:r>
              <a:rPr sz="1800" b="1">
                <a:solidFill>
                  <a:srgbClr val="152B25"/>
                </a:solidFill>
                <a:latin typeface="Arial"/>
                <a:ea typeface="Arial"/>
                <a:cs typeface="Arial"/>
              </a:rPr>
              <a:t>1 : N</a:t>
            </a:r>
          </a:p>
        </p:txBody>
      </p:sp>
      <p:sp>
        <p:nvSpPr>
          <p:cNvPr id="11" name="">
            <a:extLst xmlns:a="http://schemas.openxmlformats.org/drawingml/2006/main">
              <a:ext uri="{FF2B5EF4-FFF2-40B4-BE49-F238E27FC236}">
                <a16:creationId xmlns:a16="http://schemas.microsoft.com/office/drawing/2014/main" id="{FA3676EF-85BD-4E96-8A03-352433CBB6CF}"/>
              </a:ext>
            </a:extLst>
          </p:cNvPr>
          <p:cNvSpPr>
            <a:spLocks xmlns:a="http://schemas.openxmlformats.org/drawingml/2006/main" noGrp="1"/>
          </p:cNvSpPr>
          <p:nvPr/>
        </p:nvSpPr>
        <p:spPr>
          <a:xfrm xmlns:a="http://schemas.openxmlformats.org/drawingml/2006/main">
            <a:off x="666750" y="5619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Restricted parent deletion protects saved receipts.</a:t>
            </a:r>
          </a:p>
        </p:txBody>
      </p:sp>
    </p:spTree>
    <p:extLst>
      <p:ext uri="{BB962C8B-B14F-4D97-AF65-F5344CB8AC3E}">
        <p14:creationId xmlns:p14="http://schemas.microsoft.com/office/powerpoint/2010/main" val="2136926510"/>
      </p:ext>
    </p:extLst>
  </p:cSld>
  <p:transition spd="med">
    <p:fade/>
  </p:transition>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A81959-A9DD-4351-836F-E60F3F478B9F}"/>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Purchase workflow and integrity</a:t>
            </a:r>
          </a:p>
        </p:txBody>
      </p:sp>
      <p:sp>
        <p:nvSpPr>
          <p:cNvPr id="2" name="">
            <a:extLst xmlns:a="http://schemas.openxmlformats.org/drawingml/2006/main">
              <a:ext uri="{FF2B5EF4-FFF2-40B4-BE49-F238E27FC236}">
                <a16:creationId xmlns:a16="http://schemas.microsoft.com/office/drawing/2014/main" id="{75403C59-D3ED-433B-B5FD-3F72ACD2960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45022246-EC34-4489-A5CA-42E141F5847F}"/>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7A8D6000-D585-4A1A-B1AF-0AD32C2E9D2A}"/>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Start a plan, enter the actual amount, then explicitly save.</a:t>
            </a:r>
          </a:p>
        </p:txBody>
      </p:sp>
      <p:sp>
        <p:nvSpPr>
          <p:cNvPr id="5" name="">
            <a:extLst xmlns:a="http://schemas.openxmlformats.org/drawingml/2006/main">
              <a:ext uri="{FF2B5EF4-FFF2-40B4-BE49-F238E27FC236}">
                <a16:creationId xmlns:a16="http://schemas.microsoft.com/office/drawing/2014/main" id="{D2A0D433-93E9-4973-A8C2-249C11758475}"/>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Repeated saves of one draft reuse its unique token.</a:t>
            </a:r>
          </a:p>
        </p:txBody>
      </p:sp>
      <p:sp>
        <p:nvSpPr>
          <p:cNvPr id="6" name="">
            <a:extLst xmlns:a="http://schemas.openxmlformats.org/drawingml/2006/main">
              <a:ext uri="{FF2B5EF4-FFF2-40B4-BE49-F238E27FC236}">
                <a16:creationId xmlns:a16="http://schemas.microsoft.com/office/drawing/2014/main" id="{4E389FF6-04E7-49D8-9812-34A08B5AEE31}"/>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Receipt corrections refresh totals and Lunch Lens.</a:t>
            </a:r>
          </a:p>
        </p:txBody>
      </p:sp>
      <p:sp>
        <p:nvSpPr>
          <p:cNvPr id="7" name="">
            <a:extLst xmlns:a="http://schemas.openxmlformats.org/drawingml/2006/main">
              <a:ext uri="{FF2B5EF4-FFF2-40B4-BE49-F238E27FC236}">
                <a16:creationId xmlns:a16="http://schemas.microsoft.com/office/drawing/2014/main" id="{CC7637F1-2ACE-46EE-BFD4-943A5233B555}"/>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Reset discards the unsaved draft and retains history.</a:t>
            </a:r>
          </a:p>
        </p:txBody>
      </p:sp>
    </p:spTree>
    <p:extLst>
      <p:ext uri="{BB962C8B-B14F-4D97-AF65-F5344CB8AC3E}">
        <p14:creationId xmlns:p14="http://schemas.microsoft.com/office/powerpoint/2010/main" val="1787517746"/>
      </p:ext>
    </p:extLst>
  </p:cSld>
  <p:transition spd="med">
    <p:fade/>
  </p:transition>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9E788C-7CD9-44DD-A940-F8DD49A8902F}"/>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Offline restart demonstration</a:t>
            </a:r>
          </a:p>
        </p:txBody>
      </p:sp>
      <p:sp>
        <p:nvSpPr>
          <p:cNvPr id="2" name="">
            <a:extLst xmlns:a="http://schemas.openxmlformats.org/drawingml/2006/main">
              <a:ext uri="{FF2B5EF4-FFF2-40B4-BE49-F238E27FC236}">
                <a16:creationId xmlns:a16="http://schemas.microsoft.com/office/drawing/2014/main" id="{D2F9FB0F-5EF9-4F86-BB6A-288A28308BD2}"/>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DDEC19D6-B984-4992-A6F6-72C85FBB9198}"/>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D45902DC-E1A1-4BE8-818A-6D70E76E6304}"/>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Save a receipt and a changed budget with networking disabled.</a:t>
            </a:r>
          </a:p>
        </p:txBody>
      </p:sp>
      <p:sp>
        <p:nvSpPr>
          <p:cNvPr id="5" name="">
            <a:extLst xmlns:a="http://schemas.openxmlformats.org/drawingml/2006/main">
              <a:ext uri="{FF2B5EF4-FFF2-40B4-BE49-F238E27FC236}">
                <a16:creationId xmlns:a16="http://schemas.microsoft.com/office/drawing/2014/main" id="{CC700317-3A5C-4778-A8BE-6765C7A9ADF4}"/>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Force-stop the app and relaunch it.</a:t>
            </a:r>
          </a:p>
        </p:txBody>
      </p:sp>
      <p:sp>
        <p:nvSpPr>
          <p:cNvPr id="6" name="">
            <a:extLst xmlns:a="http://schemas.openxmlformats.org/drawingml/2006/main">
              <a:ext uri="{FF2B5EF4-FFF2-40B4-BE49-F238E27FC236}">
                <a16:creationId xmlns:a16="http://schemas.microsoft.com/office/drawing/2014/main" id="{350355C4-6877-42CF-8A5F-B3A0403D5A35}"/>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Show the same receipt, total and preference.</a:t>
            </a:r>
          </a:p>
        </p:txBody>
      </p:sp>
      <p:sp>
        <p:nvSpPr>
          <p:cNvPr id="7" name="">
            <a:extLst xmlns:a="http://schemas.openxmlformats.org/drawingml/2006/main">
              <a:ext uri="{FF2B5EF4-FFF2-40B4-BE49-F238E27FC236}">
                <a16:creationId xmlns:a16="http://schemas.microsoft.com/office/drawing/2014/main" id="{BED1971C-A590-4C1D-B88F-55EA37E32660}"/>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Two emulator instances cover different display sizes.</a:t>
            </a:r>
          </a:p>
        </p:txBody>
      </p:sp>
    </p:spTree>
    <p:extLst>
      <p:ext uri="{BB962C8B-B14F-4D97-AF65-F5344CB8AC3E}">
        <p14:creationId xmlns:p14="http://schemas.microsoft.com/office/powerpoint/2010/main" val="10377514"/>
      </p:ext>
    </p:extLst>
  </p:cSld>
  <p:transition spd="med">
    <p:fade/>
  </p:transition>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0C46152-B75E-41AC-A896-7980A286946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Architecture and lifecycle</a:t>
            </a:r>
          </a:p>
        </p:txBody>
      </p:sp>
      <p:sp>
        <p:nvSpPr>
          <p:cNvPr id="2" name="">
            <a:extLst xmlns:a="http://schemas.openxmlformats.org/drawingml/2006/main">
              <a:ext uri="{FF2B5EF4-FFF2-40B4-BE49-F238E27FC236}">
                <a16:creationId xmlns:a16="http://schemas.microsoft.com/office/drawing/2014/main" id="{4D504DD5-269C-402F-80AA-61DC3249F77E}"/>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BD44E51-106F-4F87-8702-A7FBF5A7515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16AE55A1-C050-4D87-969C-EEB2B128DF54}"/>
              </a:ext>
            </a:extLst>
          </p:cNvPr>
          <p:cNvSpPr>
            <a:spLocks xmlns:a="http://schemas.openxmlformats.org/drawingml/2006/main" noGrp="1"/>
          </p:cNvSpPr>
          <p:nvPr/>
        </p:nvSpPr>
        <p:spPr>
          <a:xfrm xmlns:a="http://schemas.openxmlformats.org/drawingml/2006/main">
            <a:off x="666750"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5BFEC86D-FAFD-4190-AE52-011CFBF19F9F}"/>
              </a:ext>
            </a:extLst>
          </p:cNvPr>
          <p:cNvSpPr>
            <a:spLocks xmlns:a="http://schemas.openxmlformats.org/drawingml/2006/main" noGrp="1"/>
          </p:cNvSpPr>
          <p:nvPr/>
        </p:nvSpPr>
        <p:spPr>
          <a:xfrm xmlns:a="http://schemas.openxmlformats.org/drawingml/2006/main">
            <a:off x="857250"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UI</a:t>
            </a:r>
          </a:p>
        </p:txBody>
      </p:sp>
      <p:sp>
        <p:nvSpPr>
          <p:cNvPr id="6" name="">
            <a:extLst xmlns:a="http://schemas.openxmlformats.org/drawingml/2006/main">
              <a:ext uri="{FF2B5EF4-FFF2-40B4-BE49-F238E27FC236}">
                <a16:creationId xmlns:a16="http://schemas.microsoft.com/office/drawing/2014/main" id="{F57AE484-42B4-466C-9AF1-5EF03E45AAC8}"/>
              </a:ext>
            </a:extLst>
          </p:cNvPr>
          <p:cNvSpPr>
            <a:spLocks xmlns:a="http://schemas.openxmlformats.org/drawingml/2006/main" noGrp="1"/>
          </p:cNvSpPr>
          <p:nvPr/>
        </p:nvSpPr>
        <p:spPr>
          <a:xfrm xmlns:a="http://schemas.openxmlformats.org/drawingml/2006/main">
            <a:off x="857250"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HomeScreen</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MealHistory</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MealEditor / PurchaseEditor</a:t>
            </a:r>
          </a:p>
        </p:txBody>
      </p:sp>
      <p:sp>
        <p:nvSpPr>
          <p:cNvPr id="7" name="">
            <a:extLst xmlns:a="http://schemas.openxmlformats.org/drawingml/2006/main">
              <a:ext uri="{FF2B5EF4-FFF2-40B4-BE49-F238E27FC236}">
                <a16:creationId xmlns:a16="http://schemas.microsoft.com/office/drawing/2014/main" id="{32670A4F-6988-45A6-8B30-A29B8E05F044}"/>
              </a:ext>
            </a:extLst>
          </p:cNvPr>
          <p:cNvSpPr>
            <a:spLocks xmlns:a="http://schemas.openxmlformats.org/drawingml/2006/main" noGrp="1"/>
          </p:cNvSpPr>
          <p:nvPr/>
        </p:nvSpPr>
        <p:spPr>
          <a:xfrm xmlns:a="http://schemas.openxmlformats.org/drawingml/2006/main">
            <a:off x="4429125"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12532828-3CF7-48F2-98EE-8CE28E3FCB75}"/>
              </a:ext>
            </a:extLst>
          </p:cNvPr>
          <p:cNvSpPr>
            <a:spLocks xmlns:a="http://schemas.openxmlformats.org/drawingml/2006/main" noGrp="1"/>
          </p:cNvSpPr>
          <p:nvPr/>
        </p:nvSpPr>
        <p:spPr>
          <a:xfrm xmlns:a="http://schemas.openxmlformats.org/drawingml/2006/main">
            <a:off x="4619625"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State and rules</a:t>
            </a:r>
          </a:p>
        </p:txBody>
      </p:sp>
      <p:sp>
        <p:nvSpPr>
          <p:cNvPr id="9" name="">
            <a:extLst xmlns:a="http://schemas.openxmlformats.org/drawingml/2006/main">
              <a:ext uri="{FF2B5EF4-FFF2-40B4-BE49-F238E27FC236}">
                <a16:creationId xmlns:a16="http://schemas.microsoft.com/office/drawing/2014/main" id="{F1C67B86-FB04-434A-930A-3314A8FCB768}"/>
              </a:ext>
            </a:extLst>
          </p:cNvPr>
          <p:cNvSpPr>
            <a:spLocks xmlns:a="http://schemas.openxmlformats.org/drawingml/2006/main" noGrp="1"/>
          </p:cNvSpPr>
          <p:nvPr/>
        </p:nvSpPr>
        <p:spPr>
          <a:xfrm xmlns:a="http://schemas.openxmlformats.org/drawingml/2006/main">
            <a:off x="4619625"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AppStore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Money parsing</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Lunch Lens</a:t>
            </a:r>
          </a:p>
        </p:txBody>
      </p:sp>
      <p:sp>
        <p:nvSpPr>
          <p:cNvPr id="10" name="">
            <a:extLst xmlns:a="http://schemas.openxmlformats.org/drawingml/2006/main">
              <a:ext uri="{FF2B5EF4-FFF2-40B4-BE49-F238E27FC236}">
                <a16:creationId xmlns:a16="http://schemas.microsoft.com/office/drawing/2014/main" id="{68772D4E-A5D8-44DC-B747-C78EF9101BFD}"/>
              </a:ext>
            </a:extLst>
          </p:cNvPr>
          <p:cNvSpPr>
            <a:spLocks xmlns:a="http://schemas.openxmlformats.org/drawingml/2006/main" noGrp="1"/>
          </p:cNvSpPr>
          <p:nvPr/>
        </p:nvSpPr>
        <p:spPr>
          <a:xfrm xmlns:a="http://schemas.openxmlformats.org/drawingml/2006/main">
            <a:off x="8191500"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11" name="">
            <a:extLst xmlns:a="http://schemas.openxmlformats.org/drawingml/2006/main">
              <a:ext uri="{FF2B5EF4-FFF2-40B4-BE49-F238E27FC236}">
                <a16:creationId xmlns:a16="http://schemas.microsoft.com/office/drawing/2014/main" id="{F017B37D-2B52-40B6-8528-80DA44152494}"/>
              </a:ext>
            </a:extLst>
          </p:cNvPr>
          <p:cNvSpPr>
            <a:spLocks xmlns:a="http://schemas.openxmlformats.org/drawingml/2006/main" noGrp="1"/>
          </p:cNvSpPr>
          <p:nvPr/>
        </p:nvSpPr>
        <p:spPr>
          <a:xfrm xmlns:a="http://schemas.openxmlformats.org/drawingml/2006/main">
            <a:off x="8382000"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Local data</a:t>
            </a:r>
          </a:p>
        </p:txBody>
      </p:sp>
      <p:sp>
        <p:nvSpPr>
          <p:cNvPr id="12" name="">
            <a:extLst xmlns:a="http://schemas.openxmlformats.org/drawingml/2006/main">
              <a:ext uri="{FF2B5EF4-FFF2-40B4-BE49-F238E27FC236}">
                <a16:creationId xmlns:a16="http://schemas.microsoft.com/office/drawing/2014/main" id="{08F8F6D8-B747-47FA-BE1A-EB550F6CCA30}"/>
              </a:ext>
            </a:extLst>
          </p:cNvPr>
          <p:cNvSpPr>
            <a:spLocks xmlns:a="http://schemas.openxmlformats.org/drawingml/2006/main" noGrp="1"/>
          </p:cNvSpPr>
          <p:nvPr/>
        </p:nvSpPr>
        <p:spPr>
          <a:xfrm xmlns:a="http://schemas.openxmlformats.org/drawingml/2006/main">
            <a:off x="8382000"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MealDatabase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SQLite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SharedPreferences</a:t>
            </a:r>
          </a:p>
        </p:txBody>
      </p:sp>
      <p:sp>
        <p:nvSpPr>
          <p:cNvPr id="13" name="">
            <a:extLst xmlns:a="http://schemas.openxmlformats.org/drawingml/2006/main">
              <a:ext uri="{FF2B5EF4-FFF2-40B4-BE49-F238E27FC236}">
                <a16:creationId xmlns:a16="http://schemas.microsoft.com/office/drawing/2014/main" id="{544FAD95-BFC2-4C74-9D41-1DC30C39ACF5}"/>
              </a:ext>
            </a:extLst>
          </p:cNvPr>
          <p:cNvSpPr>
            <a:spLocks xmlns:a="http://schemas.openxmlformats.org/drawingml/2006/main" noGrp="1"/>
          </p:cNvSpPr>
          <p:nvPr/>
        </p:nvSpPr>
        <p:spPr>
          <a:xfrm xmlns:a="http://schemas.openxmlformats.org/drawingml/2006/main">
            <a:off x="666750" y="52387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B25"/>
                </a:solidFill>
                <a:latin typeface="Arial"/>
                <a:ea typeface="Arial"/>
                <a:cs typeface="Arial"/>
              </a:defRPr>
            </a:defPPr>
            <a:lvl1pPr>
              <a:defRPr sz="2025" b="0">
                <a:solidFill>
                  <a:srgbClr val="152B25"/>
                </a:solidFill>
                <a:latin typeface="Arial"/>
                <a:ea typeface="Arial"/>
                <a:cs typeface="Arial"/>
              </a:defRPr>
            </a:lvl1pPr>
            <a:lvl2pPr>
              <a:defRPr sz="2025" b="0">
                <a:solidFill>
                  <a:srgbClr val="152B25"/>
                </a:solidFill>
                <a:latin typeface="Arial"/>
                <a:ea typeface="Arial"/>
                <a:cs typeface="Arial"/>
              </a:defRPr>
            </a:lvl2pPr>
            <a:lvl3pPr>
              <a:defRPr sz="2025" b="0">
                <a:solidFill>
                  <a:srgbClr val="152B25"/>
                </a:solidFill>
                <a:latin typeface="Arial"/>
                <a:ea typeface="Arial"/>
                <a:cs typeface="Arial"/>
              </a:defRPr>
            </a:lvl3pPr>
            <a:lvl4pPr>
              <a:defRPr sz="2025" b="0">
                <a:solidFill>
                  <a:srgbClr val="152B25"/>
                </a:solidFill>
                <a:latin typeface="Arial"/>
                <a:ea typeface="Arial"/>
                <a:cs typeface="Arial"/>
              </a:defRPr>
            </a:lvl4pPr>
            <a:lvl5pPr>
              <a:defRPr sz="2025" b="0">
                <a:solidFill>
                  <a:srgbClr val="152B25"/>
                </a:solidFill>
                <a:latin typeface="Arial"/>
                <a:ea typeface="Arial"/>
                <a:cs typeface="Arial"/>
              </a:defRPr>
            </a:lvl5pPr>
            <a:lvl6pPr>
              <a:defRPr sz="2025" b="0">
                <a:solidFill>
                  <a:srgbClr val="152B25"/>
                </a:solidFill>
                <a:latin typeface="Arial"/>
                <a:ea typeface="Arial"/>
                <a:cs typeface="Arial"/>
              </a:defRPr>
            </a:lvl6pPr>
            <a:lvl7pPr>
              <a:defRPr sz="2025" b="0">
                <a:solidFill>
                  <a:srgbClr val="152B25"/>
                </a:solidFill>
                <a:latin typeface="Arial"/>
                <a:ea typeface="Arial"/>
                <a:cs typeface="Arial"/>
              </a:defRPr>
            </a:lvl7pPr>
            <a:lvl8pPr>
              <a:defRPr sz="2025" b="0">
                <a:solidFill>
                  <a:srgbClr val="152B25"/>
                </a:solidFill>
                <a:latin typeface="Arial"/>
                <a:ea typeface="Arial"/>
                <a:cs typeface="Arial"/>
              </a:defRPr>
            </a:lvl8pPr>
            <a:lvl9pPr>
              <a:defRPr sz="2025" b="0">
                <a:solidFill>
                  <a:srgbClr val="152B25"/>
                </a:solidFill>
                <a:latin typeface="Arial"/>
                <a:ea typeface="Arial"/>
                <a:cs typeface="Arial"/>
              </a:defRPr>
            </a:lvl9pPr>
          </a:lstStyle>
          <a:p xmlns:a="http://schemas.openxmlformats.org/drawingml/2006/main">
            <a:pPr>
              <a:defRPr sz="2025" b="0">
                <a:solidFill>
                  <a:srgbClr val="152B25"/>
                </a:solidFill>
                <a:latin typeface="Arial"/>
                <a:ea typeface="Arial"/>
                <a:cs typeface="Arial"/>
              </a:defRPr>
            </a:pPr>
            <a:r>
              <a:rPr sz="2025" b="0">
                <a:solidFill>
                  <a:srgbClr val="152B25"/>
                </a:solidFill>
                <a:latin typeface="Arial"/>
                <a:ea typeface="Arial"/>
                <a:cs typeface="Arial"/>
              </a:rPr>
              <a:t>UI owns drafts. Data layer owns connections. Domain rules stay testable.</a:t>
            </a:r>
          </a:p>
        </p:txBody>
      </p:sp>
    </p:spTree>
    <p:extLst>
      <p:ext uri="{BB962C8B-B14F-4D97-AF65-F5344CB8AC3E}">
        <p14:creationId xmlns:p14="http://schemas.microsoft.com/office/powerpoint/2010/main" val="1118695760"/>
      </p:ext>
    </p:extLst>
  </p:cSld>
  <p:transition spd="med">
    <p:fade/>
  </p:transition>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3004144-4AC3-4581-966B-262BE0AC781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Duplicate-save code trace</a:t>
            </a:r>
          </a:p>
        </p:txBody>
      </p:sp>
      <p:sp>
        <p:nvSpPr>
          <p:cNvPr id="2" name="">
            <a:extLst xmlns:a="http://schemas.openxmlformats.org/drawingml/2006/main">
              <a:ext uri="{FF2B5EF4-FFF2-40B4-BE49-F238E27FC236}">
                <a16:creationId xmlns:a16="http://schemas.microsoft.com/office/drawing/2014/main" id="{49FE0A80-33A0-4791-A77C-A09F62FBD670}"/>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659A480-C892-4B2E-9F2A-A1CE1932F02F}"/>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38217A76-7EC8-42FA-B610-60166A9B9E94}"/>
              </a:ext>
            </a:extLst>
          </p:cNvPr>
          <p:cNvSpPr>
            <a:spLocks xmlns:a="http://schemas.openxmlformats.org/drawingml/2006/main" noGrp="1"/>
          </p:cNvSpPr>
          <p:nvPr/>
        </p:nvSpPr>
        <p:spPr>
          <a:xfrm xmlns:a="http://schemas.openxmlformats.org/drawingml/2006/main">
            <a:off x="714375" y="1666875"/>
            <a:ext cx="107632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return db.transaction((txn) async {</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final existing = await txn.query(</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'purchase_logs',</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where: 'saveToken = ?',</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whereArgs: [log.saveToken],</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if (existing.isNotEmpty) return existing.first['id'] as int;</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  return txn.insert('purchase_logs', log.toMap()..remove('id'));</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a:t>
            </a:r>
          </a:p>
        </p:txBody>
      </p:sp>
    </p:spTree>
    <p:extLst>
      <p:ext uri="{BB962C8B-B14F-4D97-AF65-F5344CB8AC3E}">
        <p14:creationId xmlns:p14="http://schemas.microsoft.com/office/powerpoint/2010/main" val="2104175741"/>
      </p:ext>
    </p:extLst>
  </p:cSld>
  <p:transition spd="med">
    <p:fade/>
  </p:transition>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1D358A-3172-4099-B7C2-0ED67C212627}"/>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Lunch Lens local smart helper</a:t>
            </a:r>
          </a:p>
        </p:txBody>
      </p:sp>
      <p:sp>
        <p:nvSpPr>
          <p:cNvPr id="2" name="">
            <a:extLst xmlns:a="http://schemas.openxmlformats.org/drawingml/2006/main">
              <a:ext uri="{FF2B5EF4-FFF2-40B4-BE49-F238E27FC236}">
                <a16:creationId xmlns:a16="http://schemas.microsoft.com/office/drawing/2014/main" id="{5748BAE8-DBC4-4707-98A3-2E793E075F3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F77A6C2F-C7EE-4F8D-97EA-54548D7A7F7E}"/>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57A019C3-2E07-4E25-A079-336775FED963}"/>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Inputs: three earlier purchases of the selected meal.</a:t>
            </a:r>
          </a:p>
        </p:txBody>
      </p:sp>
      <p:sp>
        <p:nvSpPr>
          <p:cNvPr id="5" name="">
            <a:extLst xmlns:a="http://schemas.openxmlformats.org/drawingml/2006/main">
              <a:ext uri="{FF2B5EF4-FFF2-40B4-BE49-F238E27FC236}">
                <a16:creationId xmlns:a16="http://schemas.microsoft.com/office/drawing/2014/main" id="{B3FBE5F4-BBA9-4544-8159-6B1420AA1470}"/>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Suggestion: their mean, rounded to integer cents.</a:t>
            </a:r>
          </a:p>
        </p:txBody>
      </p:sp>
      <p:sp>
        <p:nvSpPr>
          <p:cNvPr id="6" name="">
            <a:extLst xmlns:a="http://schemas.openxmlformats.org/drawingml/2006/main">
              <a:ext uri="{FF2B5EF4-FFF2-40B4-BE49-F238E27FC236}">
                <a16:creationId xmlns:a16="http://schemas.microsoft.com/office/drawing/2014/main" id="{729DAB3F-D364-4F2C-8C6C-C04FDD055E55}"/>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Explanation: amounts, date range and last-price baseline.</a:t>
            </a:r>
          </a:p>
        </p:txBody>
      </p:sp>
      <p:sp>
        <p:nvSpPr>
          <p:cNvPr id="7" name="">
            <a:extLst xmlns:a="http://schemas.openxmlformats.org/drawingml/2006/main">
              <a:ext uri="{FF2B5EF4-FFF2-40B4-BE49-F238E27FC236}">
                <a16:creationId xmlns:a16="http://schemas.microsoft.com/office/drawing/2014/main" id="{86E260A6-3210-4987-A871-6462ACBFB15E}"/>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User control: dismiss or enter a different actual amount.</a:t>
            </a:r>
          </a:p>
        </p:txBody>
      </p:sp>
    </p:spTree>
    <p:extLst>
      <p:ext uri="{BB962C8B-B14F-4D97-AF65-F5344CB8AC3E}">
        <p14:creationId xmlns:p14="http://schemas.microsoft.com/office/powerpoint/2010/main" val="1233965292"/>
      </p:ext>
    </p:extLst>
  </p:cSld>
  <p:transition spd="med">
    <p:fade/>
  </p:transition>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70AAF5-41EC-4419-8117-5726F4ACD90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Five evaluated case types</a:t>
            </a:r>
          </a:p>
        </p:txBody>
      </p:sp>
      <p:sp>
        <p:nvSpPr>
          <p:cNvPr id="2" name="">
            <a:extLst xmlns:a="http://schemas.openxmlformats.org/drawingml/2006/main">
              <a:ext uri="{FF2B5EF4-FFF2-40B4-BE49-F238E27FC236}">
                <a16:creationId xmlns:a16="http://schemas.microsoft.com/office/drawing/2014/main" id="{8D17CFDC-778D-426E-8B13-9173C813099D}"/>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A52B7E6-4B2D-48CF-9B12-864A97E3DB92}"/>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851FE07D-6DE5-49C4-B238-0A81482DF1F4}"/>
              </a:ext>
            </a:extLst>
          </p:cNvPr>
          <p:cNvGraphicFramePr/>
          <p:nvPr/>
        </p:nvGraphicFramePr>
        <p:xfrm>
          <a:off xmlns:a="http://schemas.openxmlformats.org/drawingml/2006/main" x="666750" y="1666875"/>
          <a:ext xmlns:a="http://schemas.openxmlformats.org/drawingml/2006/main" cx="10858500" cy="3333750"/>
        </p:xfrm>
        <a:graphic xmlns:a="http://schemas.openxmlformats.org/drawingml/2006/main">
          <a:graphicData uri="http://schemas.openxmlformats.org/drawingml/2006/table">
            <a:tbl>
              <a:tblPr/>
              <a:tblGrid>
                <a:gridCol w="2333625"/>
                <a:gridCol w="3857625"/>
                <a:gridCol w="2333625"/>
                <a:gridCol w="2333625"/>
              </a:tblGrid>
              <a:tr h="555625">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Baseline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555625">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963DB7-0E3B-40C5-AF5C-3AD5DE4AA457}"/>
              </a:ext>
            </a:extLst>
          </p:cNvPr>
          <p:cNvSpPr>
            <a:spLocks xmlns:a="http://schemas.openxmlformats.org/drawingml/2006/main" noGrp="1"/>
          </p:cNvSpPr>
          <p:nvPr/>
        </p:nvSpPr>
        <p:spPr>
          <a:xfrm xmlns:a="http://schemas.openxmlformats.org/drawingml/2006/main">
            <a:off x="666750" y="53340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Valid cases n = 3. MAE: mean 183.33 cents; last price 33.67 cents.</a:t>
            </a:r>
          </a:p>
        </p:txBody>
      </p:sp>
    </p:spTree>
    <p:extLst>
      <p:ext uri="{BB962C8B-B14F-4D97-AF65-F5344CB8AC3E}">
        <p14:creationId xmlns:p14="http://schemas.microsoft.com/office/powerpoint/2010/main" val="754685743"/>
      </p:ext>
    </p:extLst>
  </p:cSld>
  <p:transition spd="med">
    <p:fade/>
  </p:transition>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407C2D-DFC7-47D3-A008-E3C01FE35685}"/>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Testing evidence and limits</a:t>
            </a:r>
          </a:p>
        </p:txBody>
      </p:sp>
      <p:sp>
        <p:nvSpPr>
          <p:cNvPr id="2" name="">
            <a:extLst xmlns:a="http://schemas.openxmlformats.org/drawingml/2006/main">
              <a:ext uri="{FF2B5EF4-FFF2-40B4-BE49-F238E27FC236}">
                <a16:creationId xmlns:a16="http://schemas.microsoft.com/office/drawing/2014/main" id="{26592C94-A116-4000-9522-2BF053E6E30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860BA8AC-C0ED-46E5-B978-B843F1C257C5}"/>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B92DFBA5-9B51-4D07-8030-EAD49A3F2BB2}"/>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Analyzer and 17 logic/widget checks</a:t>
            </a:r>
          </a:p>
        </p:txBody>
      </p:sp>
      <p:sp>
        <p:nvSpPr>
          <p:cNvPr id="5" name="">
            <a:extLst xmlns:a="http://schemas.openxmlformats.org/drawingml/2006/main">
              <a:ext uri="{FF2B5EF4-FFF2-40B4-BE49-F238E27FC236}">
                <a16:creationId xmlns:a16="http://schemas.microsoft.com/office/drawing/2014/main" id="{A2A6EB39-7152-4507-A801-4BFE4EC96F78}"/>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Actual SQLite CRUD, foreign keys, retry token and migration</a:t>
            </a:r>
          </a:p>
        </p:txBody>
      </p:sp>
      <p:sp>
        <p:nvSpPr>
          <p:cNvPr id="6" name="">
            <a:extLst xmlns:a="http://schemas.openxmlformats.org/drawingml/2006/main">
              <a:ext uri="{FF2B5EF4-FFF2-40B4-BE49-F238E27FC236}">
                <a16:creationId xmlns:a16="http://schemas.microsoft.com/office/drawing/2014/main" id="{D29CF195-7A3A-4689-A60C-A3CABDFCA998}"/>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Two emulator profiles and release installation checks</a:t>
            </a:r>
          </a:p>
        </p:txBody>
      </p:sp>
      <p:sp>
        <p:nvSpPr>
          <p:cNvPr id="7" name="">
            <a:extLst xmlns:a="http://schemas.openxmlformats.org/drawingml/2006/main">
              <a:ext uri="{FF2B5EF4-FFF2-40B4-BE49-F238E27FC236}">
                <a16:creationId xmlns:a16="http://schemas.microsoft.com/office/drawing/2014/main" id="{184A6EFA-3671-461B-9480-75C722D70E32}"/>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Known limits: same OS image, no independent peer revision</a:t>
            </a:r>
          </a:p>
        </p:txBody>
      </p:sp>
    </p:spTree>
    <p:extLst>
      <p:ext uri="{BB962C8B-B14F-4D97-AF65-F5344CB8AC3E}">
        <p14:creationId xmlns:p14="http://schemas.microsoft.com/office/powerpoint/2010/main" val="1526955900"/>
      </p:ext>
    </p:extLst>
  </p:cSld>
  <p:transition spd="med">
    <p:fade/>
  </p:transition>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49FE85-3299-4A88-8922-10F75B99FDA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Individual ownership and workflow</a:t>
            </a:r>
          </a:p>
        </p:txBody>
      </p:sp>
      <p:sp>
        <p:nvSpPr>
          <p:cNvPr id="2" name="">
            <a:extLst xmlns:a="http://schemas.openxmlformats.org/drawingml/2006/main">
              <a:ext uri="{FF2B5EF4-FFF2-40B4-BE49-F238E27FC236}">
                <a16:creationId xmlns:a16="http://schemas.microsoft.com/office/drawing/2014/main" id="{3479D6EB-CBF8-4576-B4C2-8D54321798C7}"/>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04F493D-A7F6-4680-A7A5-3B86487C0B80}"/>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FA9B192A-F27A-4DF8-ACB7-6CC76166CC8A}"/>
              </a:ext>
            </a:extLst>
          </p:cNvPr>
          <p:cNvSpPr>
            <a:spLocks xmlns:a="http://schemas.openxmlformats.org/drawingml/2006/main" noGrp="1"/>
          </p:cNvSpPr>
          <p:nvPr/>
        </p:nvSpPr>
        <p:spPr>
          <a:xfrm xmlns:a="http://schemas.openxmlformats.org/drawingml/2006/main">
            <a:off x="666750" y="1666875"/>
            <a:ext cx="5095875" cy="319087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A413132B-2905-45FD-B002-F07D35F0120A}"/>
              </a:ext>
            </a:extLst>
          </p:cNvPr>
          <p:cNvSpPr>
            <a:spLocks xmlns:a="http://schemas.openxmlformats.org/drawingml/2006/main" noGrp="1"/>
          </p:cNvSpPr>
          <p:nvPr/>
        </p:nvSpPr>
        <p:spPr>
          <a:xfrm xmlns:a="http://schemas.openxmlformats.org/drawingml/2006/main">
            <a:off x="857250" y="1838325"/>
            <a:ext cx="4714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A.J. Orea</a:t>
            </a:r>
          </a:p>
        </p:txBody>
      </p:sp>
      <p:sp>
        <p:nvSpPr>
          <p:cNvPr id="6" name="">
            <a:extLst xmlns:a="http://schemas.openxmlformats.org/drawingml/2006/main">
              <a:ext uri="{FF2B5EF4-FFF2-40B4-BE49-F238E27FC236}">
                <a16:creationId xmlns:a16="http://schemas.microsoft.com/office/drawing/2014/main" id="{147D10C0-007B-457B-B613-B2FF1192BF6B}"/>
              </a:ext>
            </a:extLst>
          </p:cNvPr>
          <p:cNvSpPr>
            <a:spLocks xmlns:a="http://schemas.openxmlformats.org/drawingml/2006/main" noGrp="1"/>
          </p:cNvSpPr>
          <p:nvPr/>
        </p:nvSpPr>
        <p:spPr>
          <a:xfrm xmlns:a="http://schemas.openxmlformats.org/drawingml/2006/main">
            <a:off x="857250" y="2381250"/>
            <a:ext cx="47148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Original Meal model</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Database CRUD foundation</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Standalone History page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Explain these actual commits</a:t>
            </a:r>
          </a:p>
        </p:txBody>
      </p:sp>
      <p:sp>
        <p:nvSpPr>
          <p:cNvPr id="7" name="">
            <a:extLst xmlns:a="http://schemas.openxmlformats.org/drawingml/2006/main">
              <a:ext uri="{FF2B5EF4-FFF2-40B4-BE49-F238E27FC236}">
                <a16:creationId xmlns:a16="http://schemas.microsoft.com/office/drawing/2014/main" id="{58E40E73-79C9-411C-833B-CA108F90525C}"/>
              </a:ext>
            </a:extLst>
          </p:cNvPr>
          <p:cNvSpPr>
            <a:spLocks xmlns:a="http://schemas.openxmlformats.org/drawingml/2006/main" noGrp="1"/>
          </p:cNvSpPr>
          <p:nvPr/>
        </p:nvSpPr>
        <p:spPr>
          <a:xfrm xmlns:a="http://schemas.openxmlformats.org/drawingml/2006/main">
            <a:off x="6238875" y="1666875"/>
            <a:ext cx="5286375" cy="319087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307D1361-7900-428D-A964-7A90E265B3A4}"/>
              </a:ext>
            </a:extLst>
          </p:cNvPr>
          <p:cNvSpPr>
            <a:spLocks xmlns:a="http://schemas.openxmlformats.org/drawingml/2006/main" noGrp="1"/>
          </p:cNvSpPr>
          <p:nvPr/>
        </p:nvSpPr>
        <p:spPr>
          <a:xfrm xmlns:a="http://schemas.openxmlformats.org/drawingml/2006/main">
            <a:off x="6429375" y="1838325"/>
            <a:ext cx="4905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defRPr sz="2025" b="1">
                <a:solidFill>
                  <a:srgbClr val="152B25"/>
                </a:solidFill>
                <a:latin typeface="Arial"/>
                <a:ea typeface="Arial"/>
                <a:cs typeface="Arial"/>
              </a:defRPr>
            </a:lvl1pPr>
            <a:lvl2pPr>
              <a:defRPr sz="2025" b="1">
                <a:solidFill>
                  <a:srgbClr val="152B25"/>
                </a:solidFill>
                <a:latin typeface="Arial"/>
                <a:ea typeface="Arial"/>
                <a:cs typeface="Arial"/>
              </a:defRPr>
            </a:lvl2pPr>
            <a:lvl3pPr>
              <a:defRPr sz="2025" b="1">
                <a:solidFill>
                  <a:srgbClr val="152B25"/>
                </a:solidFill>
                <a:latin typeface="Arial"/>
                <a:ea typeface="Arial"/>
                <a:cs typeface="Arial"/>
              </a:defRPr>
            </a:lvl3pPr>
            <a:lvl4pPr>
              <a:defRPr sz="2025" b="1">
                <a:solidFill>
                  <a:srgbClr val="152B25"/>
                </a:solidFill>
                <a:latin typeface="Arial"/>
                <a:ea typeface="Arial"/>
                <a:cs typeface="Arial"/>
              </a:defRPr>
            </a:lvl4pPr>
            <a:lvl5pPr>
              <a:defRPr sz="2025" b="1">
                <a:solidFill>
                  <a:srgbClr val="152B25"/>
                </a:solidFill>
                <a:latin typeface="Arial"/>
                <a:ea typeface="Arial"/>
                <a:cs typeface="Arial"/>
              </a:defRPr>
            </a:lvl5pPr>
            <a:lvl6pPr>
              <a:defRPr sz="2025" b="1">
                <a:solidFill>
                  <a:srgbClr val="152B25"/>
                </a:solidFill>
                <a:latin typeface="Arial"/>
                <a:ea typeface="Arial"/>
                <a:cs typeface="Arial"/>
              </a:defRPr>
            </a:lvl6pPr>
            <a:lvl7pPr>
              <a:defRPr sz="2025" b="1">
                <a:solidFill>
                  <a:srgbClr val="152B25"/>
                </a:solidFill>
                <a:latin typeface="Arial"/>
                <a:ea typeface="Arial"/>
                <a:cs typeface="Arial"/>
              </a:defRPr>
            </a:lvl7pPr>
            <a:lvl8pPr>
              <a:defRPr sz="2025" b="1">
                <a:solidFill>
                  <a:srgbClr val="152B25"/>
                </a:solidFill>
                <a:latin typeface="Arial"/>
                <a:ea typeface="Arial"/>
                <a:cs typeface="Arial"/>
              </a:defRPr>
            </a:lvl8pPr>
            <a:lvl9pPr>
              <a:defRPr sz="2025" b="1">
                <a:solidFill>
                  <a:srgbClr val="152B25"/>
                </a:solidFill>
                <a:latin typeface="Arial"/>
                <a:ea typeface="Arial"/>
                <a:cs typeface="Arial"/>
              </a:defRPr>
            </a:lvl9pPr>
          </a:lstStyle>
          <a:p xmlns:a="http://schemas.openxmlformats.org/drawingml/2006/main">
            <a:pPr>
              <a:defRPr sz="2025" b="1">
                <a:solidFill>
                  <a:srgbClr val="152B25"/>
                </a:solidFill>
                <a:latin typeface="Arial"/>
                <a:ea typeface="Arial"/>
                <a:cs typeface="Arial"/>
              </a:defRPr>
            </a:pPr>
            <a:r>
              <a:rPr sz="2025" b="1">
                <a:solidFill>
                  <a:srgbClr val="152B25"/>
                </a:solidFill>
                <a:latin typeface="Arial"/>
                <a:ea typeface="Arial"/>
                <a:cs typeface="Arial"/>
              </a:rPr>
              <a:t>Om Udumula</a:t>
            </a:r>
          </a:p>
        </p:txBody>
      </p:sp>
      <p:sp>
        <p:nvSpPr>
          <p:cNvPr id="9" name="">
            <a:extLst xmlns:a="http://schemas.openxmlformats.org/drawingml/2006/main">
              <a:ext uri="{FF2B5EF4-FFF2-40B4-BE49-F238E27FC236}">
                <a16:creationId xmlns:a16="http://schemas.microsoft.com/office/drawing/2014/main" id="{37FCE13C-6E24-49B2-9612-AF5EFAD477D4}"/>
              </a:ext>
            </a:extLst>
          </p:cNvPr>
          <p:cNvSpPr>
            <a:spLocks xmlns:a="http://schemas.openxmlformats.org/drawingml/2006/main" noGrp="1"/>
          </p:cNvSpPr>
          <p:nvPr/>
        </p:nvSpPr>
        <p:spPr>
          <a:xfrm xmlns:a="http://schemas.openxmlformats.org/drawingml/2006/main">
            <a:off x="6429375" y="2381250"/>
            <a:ext cx="49053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Frontend and shared state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Receipt/helper integration</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Regression tests and packaging</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Explain assistance and decisions</a:t>
            </a:r>
          </a:p>
        </p:txBody>
      </p:sp>
      <p:sp>
        <p:nvSpPr>
          <p:cNvPr id="10" name="">
            <a:extLst xmlns:a="http://schemas.openxmlformats.org/drawingml/2006/main">
              <a:ext uri="{FF2B5EF4-FFF2-40B4-BE49-F238E27FC236}">
                <a16:creationId xmlns:a16="http://schemas.microsoft.com/office/drawing/2014/main" id="{F7681EED-66E6-403A-BE7F-CC54B657C7ED}"/>
              </a:ext>
            </a:extLst>
          </p:cNvPr>
          <p:cNvSpPr>
            <a:spLocks xmlns:a="http://schemas.openxmlformats.org/drawingml/2006/main" noGrp="1"/>
          </p:cNvSpPr>
          <p:nvPr/>
        </p:nvSpPr>
        <p:spPr>
          <a:xfrm xmlns:a="http://schemas.openxmlformats.org/drawingml/2006/main">
            <a:off x="666750" y="52387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Historical board snapshots, peer revision and steady commit targets remain gaps.</a:t>
            </a:r>
          </a:p>
        </p:txBody>
      </p:sp>
    </p:spTree>
    <p:extLst>
      <p:ext uri="{BB962C8B-B14F-4D97-AF65-F5344CB8AC3E}">
        <p14:creationId xmlns:p14="http://schemas.microsoft.com/office/powerpoint/2010/main" val="1972596227"/>
      </p:ext>
    </p:extLst>
  </p:cSld>
  <p:transition spd="med">
    <p:fade/>
  </p:transition>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FDC187-C7DE-4480-AF6E-FB8B3994737F}"/>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Final handoff and next iteration</a:t>
            </a:r>
          </a:p>
        </p:txBody>
      </p:sp>
      <p:sp>
        <p:nvSpPr>
          <p:cNvPr id="2" name="">
            <a:extLst xmlns:a="http://schemas.openxmlformats.org/drawingml/2006/main">
              <a:ext uri="{FF2B5EF4-FFF2-40B4-BE49-F238E27FC236}">
                <a16:creationId xmlns:a16="http://schemas.microsoft.com/office/drawing/2014/main" id="{E2E8431E-367F-4DDF-8331-9C6CA2B8521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69113859-A473-4C81-823F-790D25AA86EB}"/>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E6BC15B0-B0F2-4792-93CB-888A00A38FA3}"/>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Explain actual work and one challenge each.</a:t>
            </a:r>
          </a:p>
        </p:txBody>
      </p:sp>
      <p:sp>
        <p:nvSpPr>
          <p:cNvPr id="5" name="">
            <a:extLst xmlns:a="http://schemas.openxmlformats.org/drawingml/2006/main">
              <a:ext uri="{FF2B5EF4-FFF2-40B4-BE49-F238E27FC236}">
                <a16:creationId xmlns:a16="http://schemas.microsoft.com/office/drawing/2014/main" id="{94CD18D5-0368-4CCD-B9D0-484E85C1B27B}"/>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Keep historical evidence gaps disclosed.</a:t>
            </a:r>
          </a:p>
        </p:txBody>
      </p:sp>
      <p:sp>
        <p:nvSpPr>
          <p:cNvPr id="6" name="">
            <a:extLst xmlns:a="http://schemas.openxmlformats.org/drawingml/2006/main">
              <a:ext uri="{FF2B5EF4-FFF2-40B4-BE49-F238E27FC236}">
                <a16:creationId xmlns:a16="http://schemas.microsoft.com/office/drawing/2014/main" id="{A1B2FFA7-9FE0-4C65-AF9D-C835DE68D2EA}"/>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Upload questions before recording and verify video access.</a:t>
            </a:r>
          </a:p>
        </p:txBody>
      </p:sp>
      <p:sp>
        <p:nvSpPr>
          <p:cNvPr id="7" name="">
            <a:extLst xmlns:a="http://schemas.openxmlformats.org/drawingml/2006/main">
              <a:ext uri="{FF2B5EF4-FFF2-40B4-BE49-F238E27FC236}">
                <a16:creationId xmlns:a16="http://schemas.microsoft.com/office/drawing/2014/main" id="{7D196A8E-443F-45E5-867C-0DD278FED68B}"/>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defRPr sz="2175" b="0">
                <a:solidFill>
                  <a:srgbClr val="152B25"/>
                </a:solidFill>
                <a:latin typeface="Arial"/>
                <a:ea typeface="Arial"/>
                <a:cs typeface="Arial"/>
              </a:defRPr>
            </a:lvl1pPr>
            <a:lvl2pPr>
              <a:defRPr sz="2175" b="0">
                <a:solidFill>
                  <a:srgbClr val="152B25"/>
                </a:solidFill>
                <a:latin typeface="Arial"/>
                <a:ea typeface="Arial"/>
                <a:cs typeface="Arial"/>
              </a:defRPr>
            </a:lvl2pPr>
            <a:lvl3pPr>
              <a:defRPr sz="2175" b="0">
                <a:solidFill>
                  <a:srgbClr val="152B25"/>
                </a:solidFill>
                <a:latin typeface="Arial"/>
                <a:ea typeface="Arial"/>
                <a:cs typeface="Arial"/>
              </a:defRPr>
            </a:lvl3pPr>
            <a:lvl4pPr>
              <a:defRPr sz="2175" b="0">
                <a:solidFill>
                  <a:srgbClr val="152B25"/>
                </a:solidFill>
                <a:latin typeface="Arial"/>
                <a:ea typeface="Arial"/>
                <a:cs typeface="Arial"/>
              </a:defRPr>
            </a:lvl4pPr>
            <a:lvl5pPr>
              <a:defRPr sz="2175" b="0">
                <a:solidFill>
                  <a:srgbClr val="152B25"/>
                </a:solidFill>
                <a:latin typeface="Arial"/>
                <a:ea typeface="Arial"/>
                <a:cs typeface="Arial"/>
              </a:defRPr>
            </a:lvl5pPr>
            <a:lvl6pPr>
              <a:defRPr sz="2175" b="0">
                <a:solidFill>
                  <a:srgbClr val="152B25"/>
                </a:solidFill>
                <a:latin typeface="Arial"/>
                <a:ea typeface="Arial"/>
                <a:cs typeface="Arial"/>
              </a:defRPr>
            </a:lvl6pPr>
            <a:lvl7pPr>
              <a:defRPr sz="2175" b="0">
                <a:solidFill>
                  <a:srgbClr val="152B25"/>
                </a:solidFill>
                <a:latin typeface="Arial"/>
                <a:ea typeface="Arial"/>
                <a:cs typeface="Arial"/>
              </a:defRPr>
            </a:lvl7pPr>
            <a:lvl8pPr>
              <a:defRPr sz="2175" b="0">
                <a:solidFill>
                  <a:srgbClr val="152B25"/>
                </a:solidFill>
                <a:latin typeface="Arial"/>
                <a:ea typeface="Arial"/>
                <a:cs typeface="Arial"/>
              </a:defRPr>
            </a:lvl8pPr>
            <a:lvl9pPr>
              <a:defRPr sz="2175" b="0">
                <a:solidFill>
                  <a:srgbClr val="152B25"/>
                </a:solidFill>
                <a:latin typeface="Arial"/>
                <a:ea typeface="Arial"/>
                <a:cs typeface="Arial"/>
              </a:defRPr>
            </a:lvl9pPr>
          </a:lstStyle>
          <a:p xmlns:a="http://schemas.openxmlformats.org/drawingml/2006/main">
            <a:pPr>
              <a:defRPr sz="2175" b="0">
                <a:solidFill>
                  <a:srgbClr val="152B25"/>
                </a:solidFill>
                <a:latin typeface="Arial"/>
                <a:ea typeface="Arial"/>
                <a:cs typeface="Arial"/>
              </a:defRPr>
            </a:pPr>
            <a:r>
              <a:rPr sz="2175" b="0">
                <a:solidFill>
                  <a:srgbClr val="152B25"/>
                </a:solidFill>
                <a:latin typeface="Arial"/>
                <a:ea typeface="Arial"/>
                <a:cs typeface="Arial"/>
              </a:rPr>
              <a:t>Both members submit the required files and links individually.</a:t>
            </a:r>
          </a:p>
        </p:txBody>
      </p:sp>
    </p:spTree>
    <p:extLst>
      <p:ext uri="{BB962C8B-B14F-4D97-AF65-F5344CB8AC3E}">
        <p14:creationId xmlns:p14="http://schemas.microsoft.com/office/powerpoint/2010/main" val="710047497"/>
      </p:ext>
    </p:extLst>
  </p:cSld>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2026-10-31T01:05:59.3940000Z</dcterms:created>
  <dcterms:modified xsi:type="dcterms:W3CDTF">2026-10-31T01:05:59.3940000Z</dcterms:modified>
</coreProperties>
</file>
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charts/chart1.xml" ContentType="application/vnd.openxmlformats-officedocument.drawingml.chart+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7a559af6ba64404" /><Relationship Type="http://schemas.openxmlformats.org/officeDocument/2006/relationships/extended-properties" Target="/docProps/app.xml" Id="R541cad331ab04ea5" /><Relationship Type="http://schemas.openxmlformats.org/officeDocument/2006/relationships/officeDocument" Target="/ppt/presentation.xml" Id="R576a4d95c5ee4b7c" /></Relationships>
</file>

<file path=ppt/presentation.xml><?xml version="1.0" encoding="utf-8"?>
<p:presentation xmlns:p="http://schemas.openxmlformats.org/presentationml/2006/main">
  <p:sldMasterIdLst>
    <p:sldMasterId xmlns:r="http://schemas.openxmlformats.org/officeDocument/2006/relationships" id="2147483648" r:id="R24ecff7215764f2d"/>
  </p:sldMasterIdLst>
  <p:notesMasterIdLst>
    <p:notesMasterId xmlns:r="http://schemas.openxmlformats.org/officeDocument/2006/relationships" r:id="R910c707372414a8a"/>
  </p:notesMasterIdLst>
  <p:sldIdLst>
    <p:sldId xmlns:r="http://schemas.openxmlformats.org/officeDocument/2006/relationships" id="256" r:id="Re34a97aee5dc42e2"/>
    <p:sldId xmlns:r="http://schemas.openxmlformats.org/officeDocument/2006/relationships" id="257" r:id="R139774a8ed84419c"/>
    <p:sldId xmlns:r="http://schemas.openxmlformats.org/officeDocument/2006/relationships" id="258" r:id="R718b6f965395417f"/>
    <p:sldId xmlns:r="http://schemas.openxmlformats.org/officeDocument/2006/relationships" id="259" r:id="R5bfe4f6a8c024909"/>
    <p:sldId xmlns:r="http://schemas.openxmlformats.org/officeDocument/2006/relationships" id="260" r:id="Re8133df7bcc34b18"/>
    <p:sldId xmlns:r="http://schemas.openxmlformats.org/officeDocument/2006/relationships" id="261" r:id="Rf0b5da71992a4ae1"/>
    <p:sldId xmlns:r="http://schemas.openxmlformats.org/officeDocument/2006/relationships" id="262" r:id="Ra3a35cb5cf3f4849"/>
    <p:sldId xmlns:r="http://schemas.openxmlformats.org/officeDocument/2006/relationships" id="263" r:id="Rce58689e3b0b4738"/>
    <p:sldId xmlns:r="http://schemas.openxmlformats.org/officeDocument/2006/relationships" id="264" r:id="R3fd8850783924bf3"/>
    <p:sldId xmlns:r="http://schemas.openxmlformats.org/officeDocument/2006/relationships" id="265" r:id="R5f2ccd72cf994852"/>
    <p:sldId xmlns:r="http://schemas.openxmlformats.org/officeDocument/2006/relationships" id="266" r:id="R43be82dd71d84575"/>
    <p:sldId xmlns:r="http://schemas.openxmlformats.org/officeDocument/2006/relationships" id="267" r:id="Re59e87e69e44460c"/>
    <p:sldId xmlns:r="http://schemas.openxmlformats.org/officeDocument/2006/relationships" id="268" r:id="R1921922747df4fbf"/>
    <p:sldId xmlns:r="http://schemas.openxmlformats.org/officeDocument/2006/relationships" id="269" r:id="R9611734b926a4e91"/>
    <p:sldId xmlns:r="http://schemas.openxmlformats.org/officeDocument/2006/relationships" id="270" r:id="R68e1afc839694519"/>
    <p:sldId xmlns:r="http://schemas.openxmlformats.org/officeDocument/2006/relationships" id="271" r:id="Re4cda52b9b304b28"/>
    <p:sldId xmlns:r="http://schemas.openxmlformats.org/officeDocument/2006/relationships" id="272" r:id="R894d59db03304421"/>
    <p:sldId xmlns:r="http://schemas.openxmlformats.org/officeDocument/2006/relationships" id="273" r:id="Rf51531211a6c440f"/>
    <p:sldId xmlns:r="http://schemas.openxmlformats.org/officeDocument/2006/relationships" id="274" r:id="Ra2b1548c44164785"/>
    <p:sldId xmlns:r="http://schemas.openxmlformats.org/officeDocument/2006/relationships" id="275" r:id="R3e97851a09a84df5"/>
    <p:sldId xmlns:r="http://schemas.openxmlformats.org/officeDocument/2006/relationships" id="276" r:id="R27b157bed4334cdd"/>
    <p:sldId xmlns:r="http://schemas.openxmlformats.org/officeDocument/2006/relationships" id="277" r:id="R23e6ba5c6a894e42"/>
    <p:sldId xmlns:r="http://schemas.openxmlformats.org/officeDocument/2006/relationships" id="278" r:id="Rc37183d777af4198"/>
    <p:sldId xmlns:r="http://schemas.openxmlformats.org/officeDocument/2006/relationships" id="279" r:id="R453b45b470e74638"/>
    <p:sldId xmlns:r="http://schemas.openxmlformats.org/officeDocument/2006/relationships" id="280" r:id="Rdd3a74b4677f49ed"/>
    <p:sldId xmlns:r="http://schemas.openxmlformats.org/officeDocument/2006/relationships" id="281" r:id="Rbad76e1f129c4e1f"/>
    <p:sldId xmlns:r="http://schemas.openxmlformats.org/officeDocument/2006/relationships" id="282" r:id="R10f770cdbfc94d4e"/>
    <p:sldId xmlns:r="http://schemas.openxmlformats.org/officeDocument/2006/relationships" id="283" r:id="R184c390874ac4e4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0a1d73edc2f48fd" /><Relationship Type="http://schemas.openxmlformats.org/officeDocument/2006/relationships/slideMaster" Target="/ppt/slideMasters/slideMaster1.xml" Id="R24ecff7215764f2d" /><Relationship Type="http://schemas.openxmlformats.org/officeDocument/2006/relationships/notesMaster" Target="/ppt/notesMasters/notesMaster1.xml" Id="R910c707372414a8a" /><Relationship Type="http://schemas.openxmlformats.org/officeDocument/2006/relationships/presProps" Target="/ppt/presProps.xml" Id="R707e5b6421184134" /><Relationship Type="http://schemas.openxmlformats.org/officeDocument/2006/relationships/tableStyles" Target="/ppt/tableStyles.xml" Id="Rfed859cd4dc4491c" /><Relationship Type="http://schemas.openxmlformats.org/officeDocument/2006/relationships/slide" Target="/ppt/slides/slide1.xml" Id="Re34a97aee5dc42e2" /><Relationship Type="http://schemas.openxmlformats.org/officeDocument/2006/relationships/slide" Target="/ppt/slides/slide2.xml" Id="R139774a8ed84419c" /><Relationship Type="http://schemas.openxmlformats.org/officeDocument/2006/relationships/slide" Target="/ppt/slides/slide3.xml" Id="R718b6f965395417f" /><Relationship Type="http://schemas.openxmlformats.org/officeDocument/2006/relationships/slide" Target="/ppt/slides/slide4.xml" Id="R5bfe4f6a8c024909" /><Relationship Type="http://schemas.openxmlformats.org/officeDocument/2006/relationships/slide" Target="/ppt/slides/slide5.xml" Id="Re8133df7bcc34b18" /><Relationship Type="http://schemas.openxmlformats.org/officeDocument/2006/relationships/slide" Target="/ppt/slides/slide6.xml" Id="Rf0b5da71992a4ae1" /><Relationship Type="http://schemas.openxmlformats.org/officeDocument/2006/relationships/slide" Target="/ppt/slides/slide7.xml" Id="Ra3a35cb5cf3f4849" /><Relationship Type="http://schemas.openxmlformats.org/officeDocument/2006/relationships/slide" Target="/ppt/slides/slide8.xml" Id="Rce58689e3b0b4738" /><Relationship Type="http://schemas.openxmlformats.org/officeDocument/2006/relationships/slide" Target="/ppt/slides/slide9.xml" Id="R3fd8850783924bf3" /><Relationship Type="http://schemas.openxmlformats.org/officeDocument/2006/relationships/slide" Target="/ppt/slides/slide10.xml" Id="R5f2ccd72cf994852" /><Relationship Type="http://schemas.openxmlformats.org/officeDocument/2006/relationships/slide" Target="/ppt/slides/slide11.xml" Id="R43be82dd71d84575" /><Relationship Type="http://schemas.openxmlformats.org/officeDocument/2006/relationships/slide" Target="/ppt/slides/slide12.xml" Id="Re59e87e69e44460c" /><Relationship Type="http://schemas.openxmlformats.org/officeDocument/2006/relationships/slide" Target="/ppt/slides/slide13.xml" Id="R1921922747df4fbf" /><Relationship Type="http://schemas.openxmlformats.org/officeDocument/2006/relationships/slide" Target="/ppt/slides/slide14.xml" Id="R9611734b926a4e91" /><Relationship Type="http://schemas.openxmlformats.org/officeDocument/2006/relationships/slide" Target="/ppt/slides/slide15.xml" Id="R68e1afc839694519" /><Relationship Type="http://schemas.openxmlformats.org/officeDocument/2006/relationships/slide" Target="/ppt/slides/slide16.xml" Id="Re4cda52b9b304b28" /><Relationship Type="http://schemas.openxmlformats.org/officeDocument/2006/relationships/slide" Target="/ppt/slides/slide17.xml" Id="R894d59db03304421" /><Relationship Type="http://schemas.openxmlformats.org/officeDocument/2006/relationships/slide" Target="/ppt/slides/slide18.xml" Id="Rf51531211a6c440f" /><Relationship Type="http://schemas.openxmlformats.org/officeDocument/2006/relationships/slide" Target="/ppt/slides/slide19.xml" Id="Ra2b1548c44164785" /><Relationship Type="http://schemas.openxmlformats.org/officeDocument/2006/relationships/slide" Target="/ppt/slides/slide20.xml" Id="R3e97851a09a84df5" /><Relationship Type="http://schemas.openxmlformats.org/officeDocument/2006/relationships/slide" Target="/ppt/slides/slide21.xml" Id="R27b157bed4334cdd" /><Relationship Type="http://schemas.openxmlformats.org/officeDocument/2006/relationships/slide" Target="/ppt/slides/slide22.xml" Id="R23e6ba5c6a894e42" /><Relationship Type="http://schemas.openxmlformats.org/officeDocument/2006/relationships/slide" Target="/ppt/slides/slide23.xml" Id="Rc37183d777af4198" /><Relationship Type="http://schemas.openxmlformats.org/officeDocument/2006/relationships/slide" Target="/ppt/slides/slide24.xml" Id="R453b45b470e74638" /><Relationship Type="http://schemas.openxmlformats.org/officeDocument/2006/relationships/slide" Target="/ppt/slides/slide25.xml" Id="Rdd3a74b4677f49ed" /><Relationship Type="http://schemas.openxmlformats.org/officeDocument/2006/relationships/slide" Target="/ppt/slides/slide26.xml" Id="Rbad76e1f129c4e1f" /><Relationship Type="http://schemas.openxmlformats.org/officeDocument/2006/relationships/slide" Target="/ppt/slides/slide27.xml" Id="R10f770cdbfc94d4e" /><Relationship Type="http://schemas.openxmlformats.org/officeDocument/2006/relationships/slide" Target="/ppt/slides/slide28.xml" Id="R184c390874ac4e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365e4b5632e43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ce6ccc2576424c" /><Relationship Type="http://schemas.openxmlformats.org/officeDocument/2006/relationships/notesMaster" Target="/ppt/notesMasters/notesMaster1.xml" Id="R119f74f5891a4444" /></Relationships>
</file>

<file path=ppt/notesSlides/_rels/notesSlide2.xml.rels>&#65279;<?xml version="1.0" encoding="utf-8"?><Relationships xmlns="http://schemas.openxmlformats.org/package/2006/relationships"><Relationship Type="http://schemas.openxmlformats.org/officeDocument/2006/relationships/slide" Target="/ppt/slides/slide2.xml" Id="R804227aa2e22494b" /><Relationship Type="http://schemas.openxmlformats.org/officeDocument/2006/relationships/notesMaster" Target="/ppt/notesMasters/notesMaster1.xml" Id="R34cd68671e4d43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00ad84f2844ee8" /><Relationship Type="http://schemas.openxmlformats.org/officeDocument/2006/relationships/notesMaster" Target="/ppt/notesMasters/notesMaster1.xml" Id="Re591f3cd018a4ab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9c552198a246b5" /><Relationship Type="http://schemas.openxmlformats.org/officeDocument/2006/relationships/notesMaster" Target="/ppt/notesMasters/notesMaster1.xml" Id="R0031efc11dee4ec4"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a281d3794a42ed" /><Relationship Type="http://schemas.openxmlformats.org/officeDocument/2006/relationships/notesMaster" Target="/ppt/notesMasters/notesMaster1.xml" Id="Rfb6cab9fa25943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2915820bf244258" /><Relationship Type="http://schemas.openxmlformats.org/officeDocument/2006/relationships/notesMaster" Target="/ppt/notesMasters/notesMaster1.xml" Id="R62875dec04e84c1b" /></Relationships>
</file>

<file path=ppt/notesSlides/_rels/notesSlide7.xml.rels>&#65279;<?xml version="1.0" encoding="utf-8"?><Relationships xmlns="http://schemas.openxmlformats.org/package/2006/relationships"><Relationship Type="http://schemas.openxmlformats.org/officeDocument/2006/relationships/slide" Target="/ppt/slides/slide7.xml" Id="R32533a3416a641f9" /><Relationship Type="http://schemas.openxmlformats.org/officeDocument/2006/relationships/notesMaster" Target="/ppt/notesMasters/notesMaster1.xml" Id="Re1081de30498434b" /></Relationships>
</file>

<file path=ppt/notesSlides/_rels/notesSlide8.xml.rels>&#65279;<?xml version="1.0" encoding="utf-8"?><Relationships xmlns="http://schemas.openxmlformats.org/package/2006/relationships"><Relationship Type="http://schemas.openxmlformats.org/officeDocument/2006/relationships/slide" Target="/ppt/slides/slide8.xml" Id="R718ae743793e48cb" /><Relationship Type="http://schemas.openxmlformats.org/officeDocument/2006/relationships/notesMaster" Target="/ppt/notesMasters/notesMaster1.xml" Id="R48605ba34ff84f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be3080b2f3f44bf" /><Relationship Type="http://schemas.openxmlformats.org/officeDocument/2006/relationships/notesMaster" Target="/ppt/notesMasters/notesMaster1.xml" Id="R5316fed3aa56409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502b1c96a464759" /><Relationship Type="http://schemas.openxmlformats.org/officeDocument/2006/relationships/notesMaster" Target="/ppt/notesMasters/notesMaster1.xml" Id="Rf3fc3380db2140d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ad75b2415bc4d12" /><Relationship Type="http://schemas.openxmlformats.org/officeDocument/2006/relationships/notesMaster" Target="/ppt/notesMasters/notesMaster1.xml" Id="Re6329bbfe9204e0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307390b15f943a5" /><Relationship Type="http://schemas.openxmlformats.org/officeDocument/2006/relationships/notesMaster" Target="/ppt/notesMasters/notesMaster1.xml" Id="R681fd582a0d544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c1997a2dbfd4d5e" /><Relationship Type="http://schemas.openxmlformats.org/officeDocument/2006/relationships/notesMaster" Target="/ppt/notesMasters/notesMaster1.xml" Id="R60b69277951348f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f96db59bf1f4107" /><Relationship Type="http://schemas.openxmlformats.org/officeDocument/2006/relationships/notesMaster" Target="/ppt/notesMasters/notesMaster1.xml" Id="Rca3940e556944b0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7a55bc52cc44685" /><Relationship Type="http://schemas.openxmlformats.org/officeDocument/2006/relationships/notesMaster" Target="/ppt/notesMasters/notesMaster1.xml" Id="R86b76fa5b84049f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d15084513248b6" /><Relationship Type="http://schemas.openxmlformats.org/officeDocument/2006/relationships/notesMaster" Target="/ppt/notesMasters/notesMaster1.xml" Id="R30aae5d443c3493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0a59a3846334471" /><Relationship Type="http://schemas.openxmlformats.org/officeDocument/2006/relationships/notesMaster" Target="/ppt/notesMasters/notesMaster1.xml" Id="R34445dd94c1f429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18fa4cde84a4219" /><Relationship Type="http://schemas.openxmlformats.org/officeDocument/2006/relationships/notesMaster" Target="/ppt/notesMasters/notesMaster1.xml" Id="R0021e5a145954f2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a99b0ccf0aa4925" /><Relationship Type="http://schemas.openxmlformats.org/officeDocument/2006/relationships/notesMaster" Target="/ppt/notesMasters/notesMaster1.xml" Id="R57d6e1f37c73408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5e9a06c6b834cfe" /><Relationship Type="http://schemas.openxmlformats.org/officeDocument/2006/relationships/notesMaster" Target="/ppt/notesMasters/notesMaster1.xml" Id="Rbdf2857899c54ad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bd9613c5cf94703" /><Relationship Type="http://schemas.openxmlformats.org/officeDocument/2006/relationships/notesMaster" Target="/ppt/notesMasters/notesMaster1.xml" Id="R60eaf08d97834e9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259d6daf563468e" /><Relationship Type="http://schemas.openxmlformats.org/officeDocument/2006/relationships/notesMaster" Target="/ppt/notesMasters/notesMaster1.xml" Id="R4235fab07b4a4b0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3c9c5e48e843b5" /><Relationship Type="http://schemas.openxmlformats.org/officeDocument/2006/relationships/notesMaster" Target="/ppt/notesMasters/notesMaster1.xml" Id="R862ad68f5d234df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31df2ea16d7431d" /><Relationship Type="http://schemas.openxmlformats.org/officeDocument/2006/relationships/notesMaster" Target="/ppt/notesMasters/notesMaster1.xml" Id="R23ca507e6d13446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0a32a91c92d4324" /><Relationship Type="http://schemas.openxmlformats.org/officeDocument/2006/relationships/notesMaster" Target="/ppt/notesMasters/notesMaster1.xml" Id="R8503dea2435d4c0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987131bce7e47be" /><Relationship Type="http://schemas.openxmlformats.org/officeDocument/2006/relationships/notesMaster" Target="/ppt/notesMasters/notesMaster1.xml" Id="R77385393ce33466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b1a07db48dd4d7b" /><Relationship Type="http://schemas.openxmlformats.org/officeDocument/2006/relationships/notesMaster" Target="/ppt/notesMasters/notesMaster1.xml" Id="R0e3ed8b6af2b424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cfeec0f72044cea" /><Relationship Type="http://schemas.openxmlformats.org/officeDocument/2006/relationships/notesMaster" Target="/ppt/notesMasters/notesMaster1.xml" Id="Rf502a15ead27474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
            </a:r>
          </a:p>
          <a:p xmlns:a="http://schemas.openxmlformats.org/drawingml/2006/main">
            <a:r>
              <a:t>Hello everyone. We are AjxOm: Om Swaroop Reddy Udumula and Anton, or A.J., Orea. Our project, Budget Bites, helps students organize meals and track actual lunch spending offline.</a:t>
            </a:r>
          </a:p>
          <a:p xmlns:a="http://schemas.openxmlformats.org/drawingml/2006/main">
            <a:r>
              <a:t/>
            </a:r>
          </a:p>
          <a:p xmlns:a="http://schemas.openxmlformats.org/drawingml/2006/main">
            <a:r>
              <a:t>I will introduce our chosen project and briefly explain my frontend contributions. A.J. will lead the architecture and backend explanation, the remaining technical discussion and the full application demonstration.</a:t>
            </a:r>
          </a:p>
          <a:p xmlns:a="http://schemas.openxmlformats.org/drawingml/2006/main">
            <a:r>
              <a:t/>
            </a:r>
          </a:p>
          <a:p xmlns:a="http://schemas.openxmlformats.org/drawingml/2006/main">
            <a:r>
              <a:t>Our goal connects a planned lunch cost with an actual purchase, allowing students to compare their expectations with what they paid.</a:t>
            </a:r>
          </a:p>
          <a:p xmlns:a="http://schemas.openxmlformats.org/drawingml/2006/main">
            <a:r>
              <a:t/>
            </a:r>
          </a:p>
          <a:p xmlns:a="http://schemas.openxmlformats.org/drawingml/2006/main">
            <a:r>
              <a:t>Questions: R1.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
            </a:r>
          </a:p>
          <a:p xmlns:a="http://schemas.openxmlformats.org/drawingml/2006/main">
            <a:r>
              <a:t>We chose the Budget Bites brief, which focuses on campus food choices and personal budgeting. Students can forget a meal's price, its venue or what they paid last time, making repeated lunch decisions harder to manage.</a:t>
            </a:r>
          </a:p>
          <a:p xmlns:a="http://schemas.openxmlformats.org/drawingml/2006/main">
            <a:r>
              <a:t/>
            </a:r>
          </a:p>
          <a:p xmlns:a="http://schemas.openxmlformats.org/drawingml/2006/main">
            <a:r>
              <a:t>Our solution gives the student a personal catalog of meals and a separate purchase log. The catalog stores an estimated cost, while the log records the amount paid for a particular purchase. Keeping those values separate allows the student to correct history without rewriting a meal description.</a:t>
            </a:r>
          </a:p>
          <a:p xmlns:a="http://schemas.openxmlformats.org/drawingml/2006/main">
            <a:r>
              <a:t/>
            </a:r>
          </a:p>
          <a:p xmlns:a="http://schemas.openxmlformats.org/drawingml/2006/main">
            <a:r>
              <a:t>The application uses locally entered information and fictional starter meals. Venue notes and prices come from the user, and live restaurant price verification is outside our scope.</a:t>
            </a:r>
          </a:p>
          <a:p xmlns:a="http://schemas.openxmlformats.org/drawingml/2006/main">
            <a:r>
              <a:t/>
            </a:r>
          </a:p>
          <a:p xmlns:a="http://schemas.openxmlformats.org/drawingml/2006/main">
            <a:r>
              <a:t>Questions: Introduction.</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
            </a:r>
          </a:p>
          <a:p xmlns:a="http://schemas.openxmlformats.org/drawingml/2006/main">
            <a:r>
              <a:t>The brief requires five purposeful screen roles: a catalog, a create or edit form, a detail or activity flow, purchase history and settings. Both related data entities must support create, read, update and delete operations. Saved records and preferences must survive an application restart.</a:t>
            </a:r>
          </a:p>
          <a:p xmlns:a="http://schemas.openxmlformats.org/drawingml/2006/main">
            <a:r>
              <a:t/>
            </a:r>
          </a:p>
          <a:p xmlns:a="http://schemas.openxmlformats.org/drawingml/2006/main">
            <a:r>
              <a:t>We mapped those requirements to Meal and PurchaseLog in SQLite. A purchase belongs to a specific meal through its database ID. Simple preferences, including the lunch budget and dark mode, use SharedPreferences. This keeps settings separate from the two relational entities.</a:t>
            </a:r>
          </a:p>
          <a:p xmlns:a="http://schemas.openxmlformats.org/drawingml/2006/main">
            <a:r>
              <a:t/>
            </a:r>
          </a:p>
          <a:p xmlns:a="http://schemas.openxmlformats.org/drawingml/2006/main">
            <a:r>
              <a:t>Lunch Lens estimates a possible next cost from earlier purchases. It explains its inputs, allows dismissal and compares the estimate with the last observed price.</a:t>
            </a:r>
          </a:p>
          <a:p xmlns:a="http://schemas.openxmlformats.org/drawingml/2006/main">
            <a:r>
              <a:t/>
            </a:r>
          </a:p>
          <a:p xmlns:a="http://schemas.openxmlformats.org/drawingml/2006/main">
            <a:r>
              <a:t>Questions: D1, D2, R4.</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Introduction.</a:t>
            </a:r>
          </a:p>
          <a:p xmlns:a="http://schemas.openxmlformats.org/drawingml/2006/main">
            <a:r>
              <a:t/>
            </a:r>
          </a:p>
          <a:p xmlns:a="http://schemas.openxmlformats.org/drawingml/2006/main">
            <a:r>
              <a:t>Questions: I1, D1.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Architecture and backend.</a:t>
            </a:r>
          </a:p>
          <a:p xmlns:a="http://schemas.openxmlformats.org/drawingml/2006/main">
            <a:r>
              <a:t/>
            </a:r>
          </a:p>
          <a:p xmlns:a="http://schemas.openxmlformats.org/drawingml/2006/main">
            <a:r>
              <a:t>Questions: A1, R1.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
            </a:r>
          </a:p>
          <a:p xmlns:a="http://schemas.openxmlformats.org/drawingml/2006/main">
            <a:r>
              <a:t>My original work established the Meal model and the database functions for retrieving, adding, updating and deleting meals. I also created the standalone Meal History page. These pieces gave the project a consistent data structure and a starting point for displaying stored information.</a:t>
            </a:r>
          </a:p>
          <a:p xmlns:a="http://schemas.openxmlformats.org/drawingml/2006/main">
            <a:r>
              <a:t/>
            </a:r>
          </a:p>
          <a:p xmlns:a="http://schemas.openxmlformats.org/drawingml/2006/main">
            <a:r>
              <a:t>In the integrated application, the team extended that foundation with purchase logs, integer-cent prices and additional consistency checks. I will explain how the current backend works while distinguishing those shared integration changes from the original functions I contributed.</a:t>
            </a:r>
          </a:p>
          <a:p xmlns:a="http://schemas.openxmlformats.org/drawingml/2006/main">
            <a:r>
              <a:t/>
            </a:r>
          </a:p>
          <a:p xmlns:a="http://schemas.openxmlformats.org/drawingml/2006/main">
            <a:r>
              <a:t>MealDatabase provides one boundary for local SQLite access. The interface requests operations through it, while validation and database tests focus on the same boundary.</a:t>
            </a:r>
          </a:p>
          <a:p xmlns:a="http://schemas.openxmlformats.org/drawingml/2006/main">
            <a:r>
              <a:t/>
            </a:r>
          </a:p>
          <a:p xmlns:a="http://schemas.openxmlformats.org/drawingml/2006/main">
            <a:r>
              <a:t>Questions: A1, R1.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
            </a:r>
          </a:p>
          <a:p xmlns:a="http://schemas.openxmlformats.org/drawingml/2006/main">
            <a:r>
              <a:t>Questions: D1.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
            </a:r>
          </a:p>
          <a:p xmlns:a="http://schemas.openxmlformats.org/drawingml/2006/main">
            <a:r>
              <a:t>The meals table stores catalog information. The purchase_logs table stores actual receipts, including its own ID, the related mealId, the amount paid, a purchase timestamp, a note and a unique save token. One meal can therefore have many separate purchases.</a:t>
            </a:r>
          </a:p>
          <a:p xmlns:a="http://schemas.openxmlformats.org/drawingml/2006/main">
            <a:r>
              <a:t/>
            </a:r>
          </a:p>
          <a:p xmlns:a="http://schemas.openxmlformats.org/drawingml/2006/main">
            <a:r>
              <a:t>The foreign key connects each purchase to an existing meal. We enable foreign-key enforcement when opening the database. Parent deletion uses a restriction, so a meal with saved purchases cannot disappear while those receipts still depend on it. The interface explains which records need attention.</a:t>
            </a:r>
          </a:p>
          <a:p xmlns:a="http://schemas.openxmlformats.org/drawingml/2006/main">
            <a:r>
              <a:t/>
            </a:r>
          </a:p>
          <a:p xmlns:a="http://schemas.openxmlformats.org/drawingml/2006/main">
            <a:r>
              <a:t>Editing a catalog estimate leaves earlier actual amounts unchanged. Preferences use SharedPreferences, and favorites remain a Meal field, keeping the relational model to two entities.</a:t>
            </a:r>
          </a:p>
          <a:p xmlns:a="http://schemas.openxmlformats.org/drawingml/2006/main">
            <a:r>
              <a:t/>
            </a:r>
          </a:p>
          <a:p xmlns:a="http://schemas.openxmlformats.org/drawingml/2006/main">
            <a:r>
              <a:t>Questions: D1.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
            </a:r>
          </a:p>
          <a:p xmlns:a="http://schemas.openxmlformats.org/drawingml/2006/main">
            <a:r>
              <a:t>Questions: D1.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
            </a:r>
          </a:p>
          <a:p xmlns:a="http://schemas.openxmlformats.org/drawingml/2006/main">
            <a:r>
              <a:t>Questions: D1.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
            </a:r>
          </a:p>
          <a:p xmlns:a="http://schemas.openxmlformats.org/drawingml/2006/main">
            <a:r>
              <a:t>Required names and venue notes cannot be blank. The money parser accepts dollar input with up to two decimal places and converts it into integer cents. SQLite adds stored-type and range checks.</a:t>
            </a:r>
          </a:p>
          <a:p xmlns:a="http://schemas.openxmlformats.org/drawingml/2006/main">
            <a:r>
              <a:t/>
            </a:r>
          </a:p>
          <a:p xmlns:a="http://schemas.openxmlformats.org/drawingml/2006/main">
            <a:r>
              <a:t>The integrated database uses version two. Its migration preserves the original version-one meal rows and their IDs while converting the earlier decimal dollar prices into integer cents. Keeping the IDs matters because they identify the same meals before and after the upgrade.</a:t>
            </a:r>
          </a:p>
          <a:p xmlns:a="http://schemas.openxmlformats.org/drawingml/2006/main">
            <a:r>
              <a:t/>
            </a:r>
          </a:p>
          <a:p xmlns:a="http://schemas.openxmlformats.org/drawingml/2006/main">
            <a:r>
              <a:t>We checked the migration with an actual old-schema fixture on Android. That fixture preserves meal ID seventeen and converts a price of six dollars and fifty cents to 650 cents. This verifies preservation during an upgrade, in addition to testing a fresh database installation.</a:t>
            </a:r>
          </a:p>
          <a:p xmlns:a="http://schemas.openxmlformats.org/drawingml/2006/main">
            <a:r>
              <a:t/>
            </a:r>
          </a:p>
          <a:p xmlns:a="http://schemas.openxmlformats.org/drawingml/2006/main">
            <a:r>
              <a:t>Questions: D1, T2.</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
            </a:r>
          </a:p>
          <a:p xmlns:a="http://schemas.openxmlformats.org/drawingml/2006/main">
            <a:r>
              <a:t>Questions: T2, D1, R1.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Backend.</a:t>
            </a:r>
          </a:p>
          <a:p xmlns:a="http://schemas.openxmlformats.org/drawingml/2006/main">
            <a:r>
              <a:t/>
            </a:r>
          </a:p>
          <a:p xmlns:a="http://schemas.openxmlformats.org/drawingml/2006/main">
            <a:r>
              <a:t>The transaction checks the draft token before inserting. Retrying the same draft returns its existing receipt ID. A new purchase receives a new token. Om will now explain how the frontend connects these backend operations to the student's workflow.</a:t>
            </a:r>
          </a:p>
          <a:p xmlns:a="http://schemas.openxmlformats.org/drawingml/2006/main">
            <a:r>
              <a:t/>
            </a:r>
          </a:p>
          <a:p xmlns:a="http://schemas.openxmlformats.org/drawingml/2006/main">
            <a:r>
              <a:t>Questions: T2, D1.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
            </a:r>
          </a:p>
          <a:p xmlns:a="http://schemas.openxmlformats.org/drawingml/2006/main">
            <a:r>
              <a:t>My frontend work connects the student's actions to the shared data layer. Home provides meal search, a cuisine filter and a favorites filter. Add and Edit open the same meal form. View meal opens the planning activity, where the student can enter an actual purchase amount.</a:t>
            </a:r>
          </a:p>
          <a:p xmlns:a="http://schemas.openxmlformats.org/drawingml/2006/main">
            <a:r>
              <a:t/>
            </a:r>
          </a:p>
          <a:p xmlns:a="http://schemas.openxmlformats.org/drawingml/2006/main">
            <a:r>
              <a:t>History is the purchase log. It displays receipts with their amounts and dates and supports viewing, correction and deletion. Its selected filters determine the spending total. Settings provides the budget slider and a saved display preference, completing the five required screen roles.</a:t>
            </a:r>
          </a:p>
          <a:p xmlns:a="http://schemas.openxmlformats.org/drawingml/2006/main">
            <a:r>
              <a:t/>
            </a:r>
          </a:p>
          <a:p xmlns:a="http://schemas.openxmlformats.org/drawingml/2006/main">
            <a:r>
              <a:t>Stateless MealCard and EmptyView render supplied values and callbacks. Reusing them keeps presentation consistent when saved records change or a filter returns no results.</a:t>
            </a:r>
          </a:p>
          <a:p xmlns:a="http://schemas.openxmlformats.org/drawingml/2006/main">
            <a:r>
              <a:t/>
            </a:r>
          </a:p>
          <a:p xmlns:a="http://schemas.openxmlformats.org/drawingml/2006/main">
            <a:r>
              <a:t>Questions: I1, R1.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
            </a:r>
          </a:p>
          <a:p xmlns:a="http://schemas.openxmlformats.org/drawingml/2006/main">
            <a:r>
              <a:t>AppStore is our shared ChangeNotifier. It holds the loaded meals, purchases, budget and dark-mode value. After a successful database mutation, refreshing the store reloads current rows and notifies the interface. This allows multiple screens to reflect the same saved information.</a:t>
            </a:r>
          </a:p>
          <a:p xmlns:a="http://schemas.openxmlformats.org/drawingml/2006/main">
            <a:r>
              <a:t/>
            </a:r>
          </a:p>
          <a:p xmlns:a="http://schemas.openxmlformats.org/drawingml/2006/main">
            <a:r>
              <a:t>The forms use StatefulWidget for temporary input, validation and a pending-save flag. For example, dragging the budget slider shows a draft value immediately, while releasing it saves the preference. This separates interaction in progress from the value that has successfully reached local storage.</a:t>
            </a:r>
          </a:p>
          <a:p xmlns:a="http://schemas.openxmlformats.org/drawingml/2006/main">
            <a:r>
              <a:t/>
            </a:r>
          </a:p>
          <a:p xmlns:a="http://schemas.openxmlformats.org/drawingml/2006/main">
            <a:r>
              <a:t>We dispose controllers and check mounted after asynchronous operations. The application owns database lifetime, and AppStore suppresses notifications after disposal, reducing stale updates.</a:t>
            </a:r>
          </a:p>
          <a:p xmlns:a="http://schemas.openxmlformats.org/drawingml/2006/main">
            <a:r>
              <a:t/>
            </a:r>
          </a:p>
          <a:p xmlns:a="http://schemas.openxmlformats.org/drawingml/2006/main">
            <a:r>
              <a:t>Questions: I2, A1, A2.</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Om. Section: Frontend contributions.</a:t>
            </a:r>
          </a:p>
          <a:p xmlns:a="http://schemas.openxmlformats.org/drawingml/2006/main">
            <a:r>
              <a:t/>
            </a:r>
          </a:p>
          <a:p xmlns:a="http://schemas.openxmlformats.org/drawingml/2006/main">
            <a:r>
              <a:t>MealEditor handles both creation and updates. Editing loads the selected Meal's current values and retains its ID. Creating collects new values and receives a database-generated ID after saving.</a:t>
            </a:r>
          </a:p>
          <a:p xmlns:a="http://schemas.openxmlformats.org/drawingml/2006/main">
            <a:r>
              <a:t/>
            </a:r>
          </a:p>
          <a:p xmlns:a="http://schemas.openxmlformats.org/drawingml/2006/main">
            <a:r>
              <a:t>The form requires a meal name and venue note and validates the money fields before submitting. An inline message explains an invalid amount, so the student can correct the input instead of discovering the problem after leaving the page. All amounts have explicit USD labels.</a:t>
            </a:r>
          </a:p>
          <a:p xmlns:a="http://schemas.openxmlformats.org/drawingml/2006/main">
            <a:r>
              <a:t/>
            </a:r>
          </a:p>
          <a:p xmlns:a="http://schemas.openxmlformats.org/drawingml/2006/main">
            <a:r>
              <a:t>Saving and navigation wait for the asynchronous operation to finish. If a write fails, the form provides feedback and preserves the draft. Delete actions require confirmation, and linked purchase records produce a clear restriction message. This connects backend rules to understandable user feedback.</a:t>
            </a:r>
          </a:p>
          <a:p xmlns:a="http://schemas.openxmlformats.org/drawingml/2006/main">
            <a:r>
              <a:t/>
            </a:r>
          </a:p>
          <a:p xmlns:a="http://schemas.openxmlformats.org/drawingml/2006/main">
            <a:r>
              <a:t>Questions: I1, I2, T2.</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
            </a:r>
          </a:p>
          <a:p xmlns:a="http://schemas.openxmlformats.org/drawingml/2006/main">
            <a:r>
              <a:t>The activity begins with Start plan. The student enters the actual amount and explicitly chooses Save purchase and finish. An amount over the lunch budget triggers a confirmation. Reset asks for confirmation and discards the active unsaved draft while keeping saved purchase history available.</a:t>
            </a:r>
          </a:p>
          <a:p xmlns:a="http://schemas.openxmlformats.org/drawingml/2006/main">
            <a:r>
              <a:t/>
            </a:r>
          </a:p>
          <a:p xmlns:a="http://schemas.openxmlformats.org/drawingml/2006/main">
            <a:r>
              <a:t>Correcting a receipt refreshes its actual amount, spending total and dependent Lunch Lens result. The flow distinguishes current catalog estimates, unsaved drafts and saved receipts.</a:t>
            </a:r>
          </a:p>
          <a:p xmlns:a="http://schemas.openxmlformats.org/drawingml/2006/main">
            <a:r>
              <a:t/>
            </a:r>
          </a:p>
          <a:p xmlns:a="http://schemas.openxmlformats.org/drawingml/2006/main">
            <a:r>
              <a:t>The budget slider covers zero to thirty dollars in fifty-cent steps. SharedPreferences stores the budget and dark mode, while SQLite stores the meals and receipts. The application loads both kinds of saved information after a process restart, which we also demonstrate with networking disabled.</a:t>
            </a:r>
          </a:p>
          <a:p xmlns:a="http://schemas.openxmlformats.org/drawingml/2006/main">
            <a:r>
              <a:t/>
            </a:r>
          </a:p>
          <a:p xmlns:a="http://schemas.openxmlformats.org/drawingml/2006/main">
            <a:r>
              <a:t>Questions: I2, D1, D2.</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
            </a:r>
          </a:p>
          <a:p xmlns:a="http://schemas.openxmlformats.org/drawingml/2006/main">
            <a:r>
              <a:t>Questions: D1.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
            </a:r>
          </a:p>
          <a:p xmlns:a="http://schemas.openxmlformats.org/drawingml/2006/main">
            <a:r>
              <a:t>Lunch Lens is our local rule-based smart helper. A pure Dart function selects the three most recent earlier purchases of the selected meal. It sorts them by timestamp and uses the row ID to break equal-time ties. Other meals and later purchases do not enter that estimate.</a:t>
            </a:r>
          </a:p>
          <a:p xmlns:a="http://schemas.openxmlformats.org/drawingml/2006/main">
            <a:r>
              <a:t/>
            </a:r>
          </a:p>
          <a:p xmlns:a="http://schemas.openxmlformats.org/drawingml/2006/main">
            <a:r>
              <a:t>The helper calculates and rounds the mean in cents. It also reports the last-price baseline. The activity shows the input amounts and date range alongside its explanation.</a:t>
            </a:r>
          </a:p>
          <a:p xmlns:a="http://schemas.openxmlformats.org/drawingml/2006/main">
            <a:r>
              <a:t/>
            </a:r>
          </a:p>
          <a:p xmlns:a="http://schemas.openxmlformats.org/drawingml/2006/main">
            <a:r>
              <a:t>The student can dismiss the card with Not now and restore it later. The helper never overwrites the actual amount or saves a purchase by itself. Insufficient history produces a clear message. This gives the user a suggestion with a visible reason while preserving control over the recorded amount.</a:t>
            </a:r>
          </a:p>
          <a:p xmlns:a="http://schemas.openxmlformats.org/drawingml/2006/main">
            <a:r>
              <a:t/>
            </a:r>
          </a:p>
          <a:p xmlns:a="http://schemas.openxmlformats.org/drawingml/2006/main">
            <a:r>
              <a:t>Questions: R4, A1.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
            </a:r>
          </a:p>
          <a:p xmlns:a="http://schemas.openxmlformats.org/drawingml/2006/main">
            <a:r>
              <a:t>The pure function takes three earlier amounts and calculates their rounded mean in cents. In this recorded example, $7.50, $4.50 and $6.00 produce $6.00.</a:t>
            </a:r>
          </a:p>
          <a:p xmlns:a="http://schemas.openxmlformats.org/drawingml/2006/main">
            <a:r>
              <a:t/>
            </a:r>
          </a:p>
          <a:p xmlns:a="http://schemas.openxmlformats.org/drawingml/2006/main">
            <a:r>
              <a:t>Questions: R4, A1.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
            </a:r>
          </a:p>
          <a:p xmlns:a="http://schemas.openxmlformats.org/drawingml/2006/main">
            <a:r>
              <a:t>Normal, insufficient, invalid, boundary and counterexample cases test different behaviors. Empty and invalid cases assess feedback. They do not receive invented numeric error scores.</a:t>
            </a:r>
          </a:p>
          <a:p xmlns:a="http://schemas.openxmlformats.org/drawingml/2006/main">
            <a:r>
              <a:t/>
            </a:r>
          </a:p>
          <a:p xmlns:a="http://schemas.openxmlformats.org/drawingml/2006/main">
            <a:r>
              <a:t>Questions: R4, T1.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
            </a:r>
          </a:p>
          <a:p xmlns:a="http://schemas.openxmlformats.org/drawingml/2006/main">
            <a:r>
              <a:t>For the normal case, an earlier history of 450, 600 and 750 cents produces a 600-cent estimate. Against a later fictional reference of 650 cents, its absolute error is fifty cents. The last-price baseline predicts 750 cents and has an error of one hundred cents.</a:t>
            </a:r>
          </a:p>
          <a:p xmlns:a="http://schemas.openxmlformats.org/drawingml/2006/main">
            <a:r>
              <a:t/>
            </a:r>
          </a:p>
          <a:p xmlns:a="http://schemas.openxmlformats.org/drawingml/2006/main">
            <a:r>
              <a:t>The counterexample exposes the weakness of a mean. Inputs of 500, 2000 and 500 cents produce a 1000-cent estimate, although the reference is 500. Across the three valid numeric comparisons, the helper's mean absolute error is 183.33 cents, while the baseline's is 33.67 cents.</a:t>
            </a:r>
          </a:p>
          <a:p xmlns:a="http://schemas.openxmlformats.org/drawingml/2006/main">
            <a:r>
              <a:t/>
            </a:r>
          </a:p>
          <a:p xmlns:a="http://schemas.openxmlformats.org/drawingml/2006/main">
            <a:r>
              <a:t>The baseline wins on this tiny designed set. We retain the recipe's transparent mean and disclose its outlier sensitivity. A future median comparison needs new cases before any improvement claim.</a:t>
            </a:r>
          </a:p>
          <a:p xmlns:a="http://schemas.openxmlformats.org/drawingml/2006/main">
            <a:r>
              <a:t/>
            </a:r>
          </a:p>
          <a:p xmlns:a="http://schemas.openxmlformats.org/drawingml/2006/main">
            <a:r>
              <a:t>Questions: R4.</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
            </a:r>
          </a:p>
          <a:p xmlns:a="http://schemas.openxmlformats.org/drawingml/2006/main">
            <a:r>
              <a:t>Questions: T1, T2, D2.</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
            </a:r>
          </a:p>
          <a:p xmlns:a="http://schemas.openxmlformats.org/drawingml/2006/main">
            <a:r>
              <a:t>Questions: D2, T1.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Technical walkthrough.</a:t>
            </a:r>
          </a:p>
          <a:p xmlns:a="http://schemas.openxmlformats.org/drawingml/2006/main">
            <a:r>
              <a:t/>
            </a:r>
          </a:p>
          <a:p xmlns:a="http://schemas.openxmlformats.org/drawingml/2006/main">
            <a:r>
              <a:t>The main integration task was connecting my original database and History foundation to Om's frontend and the child purchase model. The team adapted History actions to use PurchaseLog IDs, connected it to AppStore and checked that filters, totals and corrections reflected current saved records.</a:t>
            </a:r>
          </a:p>
          <a:p xmlns:a="http://schemas.openxmlformats.org/drawingml/2006/main">
            <a:r>
              <a:t/>
            </a:r>
          </a:p>
          <a:p xmlns:a="http://schemas.openxmlformats.org/drawingml/2006/main">
            <a:r>
              <a:t>We preserved my original branch history and added History regression checks before merging. This creates a contribution trail and separates my original foundation from Om's frontend and integration focus.</a:t>
            </a:r>
          </a:p>
          <a:p xmlns:a="http://schemas.openxmlformats.org/drawingml/2006/main">
            <a:r>
              <a:t/>
            </a:r>
          </a:p>
          <a:p xmlns:a="http://schemas.openxmlformats.org/drawingml/2006/main">
            <a:r>
              <a:t>The preserved branch history, shared data ownership and focused regression tests connect both contributions into one working application. History totals, receipt actions and large-text behavior were checked after integration.</a:t>
            </a:r>
          </a:p>
          <a:p xmlns:a="http://schemas.openxmlformats.org/drawingml/2006/main">
            <a:r>
              <a:t/>
            </a:r>
          </a:p>
          <a:p xmlns:a="http://schemas.openxmlformats.org/drawingml/2006/main">
            <a:r>
              <a:t>Questions: R1, R2, A1.</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Future work.</a:t>
            </a:r>
          </a:p>
          <a:p xmlns:a="http://schemas.openxmlformats.org/drawingml/2006/main">
            <a:r>
              <a:t/>
            </a:r>
          </a:p>
          <a:p xmlns:a="http://schemas.openxmlformats.org/drawingml/2006/main">
            <a:r>
              <a:t>Our first improvement would be a more robust cost comparison. We would test a median against the current mean and last-price baseline on new chronological cases. That would help us decide whether a change handles unusual purchases more usefully without hiding how the suggestion works.</a:t>
            </a:r>
          </a:p>
          <a:p xmlns:a="http://schemas.openxmlformats.org/drawingml/2006/main">
            <a:r>
              <a:t/>
            </a:r>
          </a:p>
          <a:p xmlns:a="http://schemas.openxmlformats.org/drawingml/2006/main">
            <a:r>
              <a:t>We would also test on physical devices and more Android versions and arrange independent peer tasks. Those observations could reveal navigation problems, unclear messages or accessibility issues that our current emulator checks do not cover. We would record the feedback and verify any resulting revision.</a:t>
            </a:r>
          </a:p>
          <a:p xmlns:a="http://schemas.openxmlformats.org/drawingml/2006/main">
            <a:r>
              <a:t/>
            </a:r>
          </a:p>
          <a:p xmlns:a="http://schemas.openxmlformats.org/drawingml/2006/main">
            <a:r>
              <a:t>Weekly summaries and a local CSV export could make personal spending easier to review while preserving offline use. These are proposed improvements beyond the current release.</a:t>
            </a:r>
          </a:p>
          <a:p xmlns:a="http://schemas.openxmlformats.org/drawingml/2006/main">
            <a:r>
              <a:t/>
            </a:r>
          </a:p>
          <a:p xmlns:a="http://schemas.openxmlformats.org/drawingml/2006/main">
            <a:r>
              <a:t>Questions: R4.</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Repository and release.</a:t>
            </a:r>
          </a:p>
          <a:p xmlns:a="http://schemas.openxmlformats.org/drawingml/2006/main">
            <a:r>
              <a:t/>
            </a:r>
          </a:p>
          <a:p xmlns:a="http://schemas.openxmlformats.org/drawingml/2006/main">
            <a:r>
              <a:t>Our public GitHub repository contains the source and the evidence behind the application. The lib folder holds the screens, AppStore, SQLite boundary and domain rules. The test and integration_test folders contain checks at different levels, while docs and evidence explain the architecture and record actual results.</a:t>
            </a:r>
          </a:p>
          <a:p xmlns:a="http://schemas.openxmlformats.org/drawingml/2006/main">
            <a:r>
              <a:t/>
            </a:r>
          </a:p>
          <a:p xmlns:a="http://schemas.openxmlformats.org/drawingml/2006/main">
            <a:r>
              <a:t>The commit history preserves my original database and History contributions and Om's integration work. The release page provides the Android APK for direct installation. GitHub supports development and delivery, while the application itself reads its records from local device storage.</a:t>
            </a:r>
          </a:p>
          <a:p xmlns:a="http://schemas.openxmlformats.org/drawingml/2006/main">
            <a:r>
              <a:t/>
            </a:r>
          </a:p>
          <a:p xmlns:a="http://schemas.openxmlformats.org/drawingml/2006/main">
            <a:r>
              <a:t>The README links setup instructions and project resources. The architecture and helper documents explain the decisions and evaluation, allowing reviewers to connect application behavior with the supporting evidence.</a:t>
            </a:r>
          </a:p>
          <a:p xmlns:a="http://schemas.openxmlformats.org/drawingml/2006/main">
            <a:r>
              <a:t/>
            </a:r>
          </a:p>
          <a:p xmlns:a="http://schemas.openxmlformats.org/drawingml/2006/main">
            <a:r>
              <a:t>Questions: R1, R2.</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A.J.. Section: Live demo transition.</a:t>
            </a:r>
          </a:p>
          <a:p xmlns:a="http://schemas.openxmlformats.org/drawingml/2006/main">
            <a:r>
              <a:t/>
            </a:r>
          </a:p>
          <a:p xmlns:a="http://schemas.openxmlformats.org/drawingml/2006/main">
            <a:r>
              <a:t>That completes our explanation of the project, the backend foundation and the frontend integration. I will now switch from the slides to the running Android application and narrate the demonstration. Om will assist with the on-screen actions when needed.</a:t>
            </a:r>
          </a:p>
          <a:p xmlns:a="http://schemas.openxmlformats.org/drawingml/2006/main">
            <a:r>
              <a:t/>
            </a:r>
          </a:p>
          <a:p xmlns:a="http://schemas.openxmlformats.org/drawingml/2006/main">
            <a:r>
              <a:t>The demo follows a fictional meal through catalog entry, purchase and correction. It then shows Lunch Lens and verifies saved preferences and records after an offline restart.</a:t>
            </a:r>
          </a:p>
          <a:p xmlns:a="http://schemas.openxmlformats.org/drawingml/2006/main">
            <a:r>
              <a:t/>
            </a:r>
          </a:p>
          <a:p xmlns:a="http://schemas.openxmlformats.org/drawingml/2006/main">
            <a:r>
              <a:t>Thank you for following our presentation. I will now demonstrate Budget Bites, and we will take questions after the application walkthrough.</a:t>
            </a:r>
          </a:p>
          <a:p xmlns:a="http://schemas.openxmlformats.org/drawingml/2006/main">
            <a:r>
              <a:t/>
            </a:r>
          </a:p>
          <a:p xmlns:a="http://schemas.openxmlformats.org/drawingml/2006/main">
            <a:r>
              <a:t>Questions: D1, D2, R4.</a:t>
            </a:r>
          </a:p>
          <a:p xmlns:a="http://schemas.openxmlformats.org/drawingml/2006/main">
            <a:r>
              <a:t/>
            </a:r>
          </a:p>
          <a:p xmlns:a="http://schemas.openxmlformats.org/drawingml/2006/main">
            <a:r>
              <a:t>Sources: https://github.com/Omswaroopreddyudumula/ajxom-budget-bites; ARCHITECTURE.md; AI_FEATURE.md; docs/CONTRIBUTIONS.md; docs/TEST_RESULTS.md; final-prefixed evidence 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ea7b5b64fea45b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0ec924400084bc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2062462e85d434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8ac9cd60c31474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1d06980a54f49d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9e86fc1bbc042a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A05A74-3317-4324-879C-90F48FAA17C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5C99BC-C9AD-41BC-BF6D-9F0176FE778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A0C0C74-F2D4-4421-85A1-D5B62F06764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B50959-5496-4857-9071-C58AA89987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7AA42A7-8E4A-4589-BD69-482D5F46FB4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89CA50E-AC79-43FB-BF17-93B2192F3D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680ED7D-2A88-4686-B31B-3234E9ADE9C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93307A7-BD36-470B-B588-BC8896F9C04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075CD9-9C69-4EFB-8298-807273A54B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600402-7FDA-488B-B4EA-81531624F9A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d9d0bf07211472c" /><Relationship Type="http://schemas.openxmlformats.org/officeDocument/2006/relationships/slideLayout" Target="/ppt/slideLayouts/slideLayout1.xml" Id="R231ea580e8d04415" /><Relationship Type="http://schemas.openxmlformats.org/officeDocument/2006/relationships/slideLayout" Target="/ppt/slideLayouts/slideLayout2.xml" Id="Rf2bd7def17a546be" /><Relationship Type="http://schemas.openxmlformats.org/officeDocument/2006/relationships/slideLayout" Target="/ppt/slideLayouts/slideLayout3.xml" Id="R1ff7c8aa07f342a4" /><Relationship Type="http://schemas.openxmlformats.org/officeDocument/2006/relationships/slideLayout" Target="/ppt/slideLayouts/slideLayout4.xml" Id="Re155bae85dab4da4" /><Relationship Type="http://schemas.openxmlformats.org/officeDocument/2006/relationships/slideLayout" Target="/ppt/slideLayouts/slideLayout5.xml" Id="Rd20040b49eb0469e" /><Relationship Type="http://schemas.openxmlformats.org/officeDocument/2006/relationships/slideLayout" Target="/ppt/slideLayouts/slideLayout6.xml" Id="Rfd569d08319f4fc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1ea580e8d04415"/>
    <p:sldLayoutId xmlns:r="http://schemas.openxmlformats.org/officeDocument/2006/relationships" id="2147483650" r:id="Rf2bd7def17a546be"/>
    <p:sldLayoutId xmlns:r="http://schemas.openxmlformats.org/officeDocument/2006/relationships" id="2147483651" r:id="R1ff7c8aa07f342a4"/>
    <p:sldLayoutId xmlns:r="http://schemas.openxmlformats.org/officeDocument/2006/relationships" id="2147483652" r:id="Re155bae85dab4da4"/>
    <p:sldLayoutId xmlns:r="http://schemas.openxmlformats.org/officeDocument/2006/relationships" id="2147483653" r:id="Rd20040b49eb0469e"/>
    <p:sldLayoutId xmlns:r="http://schemas.openxmlformats.org/officeDocument/2006/relationships" id="2147483654" r:id="Rfd569d08319f4f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fc1f83193674f60" /><Relationship Type="http://schemas.openxmlformats.org/officeDocument/2006/relationships/image" Target="/ppt/media/image.png" Id="Rf6e8d3813bc14e68" /><Relationship Type="http://schemas.openxmlformats.org/officeDocument/2006/relationships/image" Target="/ppt/media/image2.png" Id="Rf38184f7890e4873" /><Relationship Type="http://schemas.openxmlformats.org/officeDocument/2006/relationships/notesSlide" Target="/ppt/notesSlides/notesSlide1.xml" Id="R5f49dc5c9f284f6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c29777a0c83406e" /><Relationship Type="http://schemas.openxmlformats.org/officeDocument/2006/relationships/image" Target="/ppt/media/image3.png" Id="R6b6f86375def4527" /><Relationship Type="http://schemas.openxmlformats.org/officeDocument/2006/relationships/notesSlide" Target="/ppt/notesSlides/notesSlide2.xml" Id="Rb9fe4d71c881437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c96a458a8ad4340" /><Relationship Type="http://schemas.openxmlformats.org/officeDocument/2006/relationships/notesSlide" Target="/ppt/notesSlides/notesSlide3.xml" Id="R1777a609f51e4e6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d90decc9cd54518" /><Relationship Type="http://schemas.openxmlformats.org/officeDocument/2006/relationships/image" Target="/ppt/media/image4.png" Id="R578a992130504f1e" /><Relationship Type="http://schemas.openxmlformats.org/officeDocument/2006/relationships/image" Target="/ppt/media/image5.png" Id="R5ac6ed7d887747f4" /><Relationship Type="http://schemas.openxmlformats.org/officeDocument/2006/relationships/image" Target="/ppt/media/image6.png" Id="R439e52dba7e04277" /><Relationship Type="http://schemas.openxmlformats.org/officeDocument/2006/relationships/image" Target="/ppt/media/image7.png" Id="R7f78333265424be1" /><Relationship Type="http://schemas.openxmlformats.org/officeDocument/2006/relationships/image" Target="/ppt/media/image8.png" Id="R49f29972dac746f2" /><Relationship Type="http://schemas.openxmlformats.org/officeDocument/2006/relationships/notesSlide" Target="/ppt/notesSlides/notesSlide4.xml" Id="R8be248f9b2c445c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6f6425c7d6842ce" /><Relationship Type="http://schemas.openxmlformats.org/officeDocument/2006/relationships/notesSlide" Target="/ppt/notesSlides/notesSlide5.xml" Id="R0308491d4ca748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df70a16d09f4390" /><Relationship Type="http://schemas.openxmlformats.org/officeDocument/2006/relationships/notesSlide" Target="/ppt/notesSlides/notesSlide6.xml" Id="R1e94fc2702b345e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f8b83126d164683" /><Relationship Type="http://schemas.openxmlformats.org/officeDocument/2006/relationships/notesSlide" Target="/ppt/notesSlides/notesSlide7.xml" Id="R3ca338ae597b484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6f23c63933948ce" /><Relationship Type="http://schemas.openxmlformats.org/officeDocument/2006/relationships/image" Target="/ppt/media/image9.png" Id="R955fca1dc3004c6b" /><Relationship Type="http://schemas.openxmlformats.org/officeDocument/2006/relationships/notesSlide" Target="/ppt/notesSlides/notesSlide8.xml" Id="Rac0616a50d6344f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1666dd5c56640ca" /><Relationship Type="http://schemas.openxmlformats.org/officeDocument/2006/relationships/notesSlide" Target="/ppt/notesSlides/notesSlide9.xml" Id="R2489e9f367814ef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aed8333c5e24f65" /><Relationship Type="http://schemas.openxmlformats.org/officeDocument/2006/relationships/notesSlide" Target="/ppt/notesSlides/notesSlide10.xml" Id="R78e0bf89aee645e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ad13a8db8d64175" /><Relationship Type="http://schemas.openxmlformats.org/officeDocument/2006/relationships/notesSlide" Target="/ppt/notesSlides/notesSlide11.xml" Id="R4031b103e8fe402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e301690d860470f" /><Relationship Type="http://schemas.openxmlformats.org/officeDocument/2006/relationships/notesSlide" Target="/ppt/notesSlides/notesSlide12.xml" Id="R917fdeabd2f442a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3f9db263d41458e" /><Relationship Type="http://schemas.openxmlformats.org/officeDocument/2006/relationships/notesSlide" Target="/ppt/notesSlides/notesSlide13.xml" Id="Rde9a823a94cc440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3802ddd87584081" /><Relationship Type="http://schemas.openxmlformats.org/officeDocument/2006/relationships/image" Target="/ppt/media/image10.png" Id="R6ac8423a31c248e7" /><Relationship Type="http://schemas.openxmlformats.org/officeDocument/2006/relationships/notesSlide" Target="/ppt/notesSlides/notesSlide14.xml" Id="Rc2cd78fb9569467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e6e2e7c52b34093" /><Relationship Type="http://schemas.openxmlformats.org/officeDocument/2006/relationships/notesSlide" Target="/ppt/notesSlides/notesSlide15.xml" Id="Rcea31e52eac74fc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aa3e3bf37a249f8" /><Relationship Type="http://schemas.openxmlformats.org/officeDocument/2006/relationships/image" Target="/ppt/media/image11.png" Id="Rb9f803e7a19743ad" /><Relationship Type="http://schemas.openxmlformats.org/officeDocument/2006/relationships/image" Target="/ppt/media/image12.png" Id="Ra13701a29ec94018" /><Relationship Type="http://schemas.openxmlformats.org/officeDocument/2006/relationships/notesSlide" Target="/ppt/notesSlides/notesSlide16.xml" Id="R9e76fef9428b425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e9ab512c9a94e08" /><Relationship Type="http://schemas.openxmlformats.org/officeDocument/2006/relationships/image" Target="/ppt/media/image13.png" Id="R352c09315d5e41b1" /><Relationship Type="http://schemas.openxmlformats.org/officeDocument/2006/relationships/notesSlide" Target="/ppt/notesSlides/notesSlide17.xml" Id="R63c577964b6f48b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f03575f076e458a" /><Relationship Type="http://schemas.openxmlformats.org/officeDocument/2006/relationships/image" Target="/ppt/media/image14.png" Id="Rbde628fc647b458f" /><Relationship Type="http://schemas.openxmlformats.org/officeDocument/2006/relationships/image" Target="/ppt/media/image15.png" Id="R941541a88a874c5b" /><Relationship Type="http://schemas.openxmlformats.org/officeDocument/2006/relationships/notesSlide" Target="/ppt/notesSlides/notesSlide18.xml" Id="R902016974d93483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bdcd91cedc34487" /><Relationship Type="http://schemas.openxmlformats.org/officeDocument/2006/relationships/image" Target="/ppt/media/image16.png" Id="Rb0dbd36597034b32" /><Relationship Type="http://schemas.openxmlformats.org/officeDocument/2006/relationships/notesSlide" Target="/ppt/notesSlides/notesSlide19.xml" Id="R8bacfb0f09de476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891c4b433094097" /><Relationship Type="http://schemas.openxmlformats.org/officeDocument/2006/relationships/notesSlide" Target="/ppt/notesSlides/notesSlide20.xml" Id="R54bbcf9ca5604aa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1bcbc070fda4e5a" /><Relationship Type="http://schemas.openxmlformats.org/officeDocument/2006/relationships/notesSlide" Target="/ppt/notesSlides/notesSlide21.xml" Id="R6b0aed2fd6a741f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383a7bdeedb41e7" /><Relationship Type="http://schemas.openxmlformats.org/officeDocument/2006/relationships/chart" Target="/ppt/slides/charts/chart1.xml" Id="R936c512f7d394d73" /><Relationship Type="http://schemas.openxmlformats.org/officeDocument/2006/relationships/notesSlide" Target="/ppt/notesSlides/notesSlide22.xml" Id="R8b6e713b32a147e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dd641e1fa894708" /><Relationship Type="http://schemas.openxmlformats.org/officeDocument/2006/relationships/notesSlide" Target="/ppt/notesSlides/notesSlide23.xml" Id="R5522dc8041cd4bf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cd56b3c557f44b1" /><Relationship Type="http://schemas.openxmlformats.org/officeDocument/2006/relationships/image" Target="/ppt/media/image17.png" Id="R371002a8c5d94f2a" /><Relationship Type="http://schemas.openxmlformats.org/officeDocument/2006/relationships/image" Target="/ppt/media/image18.png" Id="R4c2d6a6028d54de4" /><Relationship Type="http://schemas.openxmlformats.org/officeDocument/2006/relationships/notesSlide" Target="/ppt/notesSlides/notesSlide24.xml" Id="R7fb66f3f94814f7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a0558b8ed0941ce" /><Relationship Type="http://schemas.openxmlformats.org/officeDocument/2006/relationships/notesSlide" Target="/ppt/notesSlides/notesSlide25.xml" Id="Rd8050d7d3bc4453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41ffdb9595e4ed2" /><Relationship Type="http://schemas.openxmlformats.org/officeDocument/2006/relationships/notesSlide" Target="/ppt/notesSlides/notesSlide26.xml" Id="R9791392dfb20450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132a1aabb204da0" /><Relationship Type="http://schemas.openxmlformats.org/officeDocument/2006/relationships/hyperlink" Target="https://github.com/Omswaroopreddyudumula/ajxom-budget-bites" TargetMode="External" Id="R87f70dd3ea75477e" /><Relationship Type="http://schemas.openxmlformats.org/officeDocument/2006/relationships/notesSlide" Target="/ppt/notesSlides/notesSlide27.xml" Id="R21507e4416fe46e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14b3a3ba08947eb" /><Relationship Type="http://schemas.openxmlformats.org/officeDocument/2006/relationships/image" Target="/ppt/media/image19.png" Id="R032339773a6c435b" /><Relationship Type="http://schemas.openxmlformats.org/officeDocument/2006/relationships/notesSlide" Target="/ppt/notesSlides/notesSlide28.xml" Id="R9377c426c3ef40b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b="1">
                <a:solidFill>
                  <a:srgbClr val="152B25"/>
                </a:solidFill>
                <a:latin typeface="Arial"/>
                <a:ea typeface="Arial"/>
                <a:cs typeface="Arial"/>
              </a:rPr>
              <a:t>Mean absolute error (cents)</a:t>
            </a:r>
          </a:p>
        </c:rich>
      </c:tx>
      <c:overlay val="0"/>
      <c:txPr>
        <a:bodyPr xmlns:a="http://schemas.openxmlformats.org/drawingml/2006/main" anchorCtr="1"/>
        <a:lstStyle xmlns:a="http://schemas.openxmlformats.org/drawingml/2006/main"/>
        <a:p xmlns:a="http://schemas.openxmlformats.org/drawingml/2006/main">
          <a:pPr>
            <a:defRPr sz="1725" b="1">
              <a:solidFill>
                <a:srgbClr val="152B25"/>
              </a:solidFill>
              <a:latin typeface="Arial"/>
              <a:ea typeface="Arial"/>
              <a:cs typeface="Arial"/>
            </a:defRPr>
          </a:pPr>
        </a:p>
      </c:txPr>
    </c:title>
    <c:plotArea>
      <c:barChart>
        <c:barDir val="col"/>
        <c:grouping val="clustered"/>
        <c:varyColors val="0"/>
        <c:ser>
          <c:idx val="0"/>
          <c:order val="0"/>
          <c:tx>
            <c:v>Error in cents</c:v>
          </c:tx>
          <c:spPr>
            <a:solidFill xmlns:a="http://schemas.openxmlformats.org/drawingml/2006/main">
              <a:srgbClr val="176452"/>
            </a:solidFill>
          </c:spPr>
          <c:invertIfNegative val="0"/>
          <c:dPt>
            <c:idx val="0"/>
            <c:invertIfNegative val="0"/>
            <c:spPr>
              <a:solidFill xmlns:a="http://schemas.openxmlformats.org/drawingml/2006/main">
                <a:srgbClr val="C77C34"/>
              </a:solidFill>
            </c:spPr>
          </c:dPt>
          <c:dPt>
            <c:idx val="1"/>
            <c:invertIfNegative val="0"/>
            <c:spPr>
              <a:solidFill xmlns:a="http://schemas.openxmlformats.org/drawingml/2006/main">
                <a:srgbClr val="176452"/>
              </a:solidFill>
            </c:spPr>
          </c:dPt>
          <c:cat>
            <c:strRef>
              <c:f>'Chart Data'!$A$2:$A$3</c:f>
              <c:strCache>
                <c:ptCount val="2"/>
                <c:pt idx="0">
                  <c:v>Mean</c:v>
                </c:pt>
                <c:pt idx="1">
                  <c:v>Last price</c:v>
                </c:pt>
              </c:strCache>
            </c:strRef>
          </c:cat>
          <c:val>
            <c:numRef>
              <c:f>'Chart Data'!$B$2:$B$3</c:f>
              <c:numCache>
                <c:formatCode>General</c:formatCode>
                <c:ptCount val="2"/>
                <c:pt idx="0">
                  <c:v>183.33</c:v>
                </c:pt>
                <c:pt idx="1">
                  <c:v>33.67</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152B25"/>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9BBB1"/>
            </a:solidFill>
          </a:ln>
        </c:spPr>
        <c:txPr>
          <a:bodyPr xmlns:a="http://schemas.openxmlformats.org/drawingml/2006/main" anchorCtr="1"/>
          <a:lstStyle xmlns:a="http://schemas.openxmlformats.org/drawingml/2006/main"/>
          <a:p xmlns:a="http://schemas.openxmlformats.org/drawingml/2006/main">
            <a:pPr>
              <a:defRPr sz="1650">
                <a:solidFill>
                  <a:srgbClr val="152B25"/>
                </a:solidFill>
                <a:latin typeface="Arial"/>
                <a:ea typeface="Arial"/>
                <a:cs typeface="Arial"/>
              </a:defRPr>
            </a:pPr>
          </a:p>
        </c:txPr>
        <c:crossAx val="48672768"/>
      </c:catAx>
      <c:valAx>
        <c:axId val="48672768"/>
        <c:scaling>
          <c:orientation val="minMax"/>
          <c:max val="220"/>
          <c:min val="0"/>
        </c:scaling>
        <c:delete val="0"/>
        <c:axPos val="l"/>
        <c:majorGridlines>
          <c:spPr>
            <a:ln xmlns:a="http://schemas.openxmlformats.org/drawingml/2006/main" w="9525">
              <a:solidFill>
                <a:srgbClr val="D2DDD5"/>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4B6259"/>
                </a:solidFill>
                <a:latin typeface="Arial"/>
                <a:ea typeface="Arial"/>
                <a:cs typeface="Arial"/>
              </a:defRPr>
            </a:pPr>
          </a:p>
        </c:txPr>
        <c:crossAx val="48650112"/>
        <c:crossBetween val="between"/>
        <c:majorUnit val="50"/>
      </c:valAx>
      <c:spPr>
        <a:solidFill xmlns:a="http://schemas.openxmlformats.org/drawingml/2006/main">
          <a:srgbClr val="F6FAF7"/>
        </a:solidFill>
      </c:spPr>
    </c:plotArea>
    <c:plotVisOnly val="1"/>
  </c:chart>
  <c:spPr>
    <a:solidFill xmlns:a="http://schemas.openxmlformats.org/drawingml/2006/main">
      <a:srgbClr val="F6FAF7"/>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6F3E4DE-0F86-4CE2-A347-8CD576D76BBD}"/>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8A3B4875-F0BC-4BC4-908C-E8544ED693D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FFFFF"/>
                </a:solidFill>
                <a:latin typeface="Arial"/>
                <a:ea typeface="Arial"/>
                <a:cs typeface="Arial"/>
              </a:defRPr>
            </a:defPPr>
            <a:lvl1pPr>
              <a:buNone/>
              <a:defRPr sz="3900" b="1">
                <a:solidFill>
                  <a:srgbClr val="FFFFFF"/>
                </a:solidFill>
                <a:latin typeface="Arial"/>
                <a:ea typeface="Arial"/>
                <a:cs typeface="Arial"/>
              </a:defRPr>
            </a:lvl1pPr>
            <a:lvl2pPr>
              <a:buNone/>
              <a:defRPr sz="3900" b="1">
                <a:solidFill>
                  <a:srgbClr val="FFFFFF"/>
                </a:solidFill>
                <a:latin typeface="Arial"/>
                <a:ea typeface="Arial"/>
                <a:cs typeface="Arial"/>
              </a:defRPr>
            </a:lvl2pPr>
            <a:lvl3pPr>
              <a:buNone/>
              <a:defRPr sz="3900" b="1">
                <a:solidFill>
                  <a:srgbClr val="FFFFFF"/>
                </a:solidFill>
                <a:latin typeface="Arial"/>
                <a:ea typeface="Arial"/>
                <a:cs typeface="Arial"/>
              </a:defRPr>
            </a:lvl3pPr>
            <a:lvl4pPr>
              <a:buNone/>
              <a:defRPr sz="3900" b="1">
                <a:solidFill>
                  <a:srgbClr val="FFFFFF"/>
                </a:solidFill>
                <a:latin typeface="Arial"/>
                <a:ea typeface="Arial"/>
                <a:cs typeface="Arial"/>
              </a:defRPr>
            </a:lvl4pPr>
            <a:lvl5pPr>
              <a:buNone/>
              <a:defRPr sz="3900" b="1">
                <a:solidFill>
                  <a:srgbClr val="FFFFFF"/>
                </a:solidFill>
                <a:latin typeface="Arial"/>
                <a:ea typeface="Arial"/>
                <a:cs typeface="Arial"/>
              </a:defRPr>
            </a:lvl5pPr>
            <a:lvl6pPr>
              <a:buNone/>
              <a:defRPr sz="3900" b="1">
                <a:solidFill>
                  <a:srgbClr val="FFFFFF"/>
                </a:solidFill>
                <a:latin typeface="Arial"/>
                <a:ea typeface="Arial"/>
                <a:cs typeface="Arial"/>
              </a:defRPr>
            </a:lvl6pPr>
            <a:lvl7pPr>
              <a:buNone/>
              <a:defRPr sz="3900" b="1">
                <a:solidFill>
                  <a:srgbClr val="FFFFFF"/>
                </a:solidFill>
                <a:latin typeface="Arial"/>
                <a:ea typeface="Arial"/>
                <a:cs typeface="Arial"/>
              </a:defRPr>
            </a:lvl7pPr>
            <a:lvl8pPr>
              <a:buNone/>
              <a:defRPr sz="3900" b="1">
                <a:solidFill>
                  <a:srgbClr val="FFFFFF"/>
                </a:solidFill>
                <a:latin typeface="Arial"/>
                <a:ea typeface="Arial"/>
                <a:cs typeface="Arial"/>
              </a:defRPr>
            </a:lvl8pPr>
            <a:lvl9pPr>
              <a:buNone/>
              <a:defRPr sz="3900" b="1">
                <a:solidFill>
                  <a:srgbClr val="FFFFFF"/>
                </a:solidFill>
                <a:latin typeface="Arial"/>
                <a:ea typeface="Arial"/>
                <a:cs typeface="Arial"/>
              </a:defRPr>
            </a:lvl9pPr>
          </a:lstStyle>
          <a:p xmlns:a="http://schemas.openxmlformats.org/drawingml/2006/main">
            <a:pPr>
              <a:buNone/>
              <a:defRPr sz="3900" b="1">
                <a:solidFill>
                  <a:srgbClr val="FFFFFF"/>
                </a:solidFill>
                <a:latin typeface="Arial"/>
                <a:ea typeface="Arial"/>
                <a:cs typeface="Arial"/>
              </a:defRPr>
            </a:pPr>
            <a:r>
              <a:rPr sz="3900" b="1">
                <a:solidFill>
                  <a:srgbClr val="FFFFFF"/>
                </a:solidFill>
                <a:latin typeface="Arial"/>
                <a:ea typeface="Arial"/>
                <a:cs typeface="Arial"/>
              </a:rPr>
              <a:t>Budget Bites</a:t>
            </a:r>
          </a:p>
        </p:txBody>
      </p:sp>
      <p:sp>
        <p:nvSpPr>
          <p:cNvPr id="3" name="">
            <a:extLst xmlns:a="http://schemas.openxmlformats.org/drawingml/2006/main">
              <a:ext uri="{FF2B5EF4-FFF2-40B4-BE49-F238E27FC236}">
                <a16:creationId xmlns:a16="http://schemas.microsoft.com/office/drawing/2014/main" id="{B0A4BD2F-D067-4B50-82BF-E985326D4D0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61E314FA-F6A0-4635-89B8-DA562B3565C6}"/>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6524366F-9764-43B4-97A7-19E22873384A}"/>
              </a:ext>
            </a:extLst>
          </p:cNvPr>
          <p:cNvSpPr>
            <a:spLocks xmlns:a="http://schemas.openxmlformats.org/drawingml/2006/main" noGrp="1"/>
          </p:cNvSpPr>
          <p:nvPr/>
        </p:nvSpPr>
        <p:spPr>
          <a:xfrm xmlns:a="http://schemas.openxmlformats.org/drawingml/2006/main">
            <a:off x="609600" y="1828800"/>
            <a:ext cx="7048500" cy="426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buNone/>
              <a:defRPr sz="1875" b="0">
                <a:solidFill>
                  <a:srgbClr val="FFFFFF"/>
                </a:solidFill>
                <a:latin typeface="Arial"/>
                <a:ea typeface="Arial"/>
                <a:cs typeface="Arial"/>
              </a:defRPr>
            </a:lvl1pPr>
            <a:lvl2pPr>
              <a:buNone/>
              <a:defRPr sz="1875" b="0">
                <a:solidFill>
                  <a:srgbClr val="FFFFFF"/>
                </a:solidFill>
                <a:latin typeface="Arial"/>
                <a:ea typeface="Arial"/>
                <a:cs typeface="Arial"/>
              </a:defRPr>
            </a:lvl2pPr>
            <a:lvl3pPr>
              <a:buNone/>
              <a:defRPr sz="1875" b="0">
                <a:solidFill>
                  <a:srgbClr val="FFFFFF"/>
                </a:solidFill>
                <a:latin typeface="Arial"/>
                <a:ea typeface="Arial"/>
                <a:cs typeface="Arial"/>
              </a:defRPr>
            </a:lvl3pPr>
            <a:lvl4pPr>
              <a:buNone/>
              <a:defRPr sz="1875" b="0">
                <a:solidFill>
                  <a:srgbClr val="FFFFFF"/>
                </a:solidFill>
                <a:latin typeface="Arial"/>
                <a:ea typeface="Arial"/>
                <a:cs typeface="Arial"/>
              </a:defRPr>
            </a:lvl4pPr>
            <a:lvl5pPr>
              <a:buNone/>
              <a:defRPr sz="1875" b="0">
                <a:solidFill>
                  <a:srgbClr val="FFFFFF"/>
                </a:solidFill>
                <a:latin typeface="Arial"/>
                <a:ea typeface="Arial"/>
                <a:cs typeface="Arial"/>
              </a:defRPr>
            </a:lvl5pPr>
            <a:lvl6pPr>
              <a:buNone/>
              <a:defRPr sz="1875" b="0">
                <a:solidFill>
                  <a:srgbClr val="FFFFFF"/>
                </a:solidFill>
                <a:latin typeface="Arial"/>
                <a:ea typeface="Arial"/>
                <a:cs typeface="Arial"/>
              </a:defRPr>
            </a:lvl6pPr>
            <a:lvl7pPr>
              <a:buNone/>
              <a:defRPr sz="1875" b="0">
                <a:solidFill>
                  <a:srgbClr val="FFFFFF"/>
                </a:solidFill>
                <a:latin typeface="Arial"/>
                <a:ea typeface="Arial"/>
                <a:cs typeface="Arial"/>
              </a:defRPr>
            </a:lvl7pPr>
            <a:lvl8pPr>
              <a:buNone/>
              <a:defRPr sz="1875" b="0">
                <a:solidFill>
                  <a:srgbClr val="FFFFFF"/>
                </a:solidFill>
                <a:latin typeface="Arial"/>
                <a:ea typeface="Arial"/>
                <a:cs typeface="Arial"/>
              </a:defRPr>
            </a:lvl8pPr>
            <a:lvl9pPr>
              <a:buNone/>
              <a:defRPr sz="1875" b="0">
                <a:solidFill>
                  <a:srgbClr val="FFFFFF"/>
                </a:solidFill>
                <a:latin typeface="Arial"/>
                <a:ea typeface="Arial"/>
                <a:cs typeface="Arial"/>
              </a:defRPr>
            </a:lvl9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Hello everyone. We are AjxOm: Om Swaroop Reddy Udumula and Anton, or A.J., Orea. Our project, Budget Bites, helps students organize meals and track actual lunch spending offline.</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I will introduce our chosen project and briefly explain my frontend contributions. A.J. will lead the architecture and backend explanation, the remaining technical discussion and the full application demonstration.</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Our goal connects a planned lunch cost with an actual purchase, allowing students to compare their expectations with what they paid.</a:t>
            </a:r>
          </a:p>
        </p:txBody>
      </p:sp>
      <p:pic>
        <p:nvPicPr>
          <p:cNvPr id="6" name="">
            <a:extLst xmlns:a="http://schemas.openxmlformats.org/drawingml/2006/main">
              <a:ext uri="{FF2B5EF4-FFF2-40B4-BE49-F238E27FC236}">
                <a16:creationId xmlns:a16="http://schemas.microsoft.com/office/drawing/2014/main" id="{8B7DD4F7-0FCF-4422-9A87-8F4852FDBE56}"/>
              </a:ext>
            </a:extLst>
          </p:cNvPr>
          <p:cNvPicPr>
            <a:picLocks xmlns:a="http://schemas.openxmlformats.org/drawingml/2006/main" noChangeAspect="1"/>
          </p:cNvPicPr>
          <p:nvPr/>
        </p:nvPicPr>
        <p:blipFill>
          <a:blip xmlns:r="http://schemas.openxmlformats.org/officeDocument/2006/relationships" xmlns:a="http://schemas.openxmlformats.org/drawingml/2006/main" r:embed="Rf6e8d3813bc14e68"/>
          <a:stretch xmlns:a="http://schemas.openxmlformats.org/drawingml/2006/main"/>
        </p:blipFill>
        <p:spPr>
          <a:xfrm xmlns:a="http://schemas.openxmlformats.org/drawingml/2006/main">
            <a:off x="8239125" y="1686983"/>
            <a:ext cx="1704975" cy="3788833"/>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3C1112F9-6CD0-4AD1-B279-A86B61105314}"/>
              </a:ext>
            </a:extLst>
          </p:cNvPr>
          <p:cNvPicPr>
            <a:picLocks xmlns:a="http://schemas.openxmlformats.org/drawingml/2006/main" noChangeAspect="1"/>
          </p:cNvPicPr>
          <p:nvPr/>
        </p:nvPicPr>
        <p:blipFill>
          <a:blip xmlns:r="http://schemas.openxmlformats.org/officeDocument/2006/relationships" xmlns:a="http://schemas.openxmlformats.org/drawingml/2006/main" r:embed="Rf38184f7890e4873"/>
          <a:stretch xmlns:a="http://schemas.openxmlformats.org/drawingml/2006/main"/>
        </p:blipFill>
        <p:spPr>
          <a:xfrm xmlns:a="http://schemas.openxmlformats.org/drawingml/2006/main">
            <a:off x="9953625" y="2134658"/>
            <a:ext cx="1704975" cy="3788833"/>
          </a:xfrm>
          <a:prstGeom xmlns:a="http://schemas.openxmlformats.org/drawingml/2006/main" prst="rect">
            <a:avLst/>
          </a:prstGeom>
        </p:spPr>
      </p:pic>
    </p:spTree>
    <p:extLst>
      <p:ext uri="{BB962C8B-B14F-4D97-AF65-F5344CB8AC3E}">
        <p14:creationId xmlns:p14="http://schemas.microsoft.com/office/powerpoint/2010/main" val="1201472857"/>
      </p:ext>
    </p:extLst>
  </p:cSld>
</p:sld>
</file>

<file path=ppt/slides/slide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26AB61-D879-40B3-B80F-B840F71D2E3D}"/>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7E7BEBAA-401D-46D5-9714-F38270BC41B4}"/>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Chosen prompt and student problem</a:t>
            </a:r>
          </a:p>
        </p:txBody>
      </p:sp>
      <p:sp>
        <p:nvSpPr>
          <p:cNvPr id="3" name="">
            <a:extLst xmlns:a="http://schemas.openxmlformats.org/drawingml/2006/main">
              <a:ext uri="{FF2B5EF4-FFF2-40B4-BE49-F238E27FC236}">
                <a16:creationId xmlns:a16="http://schemas.microsoft.com/office/drawing/2014/main" id="{86EE442D-D4EA-4FA2-BC51-7DB13F5FD30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EA40DD1-FE7D-4356-A994-0077E475406E}"/>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a:t>
            </a:r>
          </a:p>
        </p:txBody>
      </p:sp>
      <p:sp>
        <p:nvSpPr>
          <p:cNvPr id="5" name="">
            <a:extLst xmlns:a="http://schemas.openxmlformats.org/drawingml/2006/main">
              <a:ext uri="{FF2B5EF4-FFF2-40B4-BE49-F238E27FC236}">
                <a16:creationId xmlns:a16="http://schemas.microsoft.com/office/drawing/2014/main" id="{4F567F7A-37C2-4FD6-AB16-765573C5CBBE}"/>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chose the Budget Bites brief, which focuses on campus food choices and personal budgeting. Students can forget a meal's price, its venue or what they paid last time, making repeated lunch decisions harder to manage.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Our solution gives the student a personal catalog of meals and a separate purchase log. The catalog stores an estimated cost, while the log records the amount paid for a particular purchase. Keeping those values separate allows the student to correct history without rewriting a meal description.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application uses locally entered information and fictional starter meals. Venue notes and prices come from the user, and live restaurant price verification is outside our scope.</a:t>
            </a:r>
          </a:p>
        </p:txBody>
      </p:sp>
      <p:sp>
        <p:nvSpPr>
          <p:cNvPr id="6" name="">
            <a:extLst xmlns:a="http://schemas.openxmlformats.org/drawingml/2006/main">
              <a:ext uri="{FF2B5EF4-FFF2-40B4-BE49-F238E27FC236}">
                <a16:creationId xmlns:a16="http://schemas.microsoft.com/office/drawing/2014/main" id="{F1B0BF83-1A88-4BF0-ABD4-4196A848C24E}"/>
              </a:ext>
            </a:extLst>
          </p:cNvPr>
          <p:cNvSpPr>
            <a:spLocks xmlns:a="http://schemas.openxmlformats.org/drawingml/2006/main" noGrp="1"/>
          </p:cNvSpPr>
          <p:nvPr/>
        </p:nvSpPr>
        <p:spPr>
          <a:xfrm xmlns:a="http://schemas.openxmlformats.org/drawingml/2006/main">
            <a:off x="7848600" y="1762125"/>
            <a:ext cx="4191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A catalog estimate</a:t>
            </a:r>
          </a:p>
        </p:txBody>
      </p:sp>
      <p:pic>
        <p:nvPicPr>
          <p:cNvPr id="7" name="">
            <a:extLst xmlns:a="http://schemas.openxmlformats.org/drawingml/2006/main">
              <a:ext uri="{FF2B5EF4-FFF2-40B4-BE49-F238E27FC236}">
                <a16:creationId xmlns:a16="http://schemas.microsoft.com/office/drawing/2014/main" id="{58D13673-6267-4B7F-975C-E03F1E1A1CDA}"/>
              </a:ext>
            </a:extLst>
          </p:cNvPr>
          <p:cNvPicPr>
            <a:picLocks xmlns:a="http://schemas.openxmlformats.org/drawingml/2006/main" noChangeAspect="1"/>
          </p:cNvPicPr>
          <p:nvPr/>
        </p:nvPicPr>
        <p:blipFill>
          <a:blip xmlns:r="http://schemas.openxmlformats.org/officeDocument/2006/relationships" xmlns:a="http://schemas.openxmlformats.org/drawingml/2006/main" r:embed="R6b6f86375def4527"/>
          <a:srcRect xmlns:a="http://schemas.openxmlformats.org/drawingml/2006/main" l="4000" t="58000" r="4000" b="17000"/>
          <a:stretch xmlns:a="http://schemas.openxmlformats.org/drawingml/2006/main"/>
        </p:blipFill>
        <p:spPr>
          <a:xfrm xmlns:a="http://schemas.openxmlformats.org/drawingml/2006/main">
            <a:off x="7810500" y="2362200"/>
            <a:ext cx="3714750" cy="22479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248B101-C1EE-492C-93FC-FEE62B1C5422}"/>
              </a:ext>
            </a:extLst>
          </p:cNvPr>
          <p:cNvSpPr>
            <a:spLocks xmlns:a="http://schemas.openxmlformats.org/drawingml/2006/main" noGrp="1"/>
          </p:cNvSpPr>
          <p:nvPr/>
        </p:nvSpPr>
        <p:spPr>
          <a:xfrm xmlns:a="http://schemas.openxmlformats.org/drawingml/2006/main">
            <a:off x="7848600" y="5238750"/>
            <a:ext cx="3714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User-entered meal notes and prices</a:t>
            </a:r>
          </a:p>
        </p:txBody>
      </p:sp>
    </p:spTree>
    <p:extLst>
      <p:ext uri="{BB962C8B-B14F-4D97-AF65-F5344CB8AC3E}">
        <p14:creationId xmlns:p14="http://schemas.microsoft.com/office/powerpoint/2010/main" val="503989069"/>
      </p:ext>
    </p:extLst>
  </p:cSld>
</p:sld>
</file>

<file path=ppt/slides/slide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25E89C-9F25-4835-8B6A-59E954A960CC}"/>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3AB50C5C-B0AD-497C-B0B9-3926B20006A8}"/>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Requirements and project scope</a:t>
            </a:r>
          </a:p>
        </p:txBody>
      </p:sp>
      <p:sp>
        <p:nvSpPr>
          <p:cNvPr id="3" name="">
            <a:extLst xmlns:a="http://schemas.openxmlformats.org/drawingml/2006/main">
              <a:ext uri="{FF2B5EF4-FFF2-40B4-BE49-F238E27FC236}">
                <a16:creationId xmlns:a16="http://schemas.microsoft.com/office/drawing/2014/main" id="{332BA7B1-5436-4F2C-8D35-F1A60E6BB814}"/>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8246A20-7AFE-402D-8D8F-6DD4AD131370}"/>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3</a:t>
            </a:r>
          </a:p>
        </p:txBody>
      </p:sp>
      <p:sp>
        <p:nvSpPr>
          <p:cNvPr id="5" name="">
            <a:extLst xmlns:a="http://schemas.openxmlformats.org/drawingml/2006/main">
              <a:ext uri="{FF2B5EF4-FFF2-40B4-BE49-F238E27FC236}">
                <a16:creationId xmlns:a16="http://schemas.microsoft.com/office/drawing/2014/main" id="{93E15398-141F-4794-9755-54B3BDD4A417}"/>
              </a:ext>
            </a:extLst>
          </p:cNvPr>
          <p:cNvSpPr>
            <a:spLocks xmlns:a="http://schemas.openxmlformats.org/drawingml/2006/main" noGrp="1"/>
          </p:cNvSpPr>
          <p:nvPr/>
        </p:nvSpPr>
        <p:spPr>
          <a:xfrm xmlns:a="http://schemas.openxmlformats.org/drawingml/2006/main">
            <a:off x="666750" y="171450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The brief requires five purposeful screen roles: a catalog, a create or edit form, a detail or activity flow, purchase history and settings. Both related data entities must support create, read, update and delete operations. Saved records and preferences must survive an application restart.</a:t>
            </a:r>
          </a:p>
        </p:txBody>
      </p:sp>
      <p:sp>
        <p:nvSpPr>
          <p:cNvPr id="6" name="">
            <a:extLst xmlns:a="http://schemas.openxmlformats.org/drawingml/2006/main">
              <a:ext uri="{FF2B5EF4-FFF2-40B4-BE49-F238E27FC236}">
                <a16:creationId xmlns:a16="http://schemas.microsoft.com/office/drawing/2014/main" id="{DB661B3C-566A-4874-84C4-979EA24BD275}"/>
              </a:ext>
            </a:extLst>
          </p:cNvPr>
          <p:cNvSpPr>
            <a:spLocks xmlns:a="http://schemas.openxmlformats.org/drawingml/2006/main" noGrp="1"/>
          </p:cNvSpPr>
          <p:nvPr/>
        </p:nvSpPr>
        <p:spPr>
          <a:xfrm xmlns:a="http://schemas.openxmlformats.org/drawingml/2006/main">
            <a:off x="666750" y="3190875"/>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We mapped those requirements to Meal and PurchaseLog in SQLite. A purchase belongs to a specific meal through its database ID. Simple preferences, including the lunch budget and dark mode, use SharedPreferences. This keeps settings separate from the two relational entities.</a:t>
            </a:r>
          </a:p>
        </p:txBody>
      </p:sp>
      <p:sp>
        <p:nvSpPr>
          <p:cNvPr id="7" name="">
            <a:extLst xmlns:a="http://schemas.openxmlformats.org/drawingml/2006/main">
              <a:ext uri="{FF2B5EF4-FFF2-40B4-BE49-F238E27FC236}">
                <a16:creationId xmlns:a16="http://schemas.microsoft.com/office/drawing/2014/main" id="{32E87C37-20A2-46E4-B0E2-5CD12B39280B}"/>
              </a:ext>
            </a:extLst>
          </p:cNvPr>
          <p:cNvSpPr>
            <a:spLocks xmlns:a="http://schemas.openxmlformats.org/drawingml/2006/main" noGrp="1"/>
          </p:cNvSpPr>
          <p:nvPr/>
        </p:nvSpPr>
        <p:spPr>
          <a:xfrm xmlns:a="http://schemas.openxmlformats.org/drawingml/2006/main">
            <a:off x="666750" y="466725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Lunch Lens estimates a possible next cost from earlier purchases. It explains its inputs, allows dismissal and compares the estimate with the last observed price.</a:t>
            </a:r>
          </a:p>
        </p:txBody>
      </p:sp>
    </p:spTree>
    <p:extLst>
      <p:ext uri="{BB962C8B-B14F-4D97-AF65-F5344CB8AC3E}">
        <p14:creationId xmlns:p14="http://schemas.microsoft.com/office/powerpoint/2010/main" val="1693026170"/>
      </p:ext>
    </p:extLst>
  </p:cSld>
</p:sld>
</file>

<file path=ppt/slides/slide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A7BFAEB-F5C2-4AD2-B97A-A357DE5B7F6A}"/>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Introduction</a:t>
            </a:r>
          </a:p>
        </p:txBody>
      </p:sp>
      <p:sp>
        <p:nvSpPr>
          <p:cNvPr id="2" name="">
            <a:extLst xmlns:a="http://schemas.openxmlformats.org/drawingml/2006/main">
              <a:ext uri="{FF2B5EF4-FFF2-40B4-BE49-F238E27FC236}">
                <a16:creationId xmlns:a16="http://schemas.microsoft.com/office/drawing/2014/main" id="{9D9530EA-3409-40DC-96C0-5515C7F1E2A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Five screens, one meal journey</a:t>
            </a:r>
          </a:p>
        </p:txBody>
      </p:sp>
      <p:sp>
        <p:nvSpPr>
          <p:cNvPr id="3" name="">
            <a:extLst xmlns:a="http://schemas.openxmlformats.org/drawingml/2006/main">
              <a:ext uri="{FF2B5EF4-FFF2-40B4-BE49-F238E27FC236}">
                <a16:creationId xmlns:a16="http://schemas.microsoft.com/office/drawing/2014/main" id="{9AF4490F-A10E-4F2D-A72D-833A19F0241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737BB1B3-75B5-4751-B22A-15860DA87AB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4</a:t>
            </a:r>
          </a:p>
        </p:txBody>
      </p:sp>
      <p:sp>
        <p:nvSpPr>
          <p:cNvPr id="5" name="">
            <a:extLst xmlns:a="http://schemas.openxmlformats.org/drawingml/2006/main">
              <a:ext uri="{FF2B5EF4-FFF2-40B4-BE49-F238E27FC236}">
                <a16:creationId xmlns:a16="http://schemas.microsoft.com/office/drawing/2014/main" id="{E68FF4E9-A8F8-4A37-885A-39E32E672868}"/>
              </a:ext>
            </a:extLst>
          </p:cNvPr>
          <p:cNvSpPr>
            <a:spLocks xmlns:a="http://schemas.openxmlformats.org/drawingml/2006/main" noGrp="1"/>
          </p:cNvSpPr>
          <p:nvPr/>
        </p:nvSpPr>
        <p:spPr>
          <a:xfrm xmlns:a="http://schemas.openxmlformats.org/drawingml/2006/main">
            <a:off x="6667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Catalog</a:t>
            </a:r>
          </a:p>
        </p:txBody>
      </p:sp>
      <p:pic>
        <p:nvPicPr>
          <p:cNvPr id="6" name="">
            <a:extLst xmlns:a="http://schemas.openxmlformats.org/drawingml/2006/main">
              <a:ext uri="{FF2B5EF4-FFF2-40B4-BE49-F238E27FC236}">
                <a16:creationId xmlns:a16="http://schemas.microsoft.com/office/drawing/2014/main" id="{48DDB923-9999-4553-B647-663163259341}"/>
              </a:ext>
            </a:extLst>
          </p:cNvPr>
          <p:cNvPicPr>
            <a:picLocks xmlns:a="http://schemas.openxmlformats.org/drawingml/2006/main" noChangeAspect="1"/>
          </p:cNvPicPr>
          <p:nvPr/>
        </p:nvPicPr>
        <p:blipFill>
          <a:blip xmlns:r="http://schemas.openxmlformats.org/officeDocument/2006/relationships" xmlns:a="http://schemas.openxmlformats.org/drawingml/2006/main" r:embed="R578a992130504f1e"/>
          <a:stretch xmlns:a="http://schemas.openxmlformats.org/drawingml/2006/main"/>
        </p:blipFill>
        <p:spPr>
          <a:xfrm xmlns:a="http://schemas.openxmlformats.org/drawingml/2006/main">
            <a:off x="666750" y="1887008"/>
            <a:ext cx="1790700" cy="3979333"/>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F2EA9F9-6892-4E03-B6AF-01CC5A2FE226}"/>
              </a:ext>
            </a:extLst>
          </p:cNvPr>
          <p:cNvSpPr>
            <a:spLocks xmlns:a="http://schemas.openxmlformats.org/drawingml/2006/main" noGrp="1"/>
          </p:cNvSpPr>
          <p:nvPr/>
        </p:nvSpPr>
        <p:spPr>
          <a:xfrm xmlns:a="http://schemas.openxmlformats.org/drawingml/2006/main">
            <a:off x="29146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Create / edit</a:t>
            </a:r>
          </a:p>
        </p:txBody>
      </p:sp>
      <p:pic>
        <p:nvPicPr>
          <p:cNvPr id="8" name="">
            <a:extLst xmlns:a="http://schemas.openxmlformats.org/drawingml/2006/main">
              <a:ext uri="{FF2B5EF4-FFF2-40B4-BE49-F238E27FC236}">
                <a16:creationId xmlns:a16="http://schemas.microsoft.com/office/drawing/2014/main" id="{BB3394BE-4345-4BD2-A334-54105638E29B}"/>
              </a:ext>
            </a:extLst>
          </p:cNvPr>
          <p:cNvPicPr>
            <a:picLocks xmlns:a="http://schemas.openxmlformats.org/drawingml/2006/main" noChangeAspect="1"/>
          </p:cNvPicPr>
          <p:nvPr/>
        </p:nvPicPr>
        <p:blipFill>
          <a:blip xmlns:r="http://schemas.openxmlformats.org/officeDocument/2006/relationships" xmlns:a="http://schemas.openxmlformats.org/drawingml/2006/main" r:embed="R5ac6ed7d887747f4"/>
          <a:stretch xmlns:a="http://schemas.openxmlformats.org/drawingml/2006/main"/>
        </p:blipFill>
        <p:spPr>
          <a:xfrm xmlns:a="http://schemas.openxmlformats.org/drawingml/2006/main">
            <a:off x="2914650" y="1887008"/>
            <a:ext cx="1790700" cy="397933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084060FD-4DD9-4848-A726-1A7A39736F98}"/>
              </a:ext>
            </a:extLst>
          </p:cNvPr>
          <p:cNvSpPr>
            <a:spLocks xmlns:a="http://schemas.openxmlformats.org/drawingml/2006/main" noGrp="1"/>
          </p:cNvSpPr>
          <p:nvPr/>
        </p:nvSpPr>
        <p:spPr>
          <a:xfrm xmlns:a="http://schemas.openxmlformats.org/drawingml/2006/main">
            <a:off x="51625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Meal activity</a:t>
            </a:r>
          </a:p>
        </p:txBody>
      </p:sp>
      <p:pic>
        <p:nvPicPr>
          <p:cNvPr id="10" name="">
            <a:extLst xmlns:a="http://schemas.openxmlformats.org/drawingml/2006/main">
              <a:ext uri="{FF2B5EF4-FFF2-40B4-BE49-F238E27FC236}">
                <a16:creationId xmlns:a16="http://schemas.microsoft.com/office/drawing/2014/main" id="{9029704F-8574-417C-B6D0-ABC042F40EE3}"/>
              </a:ext>
            </a:extLst>
          </p:cNvPr>
          <p:cNvPicPr>
            <a:picLocks xmlns:a="http://schemas.openxmlformats.org/drawingml/2006/main" noChangeAspect="1"/>
          </p:cNvPicPr>
          <p:nvPr/>
        </p:nvPicPr>
        <p:blipFill>
          <a:blip xmlns:r="http://schemas.openxmlformats.org/officeDocument/2006/relationships" xmlns:a="http://schemas.openxmlformats.org/drawingml/2006/main" r:embed="R439e52dba7e04277"/>
          <a:stretch xmlns:a="http://schemas.openxmlformats.org/drawingml/2006/main"/>
        </p:blipFill>
        <p:spPr>
          <a:xfrm xmlns:a="http://schemas.openxmlformats.org/drawingml/2006/main">
            <a:off x="5162550" y="1887008"/>
            <a:ext cx="1790700" cy="3979333"/>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70CC221E-6B2D-44D5-94F5-5583ABE74AAF}"/>
              </a:ext>
            </a:extLst>
          </p:cNvPr>
          <p:cNvSpPr>
            <a:spLocks xmlns:a="http://schemas.openxmlformats.org/drawingml/2006/main" noGrp="1"/>
          </p:cNvSpPr>
          <p:nvPr/>
        </p:nvSpPr>
        <p:spPr>
          <a:xfrm xmlns:a="http://schemas.openxmlformats.org/drawingml/2006/main">
            <a:off x="74104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Purchase log</a:t>
            </a:r>
          </a:p>
        </p:txBody>
      </p:sp>
      <p:pic>
        <p:nvPicPr>
          <p:cNvPr id="12" name="">
            <a:extLst xmlns:a="http://schemas.openxmlformats.org/drawingml/2006/main">
              <a:ext uri="{FF2B5EF4-FFF2-40B4-BE49-F238E27FC236}">
                <a16:creationId xmlns:a16="http://schemas.microsoft.com/office/drawing/2014/main" id="{7536E572-EBFB-4A90-B626-6155838515A6}"/>
              </a:ext>
            </a:extLst>
          </p:cNvPr>
          <p:cNvPicPr>
            <a:picLocks xmlns:a="http://schemas.openxmlformats.org/drawingml/2006/main" noChangeAspect="1"/>
          </p:cNvPicPr>
          <p:nvPr/>
        </p:nvPicPr>
        <p:blipFill>
          <a:blip xmlns:r="http://schemas.openxmlformats.org/officeDocument/2006/relationships" xmlns:a="http://schemas.openxmlformats.org/drawingml/2006/main" r:embed="R7f78333265424be1"/>
          <a:stretch xmlns:a="http://schemas.openxmlformats.org/drawingml/2006/main"/>
        </p:blipFill>
        <p:spPr>
          <a:xfrm xmlns:a="http://schemas.openxmlformats.org/drawingml/2006/main">
            <a:off x="7410450" y="1887008"/>
            <a:ext cx="1790700" cy="3979333"/>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DF527B0E-E4D8-43E2-BB69-E89C84BE91B6}"/>
              </a:ext>
            </a:extLst>
          </p:cNvPr>
          <p:cNvSpPr>
            <a:spLocks xmlns:a="http://schemas.openxmlformats.org/drawingml/2006/main" noGrp="1"/>
          </p:cNvSpPr>
          <p:nvPr/>
        </p:nvSpPr>
        <p:spPr>
          <a:xfrm xmlns:a="http://schemas.openxmlformats.org/drawingml/2006/main">
            <a:off x="9658350" y="1428750"/>
            <a:ext cx="1905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Settings</a:t>
            </a:r>
          </a:p>
        </p:txBody>
      </p:sp>
      <p:pic>
        <p:nvPicPr>
          <p:cNvPr id="14" name="">
            <a:extLst xmlns:a="http://schemas.openxmlformats.org/drawingml/2006/main">
              <a:ext uri="{FF2B5EF4-FFF2-40B4-BE49-F238E27FC236}">
                <a16:creationId xmlns:a16="http://schemas.microsoft.com/office/drawing/2014/main" id="{0F42C5AB-0CC6-4E72-8232-ED3AB8814ECA}"/>
              </a:ext>
            </a:extLst>
          </p:cNvPr>
          <p:cNvPicPr>
            <a:picLocks xmlns:a="http://schemas.openxmlformats.org/drawingml/2006/main" noChangeAspect="1"/>
          </p:cNvPicPr>
          <p:nvPr/>
        </p:nvPicPr>
        <p:blipFill>
          <a:blip xmlns:r="http://schemas.openxmlformats.org/officeDocument/2006/relationships" xmlns:a="http://schemas.openxmlformats.org/drawingml/2006/main" r:embed="R49f29972dac746f2"/>
          <a:stretch xmlns:a="http://schemas.openxmlformats.org/drawingml/2006/main"/>
        </p:blipFill>
        <p:spPr>
          <a:xfrm xmlns:a="http://schemas.openxmlformats.org/drawingml/2006/main">
            <a:off x="9658350" y="1887008"/>
            <a:ext cx="1790700" cy="3979333"/>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2B342850-BF5F-41F8-BC4C-97DA19AF8BED}"/>
              </a:ext>
            </a:extLst>
          </p:cNvPr>
          <p:cNvSpPr>
            <a:spLocks xmlns:a="http://schemas.openxmlformats.org/drawingml/2006/main" noGrp="1"/>
          </p:cNvSpPr>
          <p:nvPr/>
        </p:nvSpPr>
        <p:spPr>
          <a:xfrm xmlns:a="http://schemas.openxmlformats.org/drawingml/2006/main">
            <a:off x="666750" y="6000750"/>
            <a:ext cx="10858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B6259"/>
                </a:solidFill>
                <a:latin typeface="Arial"/>
                <a:ea typeface="Arial"/>
                <a:cs typeface="Arial"/>
              </a:defRPr>
            </a:defPPr>
            <a:lvl1pPr>
              <a:buNone/>
              <a:defRPr sz="1500" b="0">
                <a:solidFill>
                  <a:srgbClr val="4B6259"/>
                </a:solidFill>
                <a:latin typeface="Arial"/>
                <a:ea typeface="Arial"/>
                <a:cs typeface="Arial"/>
              </a:defRPr>
            </a:lvl1pPr>
            <a:lvl2pPr>
              <a:buNone/>
              <a:defRPr sz="1500" b="0">
                <a:solidFill>
                  <a:srgbClr val="4B6259"/>
                </a:solidFill>
                <a:latin typeface="Arial"/>
                <a:ea typeface="Arial"/>
                <a:cs typeface="Arial"/>
              </a:defRPr>
            </a:lvl2pPr>
            <a:lvl3pPr>
              <a:buNone/>
              <a:defRPr sz="1500" b="0">
                <a:solidFill>
                  <a:srgbClr val="4B6259"/>
                </a:solidFill>
                <a:latin typeface="Arial"/>
                <a:ea typeface="Arial"/>
                <a:cs typeface="Arial"/>
              </a:defRPr>
            </a:lvl3pPr>
            <a:lvl4pPr>
              <a:buNone/>
              <a:defRPr sz="1500" b="0">
                <a:solidFill>
                  <a:srgbClr val="4B6259"/>
                </a:solidFill>
                <a:latin typeface="Arial"/>
                <a:ea typeface="Arial"/>
                <a:cs typeface="Arial"/>
              </a:defRPr>
            </a:lvl4pPr>
            <a:lvl5pPr>
              <a:buNone/>
              <a:defRPr sz="1500" b="0">
                <a:solidFill>
                  <a:srgbClr val="4B6259"/>
                </a:solidFill>
                <a:latin typeface="Arial"/>
                <a:ea typeface="Arial"/>
                <a:cs typeface="Arial"/>
              </a:defRPr>
            </a:lvl5pPr>
            <a:lvl6pPr>
              <a:buNone/>
              <a:defRPr sz="1500" b="0">
                <a:solidFill>
                  <a:srgbClr val="4B6259"/>
                </a:solidFill>
                <a:latin typeface="Arial"/>
                <a:ea typeface="Arial"/>
                <a:cs typeface="Arial"/>
              </a:defRPr>
            </a:lvl6pPr>
            <a:lvl7pPr>
              <a:buNone/>
              <a:defRPr sz="1500" b="0">
                <a:solidFill>
                  <a:srgbClr val="4B6259"/>
                </a:solidFill>
                <a:latin typeface="Arial"/>
                <a:ea typeface="Arial"/>
                <a:cs typeface="Arial"/>
              </a:defRPr>
            </a:lvl7pPr>
            <a:lvl8pPr>
              <a:buNone/>
              <a:defRPr sz="1500" b="0">
                <a:solidFill>
                  <a:srgbClr val="4B6259"/>
                </a:solidFill>
                <a:latin typeface="Arial"/>
                <a:ea typeface="Arial"/>
                <a:cs typeface="Arial"/>
              </a:defRPr>
            </a:lvl8pPr>
            <a:lvl9pPr>
              <a:buNone/>
              <a:defRPr sz="1500" b="0">
                <a:solidFill>
                  <a:srgbClr val="4B6259"/>
                </a:solidFill>
                <a:latin typeface="Arial"/>
                <a:ea typeface="Arial"/>
                <a:cs typeface="Arial"/>
              </a:defRPr>
            </a:lvl9pPr>
          </a:lstStyle>
          <a:p xmlns:a="http://schemas.openxmlformats.org/drawingml/2006/main">
            <a:pPr>
              <a:buNone/>
              <a:defRPr sz="1500" b="0">
                <a:solidFill>
                  <a:srgbClr val="4B6259"/>
                </a:solidFill>
                <a:latin typeface="Arial"/>
                <a:ea typeface="Arial"/>
                <a:cs typeface="Arial"/>
              </a:defRPr>
            </a:pPr>
            <a:r>
              <a:rPr sz="1500" b="0">
                <a:solidFill>
                  <a:srgbClr val="4B6259"/>
                </a:solidFill>
                <a:latin typeface="Arial"/>
                <a:ea typeface="Arial"/>
                <a:cs typeface="Arial"/>
              </a:rPr>
              <a:t>Actual release screens with fictional demo data. A.J. will now explain the architecture and backend.</a:t>
            </a:r>
          </a:p>
        </p:txBody>
      </p:sp>
    </p:spTree>
    <p:extLst>
      <p:ext uri="{BB962C8B-B14F-4D97-AF65-F5344CB8AC3E}">
        <p14:creationId xmlns:p14="http://schemas.microsoft.com/office/powerpoint/2010/main" val="584210571"/>
      </p:ext>
    </p:extLst>
  </p:cSld>
</p:sld>
</file>

<file path=ppt/slides/slide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cxnSp>
        <p:nvCxnSpPr>
          <p:cNvPr id="11" name="">
            <a:extLst xmlns:a="http://schemas.openxmlformats.org/drawingml/2006/main">
              <a:ext uri="{FF2B5EF4-FFF2-40B4-BE49-F238E27FC236}">
                <a16:creationId xmlns:a16="http://schemas.microsoft.com/office/drawing/2014/main" id="{462B023C-F730-47CA-AB25-A622D3E7E879}"/>
              </a:ext>
            </a:extLst>
          </p:cNvPr>
          <p:cNvCxnSpPr>
            <a:stCxn xmlns:a="http://schemas.openxmlformats.org/drawingml/2006/main" id="8" idx="2"/>
            <a:endCxn xmlns:a="http://schemas.openxmlformats.org/drawingml/2006/main" id="9" idx="0"/>
          </p:cNvCxnSpPr>
          <p:nvPr/>
        </p:nvCxnSpPr>
        <p:spPr>
          <a:xfrm xmlns:a="http://schemas.openxmlformats.org/drawingml/2006/main">
            <a:off x="9810750" y="4295775"/>
            <a:ext cx="0" cy="438150"/>
          </a:xfrm>
          <a:prstGeom xmlns:a="http://schemas.openxmlformats.org/drawingml/2006/main" prst="straightConnector1">
            <a:avLst/>
          </a:prstGeom>
          <a:ln xmlns:a="http://schemas.openxmlformats.org/drawingml/2006/main" w="19050">
            <a:solidFill>
              <a:srgbClr val="176452"/>
            </a:solidFill>
            <a:tailEnd type="triangle" w="med" len="med"/>
          </a:ln>
        </p:spPr>
      </p:cxnSp>
      <p:cxnSp>
        <p:nvCxnSpPr>
          <p:cNvPr id="10" name="">
            <a:extLst xmlns:a="http://schemas.openxmlformats.org/drawingml/2006/main">
              <a:ext uri="{FF2B5EF4-FFF2-40B4-BE49-F238E27FC236}">
                <a16:creationId xmlns:a16="http://schemas.microsoft.com/office/drawing/2014/main" id="{06B218D8-17E0-44CF-85A3-AA91C2A7680E}"/>
              </a:ext>
            </a:extLst>
          </p:cNvPr>
          <p:cNvCxnSpPr>
            <a:stCxn xmlns:a="http://schemas.openxmlformats.org/drawingml/2006/main" id="7" idx="2"/>
            <a:endCxn xmlns:a="http://schemas.openxmlformats.org/drawingml/2006/main" id="8" idx="0"/>
          </p:cNvCxnSpPr>
          <p:nvPr/>
        </p:nvCxnSpPr>
        <p:spPr>
          <a:xfrm xmlns:a="http://schemas.openxmlformats.org/drawingml/2006/main">
            <a:off x="9810750" y="3038475"/>
            <a:ext cx="0" cy="438150"/>
          </a:xfrm>
          <a:prstGeom xmlns:a="http://schemas.openxmlformats.org/drawingml/2006/main" prst="straightConnector1">
            <a:avLst/>
          </a:prstGeom>
          <a:ln xmlns:a="http://schemas.openxmlformats.org/drawingml/2006/main" w="19050">
            <a:solidFill>
              <a:srgbClr val="176452"/>
            </a:solidFill>
            <a:tailEnd type="triangle" w="med" len="med"/>
          </a:ln>
        </p:spPr>
      </p:cxnSp>
      <p:sp>
        <p:nvSpPr>
          <p:cNvPr id="12" name="">
            <a:extLst xmlns:a="http://schemas.openxmlformats.org/drawingml/2006/main">
              <a:ext uri="{FF2B5EF4-FFF2-40B4-BE49-F238E27FC236}">
                <a16:creationId xmlns:a16="http://schemas.microsoft.com/office/drawing/2014/main" id="{303334A2-55BD-4841-9176-A5D8F8CE7299}"/>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Architecture and backend</a:t>
            </a:r>
          </a:p>
        </p:txBody>
      </p:sp>
      <p:sp>
        <p:nvSpPr>
          <p:cNvPr id="2" name="">
            <a:extLst xmlns:a="http://schemas.openxmlformats.org/drawingml/2006/main">
              <a:ext uri="{FF2B5EF4-FFF2-40B4-BE49-F238E27FC236}">
                <a16:creationId xmlns:a16="http://schemas.microsoft.com/office/drawing/2014/main" id="{D7E3BECB-2EF8-4FF2-AC23-A749802AB242}"/>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Team approach and architecture</a:t>
            </a:r>
          </a:p>
        </p:txBody>
      </p:sp>
      <p:sp>
        <p:nvSpPr>
          <p:cNvPr id="3" name="">
            <a:extLst xmlns:a="http://schemas.openxmlformats.org/drawingml/2006/main">
              <a:ext uri="{FF2B5EF4-FFF2-40B4-BE49-F238E27FC236}">
                <a16:creationId xmlns:a16="http://schemas.microsoft.com/office/drawing/2014/main" id="{AF54437C-227F-45C3-B12B-48442E52CB76}"/>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E0CDB451-C632-4271-B3E6-2A3EB8114BDD}"/>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5</a:t>
            </a:r>
          </a:p>
        </p:txBody>
      </p:sp>
      <p:sp>
        <p:nvSpPr>
          <p:cNvPr id="5" name="">
            <a:extLst xmlns:a="http://schemas.openxmlformats.org/drawingml/2006/main">
              <a:ext uri="{FF2B5EF4-FFF2-40B4-BE49-F238E27FC236}">
                <a16:creationId xmlns:a16="http://schemas.microsoft.com/office/drawing/2014/main" id="{D626FBDB-5F47-4A0F-BF3A-7A624584E768}"/>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divided the work around the data foundation and the user experience. I contributed the original Meal model, database CRUD functions and standalone History page. Om's work focused on the frontend and the feature branch that connected the screens, purchase records, preferences, helper and tests.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Screens handle interaction, AppStore shares saved values and MealDatabase manages SQLite. Independent Dart functions handle money parsing and Lunch Lens, keeping calculation rules separate from widgets.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This separation helped us combine both parts of the project without putting SQL inside every screen. We preserved my original branch history during integration. I will now explain the backend foundation and how the final application stores and protects its records.</a:t>
            </a:r>
          </a:p>
        </p:txBody>
      </p:sp>
      <p:sp>
        <p:nvSpPr>
          <p:cNvPr id="6" name="">
            <a:extLst xmlns:a="http://schemas.openxmlformats.org/drawingml/2006/main">
              <a:ext uri="{FF2B5EF4-FFF2-40B4-BE49-F238E27FC236}">
                <a16:creationId xmlns:a16="http://schemas.microsoft.com/office/drawing/2014/main" id="{43204DC1-02AF-4E20-B87B-A1AFE9DCC8D7}"/>
              </a:ext>
            </a:extLst>
          </p:cNvPr>
          <p:cNvSpPr>
            <a:spLocks xmlns:a="http://schemas.openxmlformats.org/drawingml/2006/main" noGrp="1"/>
          </p:cNvSpPr>
          <p:nvPr/>
        </p:nvSpPr>
        <p:spPr>
          <a:xfrm xmlns:a="http://schemas.openxmlformats.org/drawingml/2006/main">
            <a:off x="8096250" y="1657350"/>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6452"/>
                </a:solidFill>
                <a:latin typeface="Arial"/>
                <a:ea typeface="Arial"/>
                <a:cs typeface="Arial"/>
              </a:defRPr>
            </a:defPPr>
            <a:lvl1pPr>
              <a:buNone/>
              <a:defRPr sz="1875" b="1">
                <a:solidFill>
                  <a:srgbClr val="176452"/>
                </a:solidFill>
                <a:latin typeface="Arial"/>
                <a:ea typeface="Arial"/>
                <a:cs typeface="Arial"/>
              </a:defRPr>
            </a:lvl1pPr>
            <a:lvl2pPr>
              <a:buNone/>
              <a:defRPr sz="1875" b="1">
                <a:solidFill>
                  <a:srgbClr val="176452"/>
                </a:solidFill>
                <a:latin typeface="Arial"/>
                <a:ea typeface="Arial"/>
                <a:cs typeface="Arial"/>
              </a:defRPr>
            </a:lvl2pPr>
            <a:lvl3pPr>
              <a:buNone/>
              <a:defRPr sz="1875" b="1">
                <a:solidFill>
                  <a:srgbClr val="176452"/>
                </a:solidFill>
                <a:latin typeface="Arial"/>
                <a:ea typeface="Arial"/>
                <a:cs typeface="Arial"/>
              </a:defRPr>
            </a:lvl3pPr>
            <a:lvl4pPr>
              <a:buNone/>
              <a:defRPr sz="1875" b="1">
                <a:solidFill>
                  <a:srgbClr val="176452"/>
                </a:solidFill>
                <a:latin typeface="Arial"/>
                <a:ea typeface="Arial"/>
                <a:cs typeface="Arial"/>
              </a:defRPr>
            </a:lvl4pPr>
            <a:lvl5pPr>
              <a:buNone/>
              <a:defRPr sz="1875" b="1">
                <a:solidFill>
                  <a:srgbClr val="176452"/>
                </a:solidFill>
                <a:latin typeface="Arial"/>
                <a:ea typeface="Arial"/>
                <a:cs typeface="Arial"/>
              </a:defRPr>
            </a:lvl5pPr>
            <a:lvl6pPr>
              <a:buNone/>
              <a:defRPr sz="1875" b="1">
                <a:solidFill>
                  <a:srgbClr val="176452"/>
                </a:solidFill>
                <a:latin typeface="Arial"/>
                <a:ea typeface="Arial"/>
                <a:cs typeface="Arial"/>
              </a:defRPr>
            </a:lvl6pPr>
            <a:lvl7pPr>
              <a:buNone/>
              <a:defRPr sz="1875" b="1">
                <a:solidFill>
                  <a:srgbClr val="176452"/>
                </a:solidFill>
                <a:latin typeface="Arial"/>
                <a:ea typeface="Arial"/>
                <a:cs typeface="Arial"/>
              </a:defRPr>
            </a:lvl7pPr>
            <a:lvl8pPr>
              <a:buNone/>
              <a:defRPr sz="1875" b="1">
                <a:solidFill>
                  <a:srgbClr val="176452"/>
                </a:solidFill>
                <a:latin typeface="Arial"/>
                <a:ea typeface="Arial"/>
                <a:cs typeface="Arial"/>
              </a:defRPr>
            </a:lvl8pPr>
            <a:lvl9pPr>
              <a:buNone/>
              <a:defRPr sz="1875" b="1">
                <a:solidFill>
                  <a:srgbClr val="176452"/>
                </a:solidFill>
                <a:latin typeface="Arial"/>
                <a:ea typeface="Arial"/>
                <a:cs typeface="Arial"/>
              </a:defRPr>
            </a:lvl9pPr>
          </a:lstStyle>
          <a:p xmlns:a="http://schemas.openxmlformats.org/drawingml/2006/main">
            <a:pPr>
              <a:buNone/>
              <a:defRPr sz="1875" b="1">
                <a:solidFill>
                  <a:srgbClr val="176452"/>
                </a:solidFill>
                <a:latin typeface="Arial"/>
                <a:ea typeface="Arial"/>
                <a:cs typeface="Arial"/>
              </a:defRPr>
            </a:pPr>
            <a:r>
              <a:rPr sz="1875" b="1">
                <a:solidFill>
                  <a:srgbClr val="176452"/>
                </a:solidFill>
                <a:latin typeface="Arial"/>
                <a:ea typeface="Arial"/>
                <a:cs typeface="Arial"/>
              </a:rPr>
              <a:t>Application flow</a:t>
            </a:r>
          </a:p>
        </p:txBody>
      </p:sp>
      <p:sp>
        <p:nvSpPr>
          <p:cNvPr id="7" name="">
            <a:extLst xmlns:a="http://schemas.openxmlformats.org/drawingml/2006/main">
              <a:ext uri="{FF2B5EF4-FFF2-40B4-BE49-F238E27FC236}">
                <a16:creationId xmlns:a16="http://schemas.microsoft.com/office/drawing/2014/main" id="{16CDBB88-64DC-43C5-BE33-8E30C8C6D8C9}"/>
              </a:ext>
            </a:extLst>
          </p:cNvPr>
          <p:cNvSpPr>
            <a:spLocks xmlns:a="http://schemas.openxmlformats.org/drawingml/2006/main" noGrp="1"/>
          </p:cNvSpPr>
          <p:nvPr/>
        </p:nvSpPr>
        <p:spPr>
          <a:xfrm xmlns:a="http://schemas.openxmlformats.org/drawingml/2006/main">
            <a:off x="8191500" y="2219325"/>
            <a:ext cx="3238500" cy="8191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Screens</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Drafts and interaction</a:t>
            </a:r>
          </a:p>
        </p:txBody>
      </p:sp>
      <p:sp>
        <p:nvSpPr>
          <p:cNvPr id="8" name="">
            <a:extLst xmlns:a="http://schemas.openxmlformats.org/drawingml/2006/main">
              <a:ext uri="{FF2B5EF4-FFF2-40B4-BE49-F238E27FC236}">
                <a16:creationId xmlns:a16="http://schemas.microsoft.com/office/drawing/2014/main" id="{7DC889CB-1ADA-4E99-BAE4-35CB006C8C5F}"/>
              </a:ext>
            </a:extLst>
          </p:cNvPr>
          <p:cNvSpPr>
            <a:spLocks xmlns:a="http://schemas.openxmlformats.org/drawingml/2006/main" noGrp="1"/>
          </p:cNvSpPr>
          <p:nvPr/>
        </p:nvSpPr>
        <p:spPr>
          <a:xfrm xmlns:a="http://schemas.openxmlformats.org/drawingml/2006/main">
            <a:off x="8191500" y="3476625"/>
            <a:ext cx="3238500" cy="8191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AppStore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Saved shared values</a:t>
            </a:r>
          </a:p>
        </p:txBody>
      </p:sp>
      <p:sp>
        <p:nvSpPr>
          <p:cNvPr id="9" name="">
            <a:extLst xmlns:a="http://schemas.openxmlformats.org/drawingml/2006/main">
              <a:ext uri="{FF2B5EF4-FFF2-40B4-BE49-F238E27FC236}">
                <a16:creationId xmlns:a16="http://schemas.microsoft.com/office/drawing/2014/main" id="{5554BCFA-C147-4C1A-9C7F-4C942D2B4DF9}"/>
              </a:ext>
            </a:extLst>
          </p:cNvPr>
          <p:cNvSpPr>
            <a:spLocks xmlns:a="http://schemas.openxmlformats.org/drawingml/2006/main" noGrp="1"/>
          </p:cNvSpPr>
          <p:nvPr/>
        </p:nvSpPr>
        <p:spPr>
          <a:xfrm xmlns:a="http://schemas.openxmlformats.org/drawingml/2006/main">
            <a:off x="8191500" y="4733925"/>
            <a:ext cx="3238500" cy="971550"/>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133350" tIns="95250" rIns="133350" bIns="95250"/>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1">
                <a:solidFill>
                  <a:srgbClr val="152B25"/>
                </a:solidFill>
                <a:latin typeface="Arial"/>
                <a:ea typeface="Arial"/>
                <a:cs typeface="Arial"/>
              </a:rPr>
              <a:t>Local storage</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SQLite and preferences</a:t>
            </a:r>
          </a:p>
        </p:txBody>
      </p:sp>
    </p:spTree>
    <p:extLst>
      <p:ext uri="{BB962C8B-B14F-4D97-AF65-F5344CB8AC3E}">
        <p14:creationId xmlns:p14="http://schemas.microsoft.com/office/powerpoint/2010/main" val="1118695760"/>
      </p:ext>
    </p:extLst>
  </p:cSld>
</p:sld>
</file>

<file path=ppt/slides/slide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9AC5D3-2EBC-4962-A300-A6067995908F}"/>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480A7D82-9705-4743-9FB2-36E91CC99D41}"/>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Backend foundation and ownership</a:t>
            </a:r>
          </a:p>
        </p:txBody>
      </p:sp>
      <p:sp>
        <p:nvSpPr>
          <p:cNvPr id="3" name="">
            <a:extLst xmlns:a="http://schemas.openxmlformats.org/drawingml/2006/main">
              <a:ext uri="{FF2B5EF4-FFF2-40B4-BE49-F238E27FC236}">
                <a16:creationId xmlns:a16="http://schemas.microsoft.com/office/drawing/2014/main" id="{1C579B6B-501C-405E-97BE-479CC83103E7}"/>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7DE76FB7-B9C2-414A-B92F-B61BA510EC3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6</a:t>
            </a:r>
          </a:p>
        </p:txBody>
      </p:sp>
      <p:sp>
        <p:nvSpPr>
          <p:cNvPr id="5" name="">
            <a:extLst xmlns:a="http://schemas.openxmlformats.org/drawingml/2006/main">
              <a:ext uri="{FF2B5EF4-FFF2-40B4-BE49-F238E27FC236}">
                <a16:creationId xmlns:a16="http://schemas.microsoft.com/office/drawing/2014/main" id="{7A4D3428-A9E2-4EA5-9059-2E36577A7BCB}"/>
              </a:ext>
            </a:extLst>
          </p:cNvPr>
          <p:cNvSpPr>
            <a:spLocks xmlns:a="http://schemas.openxmlformats.org/drawingml/2006/main" noGrp="1"/>
          </p:cNvSpPr>
          <p:nvPr/>
        </p:nvSpPr>
        <p:spPr>
          <a:xfrm xmlns:a="http://schemas.openxmlformats.org/drawingml/2006/main">
            <a:off x="609600" y="1657350"/>
            <a:ext cx="66675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original work established the Meal model and the database functions for retrieving, adding, updating and deleting meals. I also created the standalone Meal History page. These pieces gave the project a consistent data structure and a starting point for displaying stored information.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In the integrated application, the team extended that foundation with purchase logs, integer-cent prices and additional consistency checks. I will explain how the current backend works while distinguishing those shared integration changes from the original functions I contributed.</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MealDatabase provides one boundary for local SQLite access. The interface requests operations through it, while validation and database tests focus on the same boundary.</a:t>
            </a:r>
          </a:p>
        </p:txBody>
      </p:sp>
      <p:sp>
        <p:nvSpPr>
          <p:cNvPr id="6" name="">
            <a:extLst xmlns:a="http://schemas.openxmlformats.org/drawingml/2006/main">
              <a:ext uri="{FF2B5EF4-FFF2-40B4-BE49-F238E27FC236}">
                <a16:creationId xmlns:a16="http://schemas.microsoft.com/office/drawing/2014/main" id="{3FA7D3CA-735F-48EF-BA6D-D2DE59F8E852}"/>
              </a:ext>
            </a:extLst>
          </p:cNvPr>
          <p:cNvSpPr>
            <a:spLocks xmlns:a="http://schemas.openxmlformats.org/drawingml/2006/main" noGrp="1"/>
          </p:cNvSpPr>
          <p:nvPr/>
        </p:nvSpPr>
        <p:spPr>
          <a:xfrm xmlns:a="http://schemas.openxmlformats.org/drawingml/2006/main">
            <a:off x="7620000" y="1695450"/>
            <a:ext cx="4143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9700A078-6CB1-4B27-828B-00F01508429A}"/>
              </a:ext>
            </a:extLst>
          </p:cNvPr>
          <p:cNvSpPr>
            <a:spLocks xmlns:a="http://schemas.openxmlformats.org/drawingml/2006/main" noGrp="1"/>
          </p:cNvSpPr>
          <p:nvPr/>
        </p:nvSpPr>
        <p:spPr>
          <a:xfrm xmlns:a="http://schemas.openxmlformats.org/drawingml/2006/main">
            <a:off x="7620000" y="2286000"/>
            <a:ext cx="4143375" cy="25717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Future&lt;List&lt;Meal&gt;&gt; getMeals()</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async =&gt; (await</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(await database).query(</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'meals',</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orderBy:</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'mealName COLLATE NOCASE,id',</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)).map(Meal.fromMap)</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.toList();</a:t>
            </a:r>
          </a:p>
        </p:txBody>
      </p:sp>
      <p:sp>
        <p:nvSpPr>
          <p:cNvPr id="8" name="">
            <a:extLst xmlns:a="http://schemas.openxmlformats.org/drawingml/2006/main">
              <a:ext uri="{FF2B5EF4-FFF2-40B4-BE49-F238E27FC236}">
                <a16:creationId xmlns:a16="http://schemas.microsoft.com/office/drawing/2014/main" id="{32681893-CFEB-409B-9CEE-7D6DFAE54D78}"/>
              </a:ext>
            </a:extLst>
          </p:cNvPr>
          <p:cNvSpPr>
            <a:spLocks xmlns:a="http://schemas.openxmlformats.org/drawingml/2006/main" noGrp="1"/>
          </p:cNvSpPr>
          <p:nvPr/>
        </p:nvSpPr>
        <p:spPr>
          <a:xfrm xmlns:a="http://schemas.openxmlformats.org/drawingml/2006/main">
            <a:off x="7810500" y="5048250"/>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Rows become typed Meal objects.</a:t>
            </a:r>
          </a:p>
        </p:txBody>
      </p:sp>
    </p:spTree>
    <p:extLst>
      <p:ext uri="{BB962C8B-B14F-4D97-AF65-F5344CB8AC3E}">
        <p14:creationId xmlns:p14="http://schemas.microsoft.com/office/powerpoint/2010/main" val="206889965"/>
      </p:ext>
    </p:extLst>
  </p:cSld>
</p:sld>
</file>

<file path=ppt/slides/slide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7266532-B838-419B-A517-7E477E4E6D3C}"/>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BA22B7CA-4DE5-4C54-B120-F15D5CC6E6E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Meal model and stored values</a:t>
            </a:r>
          </a:p>
        </p:txBody>
      </p:sp>
      <p:sp>
        <p:nvSpPr>
          <p:cNvPr id="3" name="">
            <a:extLst xmlns:a="http://schemas.openxmlformats.org/drawingml/2006/main">
              <a:ext uri="{FF2B5EF4-FFF2-40B4-BE49-F238E27FC236}">
                <a16:creationId xmlns:a16="http://schemas.microsoft.com/office/drawing/2014/main" id="{6112D500-98C2-4EB6-90BA-816F77F18E1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4EC22303-AE3A-4584-BD28-B2444ADFDBBC}"/>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7</a:t>
            </a:r>
          </a:p>
        </p:txBody>
      </p:sp>
      <p:sp>
        <p:nvSpPr>
          <p:cNvPr id="5" name="">
            <a:extLst xmlns:a="http://schemas.openxmlformats.org/drawingml/2006/main">
              <a:ext uri="{FF2B5EF4-FFF2-40B4-BE49-F238E27FC236}">
                <a16:creationId xmlns:a16="http://schemas.microsoft.com/office/drawing/2014/main" id="{22D8D5AB-D035-4ED7-A3F7-0F3BFFDAC448}"/>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Meal model represents an entry in the student's personal catalog. It contains a generated ID, meal name, venue note and cuisine. It also stores labels and estimated prices for an entree, a side and another optional item, plus a favorite flag.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final model derives the total estimate by adding the three item prices. It stores prices as integer cents, so a value of 650 represents six dollars and fifty cents. This makes money calculations consistent with the values used by the purchase log.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toMap method prepares values for SQLite, and fromMap reconstructs the Meal. A stable ID lets the interface update the correct record even after its name or position changes.</a:t>
            </a:r>
          </a:p>
        </p:txBody>
      </p:sp>
      <p:sp>
        <p:nvSpPr>
          <p:cNvPr id="6" name="">
            <a:extLst xmlns:a="http://schemas.openxmlformats.org/drawingml/2006/main">
              <a:ext uri="{FF2B5EF4-FFF2-40B4-BE49-F238E27FC236}">
                <a16:creationId xmlns:a16="http://schemas.microsoft.com/office/drawing/2014/main" id="{58B2A50C-05D4-4200-A780-45D20FC76529}"/>
              </a:ext>
            </a:extLst>
          </p:cNvPr>
          <p:cNvSpPr>
            <a:spLocks xmlns:a="http://schemas.openxmlformats.org/drawingml/2006/main" noGrp="1"/>
          </p:cNvSpPr>
          <p:nvPr/>
        </p:nvSpPr>
        <p:spPr>
          <a:xfrm xmlns:a="http://schemas.openxmlformats.org/drawingml/2006/main">
            <a:off x="7810500" y="17907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lib/models/meal.dart</a:t>
            </a:r>
          </a:p>
        </p:txBody>
      </p:sp>
      <p:sp>
        <p:nvSpPr>
          <p:cNvPr id="7" name="">
            <a:extLst xmlns:a="http://schemas.openxmlformats.org/drawingml/2006/main">
              <a:ext uri="{FF2B5EF4-FFF2-40B4-BE49-F238E27FC236}">
                <a16:creationId xmlns:a16="http://schemas.microsoft.com/office/drawing/2014/main" id="{0D839494-7896-4EFF-9F6D-A67763ABE549}"/>
              </a:ext>
            </a:extLst>
          </p:cNvPr>
          <p:cNvSpPr>
            <a:spLocks xmlns:a="http://schemas.openxmlformats.org/drawingml/2006/main" noGrp="1"/>
          </p:cNvSpPr>
          <p:nvPr/>
        </p:nvSpPr>
        <p:spPr>
          <a:xfrm xmlns:a="http://schemas.openxmlformats.org/drawingml/2006/main">
            <a:off x="7810500" y="2381250"/>
            <a:ext cx="3714750" cy="20955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int</a:t>
            </a:r>
            <a:r>
              <a:rPr sz="1875" b="0">
                <a:solidFill>
                  <a:srgbClr val="E2F1E8"/>
                </a:solidFill>
                <a:latin typeface="Menlo"/>
                <a:ea typeface="Menlo"/>
                <a:cs typeface="Menlo"/>
              </a:rPr>
              <a:t> get totalPrice =&gt;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entreePrice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sidesPrice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otherPrice;</a:t>
            </a:r>
          </a:p>
        </p:txBody>
      </p:sp>
      <p:sp>
        <p:nvSpPr>
          <p:cNvPr id="8" name="">
            <a:extLst xmlns:a="http://schemas.openxmlformats.org/drawingml/2006/main">
              <a:ext uri="{FF2B5EF4-FFF2-40B4-BE49-F238E27FC236}">
                <a16:creationId xmlns:a16="http://schemas.microsoft.com/office/drawing/2014/main" id="{D58703A7-1500-48CE-98DA-A291CE940FB9}"/>
              </a:ext>
            </a:extLst>
          </p:cNvPr>
          <p:cNvSpPr>
            <a:spLocks xmlns:a="http://schemas.openxmlformats.org/drawingml/2006/main" noGrp="1"/>
          </p:cNvSpPr>
          <p:nvPr/>
        </p:nvSpPr>
        <p:spPr>
          <a:xfrm xmlns:a="http://schemas.openxmlformats.org/drawingml/2006/main">
            <a:off x="7810500" y="48577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One derived catalog total</a:t>
            </a:r>
          </a:p>
        </p:txBody>
      </p:sp>
    </p:spTree>
    <p:extLst>
      <p:ext uri="{BB962C8B-B14F-4D97-AF65-F5344CB8AC3E}">
        <p14:creationId xmlns:p14="http://schemas.microsoft.com/office/powerpoint/2010/main" val="2136926510"/>
      </p:ext>
    </p:extLst>
  </p:cSld>
</p:sld>
</file>

<file path=ppt/slides/slide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B88B70C-A045-49DD-B2FD-82148B961B2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2BF4FEFE-3A06-4C2F-A3A1-9FB179B2AD2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Two related SQLite tables</a:t>
            </a:r>
          </a:p>
        </p:txBody>
      </p:sp>
      <p:sp>
        <p:nvSpPr>
          <p:cNvPr id="3" name="">
            <a:extLst xmlns:a="http://schemas.openxmlformats.org/drawingml/2006/main">
              <a:ext uri="{FF2B5EF4-FFF2-40B4-BE49-F238E27FC236}">
                <a16:creationId xmlns:a16="http://schemas.microsoft.com/office/drawing/2014/main" id="{CBEE74F9-F761-43C7-8F0F-8BD5DB42DEB0}"/>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54273892-2218-4D50-9567-4906F20AF105}"/>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8</a:t>
            </a:r>
          </a:p>
        </p:txBody>
      </p:sp>
      <p:sp>
        <p:nvSpPr>
          <p:cNvPr id="5" name="">
            <a:extLst xmlns:a="http://schemas.openxmlformats.org/drawingml/2006/main">
              <a:ext uri="{FF2B5EF4-FFF2-40B4-BE49-F238E27FC236}">
                <a16:creationId xmlns:a16="http://schemas.microsoft.com/office/drawing/2014/main" id="{45593D3E-C34A-4416-96F2-20EFA3AB02E6}"/>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meals table stores catalog information. The purchase_logs table stores actual receipts, including its own ID, the related mealId, the amount paid, a purchase timestamp, a note and a unique save token. One meal can therefore have many separate purchases.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foreign key connects each purchase to an existing meal. We enable foreign-key enforcement when opening the database. Parent deletion uses a restriction, so a meal with saved purchases cannot disappear while those receipts still depend on it. The interface explains which records need attention.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Editing a catalog estimate leaves earlier actual amounts unchanged. Preferences use SharedPreferences, and favorites remain a Meal field, keeping the relational model to two entities.</a:t>
            </a:r>
          </a:p>
        </p:txBody>
      </p:sp>
      <p:sp>
        <p:nvSpPr>
          <p:cNvPr id="6" name="">
            <a:extLst xmlns:a="http://schemas.openxmlformats.org/drawingml/2006/main">
              <a:ext uri="{FF2B5EF4-FFF2-40B4-BE49-F238E27FC236}">
                <a16:creationId xmlns:a16="http://schemas.microsoft.com/office/drawing/2014/main" id="{C8F75B3F-3302-4EC3-9584-E6BCDA50324E}"/>
              </a:ext>
            </a:extLst>
          </p:cNvPr>
          <p:cNvSpPr>
            <a:spLocks xmlns:a="http://schemas.openxmlformats.org/drawingml/2006/main" noGrp="1"/>
          </p:cNvSpPr>
          <p:nvPr/>
        </p:nvSpPr>
        <p:spPr>
          <a:xfrm xmlns:a="http://schemas.openxmlformats.org/drawingml/2006/main">
            <a:off x="7810500" y="18288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Each receipt has its own ID</a:t>
            </a:r>
          </a:p>
        </p:txBody>
      </p:sp>
      <p:pic>
        <p:nvPicPr>
          <p:cNvPr id="7" name="">
            <a:extLst xmlns:a="http://schemas.openxmlformats.org/drawingml/2006/main">
              <a:ext uri="{FF2B5EF4-FFF2-40B4-BE49-F238E27FC236}">
                <a16:creationId xmlns:a16="http://schemas.microsoft.com/office/drawing/2014/main" id="{C3E11773-B69E-4FE1-95EF-AECE0923BC0B}"/>
              </a:ext>
            </a:extLst>
          </p:cNvPr>
          <p:cNvPicPr>
            <a:picLocks xmlns:a="http://schemas.openxmlformats.org/drawingml/2006/main" noChangeAspect="1"/>
          </p:cNvPicPr>
          <p:nvPr/>
        </p:nvPicPr>
        <p:blipFill>
          <a:blip xmlns:r="http://schemas.openxmlformats.org/officeDocument/2006/relationships" xmlns:a="http://schemas.openxmlformats.org/drawingml/2006/main" r:embed="R955fca1dc3004c6b"/>
          <a:srcRect xmlns:a="http://schemas.openxmlformats.org/drawingml/2006/main" l="13000" t="37500" r="13000" b="33500"/>
          <a:stretch xmlns:a="http://schemas.openxmlformats.org/drawingml/2006/main"/>
        </p:blipFill>
        <p:spPr>
          <a:xfrm xmlns:a="http://schemas.openxmlformats.org/drawingml/2006/main">
            <a:off x="8001000" y="2543175"/>
            <a:ext cx="3333750" cy="2905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0D8CEC9-EA0A-4009-ADB4-CAE4D0A3B2F9}"/>
              </a:ext>
            </a:extLst>
          </p:cNvPr>
          <p:cNvSpPr>
            <a:spLocks xmlns:a="http://schemas.openxmlformats.org/drawingml/2006/main" noGrp="1"/>
          </p:cNvSpPr>
          <p:nvPr/>
        </p:nvSpPr>
        <p:spPr>
          <a:xfrm xmlns:a="http://schemas.openxmlformats.org/drawingml/2006/main">
            <a:off x="7848600" y="5619750"/>
            <a:ext cx="3676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Receipt #3 records the actual amount and time.</a:t>
            </a:r>
          </a:p>
        </p:txBody>
      </p:sp>
    </p:spTree>
    <p:extLst>
      <p:ext uri="{BB962C8B-B14F-4D97-AF65-F5344CB8AC3E}">
        <p14:creationId xmlns:p14="http://schemas.microsoft.com/office/powerpoint/2010/main" val="1787517746"/>
      </p:ext>
    </p:extLst>
  </p:cSld>
</p:sld>
</file>

<file path=ppt/slides/slide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cxnSp>
        <p:nvCxnSpPr>
          <p:cNvPr id="7" name="">
            <a:extLst xmlns:a="http://schemas.openxmlformats.org/drawingml/2006/main">
              <a:ext uri="{FF2B5EF4-FFF2-40B4-BE49-F238E27FC236}">
                <a16:creationId xmlns:a16="http://schemas.microsoft.com/office/drawing/2014/main" id="{C6524997-F609-4F8F-9C9B-D604DB7F6570}"/>
              </a:ext>
            </a:extLst>
          </p:cNvPr>
          <p:cNvCxnSpPr>
            <a:stCxn xmlns:a="http://schemas.openxmlformats.org/drawingml/2006/main" id="5" idx="3"/>
            <a:endCxn xmlns:a="http://schemas.openxmlformats.org/drawingml/2006/main" id="6" idx="1"/>
          </p:cNvCxnSpPr>
          <p:nvPr/>
        </p:nvCxnSpPr>
        <p:spPr>
          <a:xfrm xmlns:a="http://schemas.openxmlformats.org/drawingml/2006/main">
            <a:off x="5000625" y="3500438"/>
            <a:ext cx="2190750" cy="0"/>
          </a:xfrm>
          <a:prstGeom xmlns:a="http://schemas.openxmlformats.org/drawingml/2006/main" prst="straightConnector1">
            <a:avLst/>
          </a:prstGeom>
          <a:ln xmlns:a="http://schemas.openxmlformats.org/drawingml/2006/main" w="19050">
            <a:solidFill>
              <a:srgbClr val="176452"/>
            </a:solidFill>
            <a:tailEnd type="triangle" w="med" len="med"/>
          </a:ln>
        </p:spPr>
      </p:cxnSp>
      <p:sp>
        <p:nvSpPr>
          <p:cNvPr id="10" name="">
            <a:extLst xmlns:a="http://schemas.openxmlformats.org/drawingml/2006/main">
              <a:ext uri="{FF2B5EF4-FFF2-40B4-BE49-F238E27FC236}">
                <a16:creationId xmlns:a16="http://schemas.microsoft.com/office/drawing/2014/main" id="{0E2182A1-D440-4B06-942D-34184B6DEF44}"/>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D2DE7EE9-B317-4C2F-AE22-F812154085F8}"/>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Database relationship</a:t>
            </a:r>
          </a:p>
        </p:txBody>
      </p:sp>
      <p:sp>
        <p:nvSpPr>
          <p:cNvPr id="3" name="">
            <a:extLst xmlns:a="http://schemas.openxmlformats.org/drawingml/2006/main">
              <a:ext uri="{FF2B5EF4-FFF2-40B4-BE49-F238E27FC236}">
                <a16:creationId xmlns:a16="http://schemas.microsoft.com/office/drawing/2014/main" id="{6BB4D367-DFCA-44B9-8EB5-42BA7C135EA9}"/>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DBC0E705-1AB9-4AA6-847C-F07A7DCC7348}"/>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9</a:t>
            </a:r>
          </a:p>
        </p:txBody>
      </p:sp>
      <p:sp>
        <p:nvSpPr>
          <p:cNvPr id="5" name="">
            <a:extLst xmlns:a="http://schemas.openxmlformats.org/drawingml/2006/main">
              <a:ext uri="{FF2B5EF4-FFF2-40B4-BE49-F238E27FC236}">
                <a16:creationId xmlns:a16="http://schemas.microsoft.com/office/drawing/2014/main" id="{5B371BF4-04D8-4313-B068-AE2B3B454CB6}"/>
              </a:ext>
            </a:extLst>
          </p:cNvPr>
          <p:cNvSpPr>
            <a:spLocks xmlns:a="http://schemas.openxmlformats.org/drawingml/2006/main" noGrp="1"/>
          </p:cNvSpPr>
          <p:nvPr/>
        </p:nvSpPr>
        <p:spPr>
          <a:xfrm xmlns:a="http://schemas.openxmlformats.org/drawingml/2006/main">
            <a:off x="666750" y="1762125"/>
            <a:ext cx="4333875" cy="3476625"/>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209550" tIns="209550" rIns="209550" bIns="209550"/>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1">
                <a:solidFill>
                  <a:srgbClr val="152B25"/>
                </a:solidFill>
                <a:latin typeface="Arial"/>
                <a:ea typeface="Arial"/>
                <a:cs typeface="Arial"/>
              </a:rPr>
              <a:t>Meal</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id (primary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mealName, venue, cuisine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entree, sides, other</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entreePrice, sidesPrice, otherPrice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favorite</a:t>
            </a:r>
          </a:p>
        </p:txBody>
      </p:sp>
      <p:sp>
        <p:nvSpPr>
          <p:cNvPr id="6" name="">
            <a:extLst xmlns:a="http://schemas.openxmlformats.org/drawingml/2006/main">
              <a:ext uri="{FF2B5EF4-FFF2-40B4-BE49-F238E27FC236}">
                <a16:creationId xmlns:a16="http://schemas.microsoft.com/office/drawing/2014/main" id="{65EB1A65-042A-4AAE-95FC-E1A5F0AE1382}"/>
              </a:ext>
            </a:extLst>
          </p:cNvPr>
          <p:cNvSpPr>
            <a:spLocks xmlns:a="http://schemas.openxmlformats.org/drawingml/2006/main" noGrp="1"/>
          </p:cNvSpPr>
          <p:nvPr/>
        </p:nvSpPr>
        <p:spPr>
          <a:xfrm xmlns:a="http://schemas.openxmlformats.org/drawingml/2006/main">
            <a:off x="7191375" y="1762125"/>
            <a:ext cx="4333875" cy="3476625"/>
          </a:xfrm>
          <a:prstGeom xmlns:a="http://schemas.openxmlformats.org/drawingml/2006/main" prst="rect">
            <a:avLst/>
          </a:prstGeom>
          <a:solidFill xmlns:a="http://schemas.openxmlformats.org/drawingml/2006/main">
            <a:srgbClr val="E6F0E9"/>
          </a:solidFill>
          <a:ln xmlns:a="http://schemas.openxmlformats.org/drawingml/2006/main" w="0">
            <a:noFill/>
          </a:ln>
        </p:spPr>
        <p:txBody>
          <a:bodyPr xmlns:a="http://schemas.openxmlformats.org/drawingml/2006/main" lIns="209550" tIns="209550" rIns="209550" bIns="209550"/>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1">
                <a:solidFill>
                  <a:srgbClr val="152B25"/>
                </a:solidFill>
                <a:latin typeface="Arial"/>
                <a:ea typeface="Arial"/>
                <a:cs typeface="Arial"/>
              </a:rPr>
              <a:t>PurchaseLog</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id (primary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mealId (foreign key)</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actualPriceMinor</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purchasedAt, note</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saveToken (unique)</a:t>
            </a:r>
          </a:p>
        </p:txBody>
      </p:sp>
      <p:sp>
        <p:nvSpPr>
          <p:cNvPr id="8" name="">
            <a:extLst xmlns:a="http://schemas.openxmlformats.org/drawingml/2006/main">
              <a:ext uri="{FF2B5EF4-FFF2-40B4-BE49-F238E27FC236}">
                <a16:creationId xmlns:a16="http://schemas.microsoft.com/office/drawing/2014/main" id="{AE8B8933-5981-4066-961B-D1C445473A75}"/>
              </a:ext>
            </a:extLst>
          </p:cNvPr>
          <p:cNvSpPr>
            <a:spLocks xmlns:a="http://schemas.openxmlformats.org/drawingml/2006/main" noGrp="1"/>
          </p:cNvSpPr>
          <p:nvPr/>
        </p:nvSpPr>
        <p:spPr>
          <a:xfrm xmlns:a="http://schemas.openxmlformats.org/drawingml/2006/main">
            <a:off x="5391150" y="2952750"/>
            <a:ext cx="1619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6452"/>
                </a:solidFill>
                <a:latin typeface="Arial"/>
                <a:ea typeface="Arial"/>
                <a:cs typeface="Arial"/>
              </a:defRPr>
            </a:defPPr>
            <a:lvl1pPr>
              <a:buNone/>
              <a:defRPr sz="2100" b="1">
                <a:solidFill>
                  <a:srgbClr val="176452"/>
                </a:solidFill>
                <a:latin typeface="Arial"/>
                <a:ea typeface="Arial"/>
                <a:cs typeface="Arial"/>
              </a:defRPr>
            </a:lvl1pPr>
            <a:lvl2pPr>
              <a:buNone/>
              <a:defRPr sz="2100" b="1">
                <a:solidFill>
                  <a:srgbClr val="176452"/>
                </a:solidFill>
                <a:latin typeface="Arial"/>
                <a:ea typeface="Arial"/>
                <a:cs typeface="Arial"/>
              </a:defRPr>
            </a:lvl2pPr>
            <a:lvl3pPr>
              <a:buNone/>
              <a:defRPr sz="2100" b="1">
                <a:solidFill>
                  <a:srgbClr val="176452"/>
                </a:solidFill>
                <a:latin typeface="Arial"/>
                <a:ea typeface="Arial"/>
                <a:cs typeface="Arial"/>
              </a:defRPr>
            </a:lvl3pPr>
            <a:lvl4pPr>
              <a:buNone/>
              <a:defRPr sz="2100" b="1">
                <a:solidFill>
                  <a:srgbClr val="176452"/>
                </a:solidFill>
                <a:latin typeface="Arial"/>
                <a:ea typeface="Arial"/>
                <a:cs typeface="Arial"/>
              </a:defRPr>
            </a:lvl4pPr>
            <a:lvl5pPr>
              <a:buNone/>
              <a:defRPr sz="2100" b="1">
                <a:solidFill>
                  <a:srgbClr val="176452"/>
                </a:solidFill>
                <a:latin typeface="Arial"/>
                <a:ea typeface="Arial"/>
                <a:cs typeface="Arial"/>
              </a:defRPr>
            </a:lvl5pPr>
            <a:lvl6pPr>
              <a:buNone/>
              <a:defRPr sz="2100" b="1">
                <a:solidFill>
                  <a:srgbClr val="176452"/>
                </a:solidFill>
                <a:latin typeface="Arial"/>
                <a:ea typeface="Arial"/>
                <a:cs typeface="Arial"/>
              </a:defRPr>
            </a:lvl6pPr>
            <a:lvl7pPr>
              <a:buNone/>
              <a:defRPr sz="2100" b="1">
                <a:solidFill>
                  <a:srgbClr val="176452"/>
                </a:solidFill>
                <a:latin typeface="Arial"/>
                <a:ea typeface="Arial"/>
                <a:cs typeface="Arial"/>
              </a:defRPr>
            </a:lvl7pPr>
            <a:lvl8pPr>
              <a:buNone/>
              <a:defRPr sz="2100" b="1">
                <a:solidFill>
                  <a:srgbClr val="176452"/>
                </a:solidFill>
                <a:latin typeface="Arial"/>
                <a:ea typeface="Arial"/>
                <a:cs typeface="Arial"/>
              </a:defRPr>
            </a:lvl8pPr>
            <a:lvl9pPr>
              <a:buNone/>
              <a:defRPr sz="2100" b="1">
                <a:solidFill>
                  <a:srgbClr val="176452"/>
                </a:solidFill>
                <a:latin typeface="Arial"/>
                <a:ea typeface="Arial"/>
                <a:cs typeface="Arial"/>
              </a:defRPr>
            </a:lvl9pPr>
          </a:lstStyle>
          <a:p xmlns:a="http://schemas.openxmlformats.org/drawingml/2006/main">
            <a:pPr>
              <a:buNone/>
              <a:defRPr sz="2100" b="1">
                <a:solidFill>
                  <a:srgbClr val="176452"/>
                </a:solidFill>
                <a:latin typeface="Arial"/>
                <a:ea typeface="Arial"/>
                <a:cs typeface="Arial"/>
              </a:defRPr>
            </a:pPr>
            <a:r>
              <a:rPr sz="2100" b="1">
                <a:solidFill>
                  <a:srgbClr val="176452"/>
                </a:solidFill>
                <a:latin typeface="Arial"/>
                <a:ea typeface="Arial"/>
                <a:cs typeface="Arial"/>
              </a:rPr>
              <a:t>1 : many</a:t>
            </a:r>
          </a:p>
        </p:txBody>
      </p:sp>
      <p:sp>
        <p:nvSpPr>
          <p:cNvPr id="9" name="">
            <a:extLst xmlns:a="http://schemas.openxmlformats.org/drawingml/2006/main">
              <a:ext uri="{FF2B5EF4-FFF2-40B4-BE49-F238E27FC236}">
                <a16:creationId xmlns:a16="http://schemas.microsoft.com/office/drawing/2014/main" id="{54ADF04D-F84E-42D2-AA8E-B2E10B03D830}"/>
              </a:ext>
            </a:extLst>
          </p:cNvPr>
          <p:cNvSpPr>
            <a:spLocks xmlns:a="http://schemas.openxmlformats.org/drawingml/2006/main" noGrp="1"/>
          </p:cNvSpPr>
          <p:nvPr/>
        </p:nvSpPr>
        <p:spPr>
          <a:xfrm xmlns:a="http://schemas.openxmlformats.org/drawingml/2006/main">
            <a:off x="666750" y="5572125"/>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Meal is the parent catalog entry. PurchaseLog stores each actual receipt. Its foreign key and restricted parent deletion preserve that relationship.</a:t>
            </a:r>
          </a:p>
        </p:txBody>
      </p:sp>
    </p:spTree>
    <p:extLst>
      <p:ext uri="{BB962C8B-B14F-4D97-AF65-F5344CB8AC3E}">
        <p14:creationId xmlns:p14="http://schemas.microsoft.com/office/powerpoint/2010/main" val="1803098972"/>
      </p:ext>
    </p:extLst>
  </p:cSld>
</p:sld>
</file>

<file path=ppt/slides/slide1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760865-F695-4EE1-AED7-327E3545DE93}"/>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F76B21E9-9747-45A8-B70B-F60CD7A82C6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CRUD functions and database IDs</a:t>
            </a:r>
          </a:p>
        </p:txBody>
      </p:sp>
      <p:sp>
        <p:nvSpPr>
          <p:cNvPr id="3" name="">
            <a:extLst xmlns:a="http://schemas.openxmlformats.org/drawingml/2006/main">
              <a:ext uri="{FF2B5EF4-FFF2-40B4-BE49-F238E27FC236}">
                <a16:creationId xmlns:a16="http://schemas.microsoft.com/office/drawing/2014/main" id="{5A37139A-B40C-48A1-88C1-E5CC49CFB32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CCECAFF-0822-4DC0-9E69-BBA433827BE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38D968B1-A492-4ACC-9CCA-27C0E5B16676}"/>
              </a:ext>
            </a:extLst>
          </p:cNvPr>
          <p:cNvSpPr>
            <a:spLocks xmlns:a="http://schemas.openxmlformats.org/drawingml/2006/main" noGrp="1"/>
          </p:cNvSpPr>
          <p:nvPr/>
        </p:nvSpPr>
        <p:spPr>
          <a:xfrm xmlns:a="http://schemas.openxmlformats.org/drawingml/2006/main">
            <a:off x="609600" y="1657350"/>
            <a:ext cx="66675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Create inserts a validated Meal and lets SQLite generate its ID. Read retrieves saved rows in a consistent order and converts them into Meal objects. Update requires an existing ID and applies changes to the row whose ID matches that value.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Delete also uses the database ID. Before deleting a meal, the data layer checks for linked purchases. The final application provides the same independent CRUD operations for PurchaseLog, allowing users to add a receipt, view it, correct its amount or remove it after confirmation.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Queries use bound arguments for IDs. Refreshing the saved lists after a successful change keeps the catalog, purchase log and totals aligned with current database rows.</a:t>
            </a:r>
          </a:p>
        </p:txBody>
      </p:sp>
      <p:sp>
        <p:nvSpPr>
          <p:cNvPr id="6" name="">
            <a:extLst xmlns:a="http://schemas.openxmlformats.org/drawingml/2006/main">
              <a:ext uri="{FF2B5EF4-FFF2-40B4-BE49-F238E27FC236}">
                <a16:creationId xmlns:a16="http://schemas.microsoft.com/office/drawing/2014/main" id="{694B203A-5DE1-475D-98D8-238D2C0C5151}"/>
              </a:ext>
            </a:extLst>
          </p:cNvPr>
          <p:cNvSpPr>
            <a:spLocks xmlns:a="http://schemas.openxmlformats.org/drawingml/2006/main" noGrp="1"/>
          </p:cNvSpPr>
          <p:nvPr/>
        </p:nvSpPr>
        <p:spPr>
          <a:xfrm xmlns:a="http://schemas.openxmlformats.org/drawingml/2006/main">
            <a:off x="7667625" y="1619250"/>
            <a:ext cx="4095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8374DBCC-87E3-4AEE-BBDE-1A986DB1FAD4}"/>
              </a:ext>
            </a:extLst>
          </p:cNvPr>
          <p:cNvSpPr>
            <a:spLocks xmlns:a="http://schemas.openxmlformats.org/drawingml/2006/main" noGrp="1"/>
          </p:cNvSpPr>
          <p:nvPr/>
        </p:nvSpPr>
        <p:spPr>
          <a:xfrm xmlns:a="http://schemas.openxmlformats.org/drawingml/2006/main">
            <a:off x="7667625" y="2209800"/>
            <a:ext cx="4095750" cy="27622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B8ECD2"/>
                </a:solidFill>
                <a:latin typeface="Menlo"/>
                <a:ea typeface="Menlo"/>
                <a:cs typeface="Menlo"/>
              </a:rPr>
              <a:t>return</a:t>
            </a:r>
            <a:r>
              <a:rPr sz="1650" b="0">
                <a:solidFill>
                  <a:srgbClr val="E2F1E8"/>
                </a:solidFill>
                <a:latin typeface="Menlo"/>
                <a:ea typeface="Menlo"/>
                <a:cs typeface="Menlo"/>
              </a:rPr>
              <a:t> (await database)</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.update(</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'meals',</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meal.toMap()..remove('id'),</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where: 'id = ?',</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whereArgs: [meal.id],</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E1D3DFC9-AC3F-4C18-89EB-16C5404BA90C}"/>
              </a:ext>
            </a:extLst>
          </p:cNvPr>
          <p:cNvSpPr>
            <a:spLocks xmlns:a="http://schemas.openxmlformats.org/drawingml/2006/main" noGrp="1"/>
          </p:cNvSpPr>
          <p:nvPr/>
        </p:nvSpPr>
        <p:spPr>
          <a:xfrm xmlns:a="http://schemas.openxmlformats.org/drawingml/2006/main">
            <a:off x="7810500" y="53340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Bound ID selects the record</a:t>
            </a:r>
          </a:p>
        </p:txBody>
      </p:sp>
    </p:spTree>
    <p:extLst>
      <p:ext uri="{BB962C8B-B14F-4D97-AF65-F5344CB8AC3E}">
        <p14:creationId xmlns:p14="http://schemas.microsoft.com/office/powerpoint/2010/main" val="2104175741"/>
      </p:ext>
    </p:extLst>
  </p:cSld>
</p:sld>
</file>

<file path=ppt/slides/slide1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F64E0BA-0A81-4EA3-88FF-F07ACD9695A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8EA85EBE-9DF8-4C46-9B2C-DB324A3E945A}"/>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Money validation and migration</a:t>
            </a:r>
          </a:p>
        </p:txBody>
      </p:sp>
      <p:sp>
        <p:nvSpPr>
          <p:cNvPr id="3" name="">
            <a:extLst xmlns:a="http://schemas.openxmlformats.org/drawingml/2006/main">
              <a:ext uri="{FF2B5EF4-FFF2-40B4-BE49-F238E27FC236}">
                <a16:creationId xmlns:a16="http://schemas.microsoft.com/office/drawing/2014/main" id="{78102BD8-9C3C-4D7D-A9F6-5A5F33E885B7}"/>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F469CE9-416F-4865-8363-01185585BC4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6866EE4A-9D4B-4087-80A6-491896178287}"/>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Required names and venue notes cannot be blank. The money parser accepts dollar input with up to two decimal places and converts it into integer cents. SQLite adds stored-type and range checks.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integrated database uses version two. Its migration preserves the original version-one meal rows and their IDs while converting the earlier decimal dollar prices into integer cents. Keeping the IDs matters because they identify the same meals before and after the upgrade.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checked the migration with an actual old-schema fixture on Android. That fixture preserves meal ID seventeen and converts a price of six dollars and fifty cents to 650 cents. This verifies preservation during an upgrade, in addition to testing a fresh database installation.</a:t>
            </a:r>
          </a:p>
        </p:txBody>
      </p:sp>
      <p:sp>
        <p:nvSpPr>
          <p:cNvPr id="6" name="">
            <a:extLst xmlns:a="http://schemas.openxmlformats.org/drawingml/2006/main">
              <a:ext uri="{FF2B5EF4-FFF2-40B4-BE49-F238E27FC236}">
                <a16:creationId xmlns:a16="http://schemas.microsoft.com/office/drawing/2014/main" id="{DAD1191C-217F-4DBE-B86B-786A18379FBC}"/>
              </a:ext>
            </a:extLst>
          </p:cNvPr>
          <p:cNvSpPr>
            <a:spLocks xmlns:a="http://schemas.openxmlformats.org/drawingml/2006/main" noGrp="1"/>
          </p:cNvSpPr>
          <p:nvPr/>
        </p:nvSpPr>
        <p:spPr>
          <a:xfrm xmlns:a="http://schemas.openxmlformats.org/drawingml/2006/main">
            <a:off x="7810500" y="1743075"/>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A3E1BBFC-7B4E-4DDA-847E-BC94728E6AC1}"/>
              </a:ext>
            </a:extLst>
          </p:cNvPr>
          <p:cNvSpPr>
            <a:spLocks xmlns:a="http://schemas.openxmlformats.org/drawingml/2006/main" noGrp="1"/>
          </p:cNvSpPr>
          <p:nvPr/>
        </p:nvSpPr>
        <p:spPr>
          <a:xfrm xmlns:a="http://schemas.openxmlformats.org/drawingml/2006/main">
            <a:off x="7810500" y="2333625"/>
            <a:ext cx="3714750" cy="20764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CAST(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ROUND(entreePrice*100)</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AS </a:t>
            </a:r>
            <a:r>
              <a:rPr sz="1875" b="0">
                <a:solidFill>
                  <a:srgbClr val="B8ECD2"/>
                </a:solidFill>
                <a:latin typeface="Menlo"/>
                <a:ea typeface="Menlo"/>
                <a:cs typeface="Menlo"/>
              </a:rPr>
              <a:t>INTEGER</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5F22D17B-BAAC-4481-85F7-4F7BBA865B31}"/>
              </a:ext>
            </a:extLst>
          </p:cNvPr>
          <p:cNvSpPr>
            <a:spLocks xmlns:a="http://schemas.openxmlformats.org/drawingml/2006/main" noGrp="1"/>
          </p:cNvSpPr>
          <p:nvPr/>
        </p:nvSpPr>
        <p:spPr>
          <a:xfrm xmlns:a="http://schemas.openxmlformats.org/drawingml/2006/main">
            <a:off x="7810500" y="48577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$6.50 becomes 650 cents</a:t>
            </a:r>
          </a:p>
        </p:txBody>
      </p:sp>
      <p:sp>
        <p:nvSpPr>
          <p:cNvPr id="9" name="">
            <a:extLst xmlns:a="http://schemas.openxmlformats.org/drawingml/2006/main">
              <a:ext uri="{FF2B5EF4-FFF2-40B4-BE49-F238E27FC236}">
                <a16:creationId xmlns:a16="http://schemas.microsoft.com/office/drawing/2014/main" id="{63D8024E-5300-4263-A7E8-CE0303D7D1F3}"/>
              </a:ext>
            </a:extLst>
          </p:cNvPr>
          <p:cNvSpPr>
            <a:spLocks xmlns:a="http://schemas.openxmlformats.org/drawingml/2006/main" noGrp="1"/>
          </p:cNvSpPr>
          <p:nvPr/>
        </p:nvSpPr>
        <p:spPr>
          <a:xfrm xmlns:a="http://schemas.openxmlformats.org/drawingml/2006/main">
            <a:off x="7810500" y="539115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Migration preserves the row ID.</a:t>
            </a:r>
          </a:p>
        </p:txBody>
      </p:sp>
    </p:spTree>
    <p:extLst>
      <p:ext uri="{BB962C8B-B14F-4D97-AF65-F5344CB8AC3E}">
        <p14:creationId xmlns:p14="http://schemas.microsoft.com/office/powerpoint/2010/main" val="1233965292"/>
      </p:ext>
    </p:extLst>
  </p:cSld>
</p:sld>
</file>

<file path=ppt/slides/slide1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613AE53-AFBC-4236-B6BF-1C9EB7635046}"/>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EB714503-764C-4AA0-B0EE-4D97A43C381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Reliable saves and purchase history</a:t>
            </a:r>
          </a:p>
        </p:txBody>
      </p:sp>
      <p:sp>
        <p:nvSpPr>
          <p:cNvPr id="3" name="">
            <a:extLst xmlns:a="http://schemas.openxmlformats.org/drawingml/2006/main">
              <a:ext uri="{FF2B5EF4-FFF2-40B4-BE49-F238E27FC236}">
                <a16:creationId xmlns:a16="http://schemas.microsoft.com/office/drawing/2014/main" id="{D5EFC4BA-3912-47A4-9D63-4D2CC67DF4A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98D42934-DBE9-4799-B87E-88B6A3E37E8D}"/>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E2B703F7-AB20-4CD1-B606-0BAE9FA7264D}"/>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Repeated taps or a retried operation should not create duplicate receipts. The final save path uses a stable token for one purchase draft. Inside a transaction, it looks for an existing receipt with that token and returns the existing ID when one is already present.</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A unique constraint protects the token. Each deliberate new purchase receives a new token, while the frontend disables Save during a pending write.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original History page supplied the Card and ListTile foundation. The integrated version now displays child purchase records and passes their IDs to the appropriate actions.</a:t>
            </a:r>
          </a:p>
        </p:txBody>
      </p:sp>
      <p:sp>
        <p:nvSpPr>
          <p:cNvPr id="6" name="">
            <a:extLst xmlns:a="http://schemas.openxmlformats.org/drawingml/2006/main">
              <a:ext uri="{FF2B5EF4-FFF2-40B4-BE49-F238E27FC236}">
                <a16:creationId xmlns:a16="http://schemas.microsoft.com/office/drawing/2014/main" id="{11C84B42-48DE-446E-971A-2145F24A9A78}"/>
              </a:ext>
            </a:extLst>
          </p:cNvPr>
          <p:cNvSpPr>
            <a:spLocks xmlns:a="http://schemas.openxmlformats.org/drawingml/2006/main" noGrp="1"/>
          </p:cNvSpPr>
          <p:nvPr/>
        </p:nvSpPr>
        <p:spPr>
          <a:xfrm xmlns:a="http://schemas.openxmlformats.org/drawingml/2006/main">
            <a:off x="7762875" y="1762125"/>
            <a:ext cx="3857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7" name="">
            <a:extLst xmlns:a="http://schemas.openxmlformats.org/drawingml/2006/main">
              <a:ext uri="{FF2B5EF4-FFF2-40B4-BE49-F238E27FC236}">
                <a16:creationId xmlns:a16="http://schemas.microsoft.com/office/drawing/2014/main" id="{3CE51A6E-A248-48EE-A255-9D06359E1AFC}"/>
              </a:ext>
            </a:extLst>
          </p:cNvPr>
          <p:cNvSpPr>
            <a:spLocks xmlns:a="http://schemas.openxmlformats.org/drawingml/2006/main" noGrp="1"/>
          </p:cNvSpPr>
          <p:nvPr/>
        </p:nvSpPr>
        <p:spPr>
          <a:xfrm xmlns:a="http://schemas.openxmlformats.org/drawingml/2006/main">
            <a:off x="7762875" y="2352675"/>
            <a:ext cx="3857625" cy="11239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saveToken TEXT NOT NULL </a:t>
            </a:r>
            <a:r>
              <a:rPr sz="1575" b="0">
                <a:solidFill>
                  <a:srgbClr val="B8ECD2"/>
                </a:solidFill>
                <a:latin typeface="Menlo"/>
                <a:ea typeface="Menlo"/>
                <a:cs typeface="Menlo"/>
              </a:rPr>
              <a:t>UNIQUE</a:t>
            </a:r>
          </a:p>
        </p:txBody>
      </p:sp>
      <p:sp>
        <p:nvSpPr>
          <p:cNvPr id="8" name="">
            <a:extLst xmlns:a="http://schemas.openxmlformats.org/drawingml/2006/main">
              <a:ext uri="{FF2B5EF4-FFF2-40B4-BE49-F238E27FC236}">
                <a16:creationId xmlns:a16="http://schemas.microsoft.com/office/drawing/2014/main" id="{C0576974-6472-4A5B-979F-500C0B166AC6}"/>
              </a:ext>
            </a:extLst>
          </p:cNvPr>
          <p:cNvSpPr>
            <a:spLocks xmlns:a="http://schemas.openxmlformats.org/drawingml/2006/main" noGrp="1"/>
          </p:cNvSpPr>
          <p:nvPr/>
        </p:nvSpPr>
        <p:spPr>
          <a:xfrm xmlns:a="http://schemas.openxmlformats.org/drawingml/2006/main">
            <a:off x="7762875" y="3886200"/>
            <a:ext cx="3857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lib/screens/purchase_editor.dart</a:t>
            </a:r>
          </a:p>
        </p:txBody>
      </p:sp>
      <p:sp>
        <p:nvSpPr>
          <p:cNvPr id="9" name="">
            <a:extLst xmlns:a="http://schemas.openxmlformats.org/drawingml/2006/main">
              <a:ext uri="{FF2B5EF4-FFF2-40B4-BE49-F238E27FC236}">
                <a16:creationId xmlns:a16="http://schemas.microsoft.com/office/drawing/2014/main" id="{A2835EEA-514C-4181-B2B1-7ADFBDA160D7}"/>
              </a:ext>
            </a:extLst>
          </p:cNvPr>
          <p:cNvSpPr>
            <a:spLocks xmlns:a="http://schemas.openxmlformats.org/drawingml/2006/main" noGrp="1"/>
          </p:cNvSpPr>
          <p:nvPr/>
        </p:nvSpPr>
        <p:spPr>
          <a:xfrm xmlns:a="http://schemas.openxmlformats.org/drawingml/2006/main">
            <a:off x="7762875" y="4476750"/>
            <a:ext cx="3857625" cy="11239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575" b="0">
                <a:solidFill>
                  <a:srgbClr val="E2F1E8"/>
                </a:solidFill>
                <a:latin typeface="Menlo"/>
                <a:ea typeface="Menlo"/>
                <a:cs typeface="Menlo"/>
              </a:defRPr>
            </a:defPPr>
            <a:lvl1pPr>
              <a:buNone/>
              <a:defRPr sz="1575" b="0">
                <a:solidFill>
                  <a:srgbClr val="E2F1E8"/>
                </a:solidFill>
                <a:latin typeface="Menlo"/>
                <a:ea typeface="Menlo"/>
                <a:cs typeface="Menlo"/>
              </a:defRPr>
            </a:lvl1pPr>
            <a:lvl2pPr>
              <a:buNone/>
              <a:defRPr sz="1575" b="0">
                <a:solidFill>
                  <a:srgbClr val="E2F1E8"/>
                </a:solidFill>
                <a:latin typeface="Menlo"/>
                <a:ea typeface="Menlo"/>
                <a:cs typeface="Menlo"/>
              </a:defRPr>
            </a:lvl2pPr>
            <a:lvl3pPr>
              <a:buNone/>
              <a:defRPr sz="1575" b="0">
                <a:solidFill>
                  <a:srgbClr val="E2F1E8"/>
                </a:solidFill>
                <a:latin typeface="Menlo"/>
                <a:ea typeface="Menlo"/>
                <a:cs typeface="Menlo"/>
              </a:defRPr>
            </a:lvl3pPr>
            <a:lvl4pPr>
              <a:buNone/>
              <a:defRPr sz="1575" b="0">
                <a:solidFill>
                  <a:srgbClr val="E2F1E8"/>
                </a:solidFill>
                <a:latin typeface="Menlo"/>
                <a:ea typeface="Menlo"/>
                <a:cs typeface="Menlo"/>
              </a:defRPr>
            </a:lvl4pPr>
            <a:lvl5pPr>
              <a:buNone/>
              <a:defRPr sz="1575" b="0">
                <a:solidFill>
                  <a:srgbClr val="E2F1E8"/>
                </a:solidFill>
                <a:latin typeface="Menlo"/>
                <a:ea typeface="Menlo"/>
                <a:cs typeface="Menlo"/>
              </a:defRPr>
            </a:lvl5pPr>
            <a:lvl6pPr>
              <a:buNone/>
              <a:defRPr sz="1575" b="0">
                <a:solidFill>
                  <a:srgbClr val="E2F1E8"/>
                </a:solidFill>
                <a:latin typeface="Menlo"/>
                <a:ea typeface="Menlo"/>
                <a:cs typeface="Menlo"/>
              </a:defRPr>
            </a:lvl6pPr>
            <a:lvl7pPr>
              <a:buNone/>
              <a:defRPr sz="1575" b="0">
                <a:solidFill>
                  <a:srgbClr val="E2F1E8"/>
                </a:solidFill>
                <a:latin typeface="Menlo"/>
                <a:ea typeface="Menlo"/>
                <a:cs typeface="Menlo"/>
              </a:defRPr>
            </a:lvl7pPr>
            <a:lvl8pPr>
              <a:buNone/>
              <a:defRPr sz="1575" b="0">
                <a:solidFill>
                  <a:srgbClr val="E2F1E8"/>
                </a:solidFill>
                <a:latin typeface="Menlo"/>
                <a:ea typeface="Menlo"/>
                <a:cs typeface="Menlo"/>
              </a:defRPr>
            </a:lvl8pPr>
            <a:lvl9pPr>
              <a:buNone/>
              <a:defRPr sz="1575" b="0">
                <a:solidFill>
                  <a:srgbClr val="E2F1E8"/>
                </a:solidFill>
                <a:latin typeface="Menlo"/>
                <a:ea typeface="Menlo"/>
                <a:cs typeface="Menlo"/>
              </a:defRPr>
            </a:lvl9pPr>
          </a:lstStyle>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onPressed:</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saving || meal == null</a:t>
            </a:r>
          </a:p>
          <a:p xmlns:a="http://schemas.openxmlformats.org/drawingml/2006/main">
            <a:pPr>
              <a:buNone/>
              <a:defRPr sz="1575" b="0">
                <a:solidFill>
                  <a:srgbClr val="E2F1E8"/>
                </a:solidFill>
                <a:latin typeface="Menlo"/>
                <a:ea typeface="Menlo"/>
                <a:cs typeface="Menlo"/>
              </a:defRPr>
            </a:pPr>
            <a:r>
              <a:rPr sz="1575" b="0">
                <a:solidFill>
                  <a:srgbClr val="E2F1E8"/>
                </a:solidFill>
                <a:latin typeface="Menlo"/>
                <a:ea typeface="Menlo"/>
                <a:cs typeface="Menlo"/>
              </a:rPr>
              <a:t>    ? null : save,</a:t>
            </a:r>
          </a:p>
        </p:txBody>
      </p:sp>
    </p:spTree>
    <p:extLst>
      <p:ext uri="{BB962C8B-B14F-4D97-AF65-F5344CB8AC3E}">
        <p14:creationId xmlns:p14="http://schemas.microsoft.com/office/powerpoint/2010/main" val="754685743"/>
      </p:ext>
    </p:extLst>
  </p:cSld>
</p:sld>
</file>

<file path=ppt/slides/slide1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CA249B1-4327-4785-9DCB-CFE2AC24360B}"/>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Backend</a:t>
            </a:r>
          </a:p>
        </p:txBody>
      </p:sp>
      <p:sp>
        <p:nvSpPr>
          <p:cNvPr id="2" name="">
            <a:extLst xmlns:a="http://schemas.openxmlformats.org/drawingml/2006/main">
              <a:ext uri="{FF2B5EF4-FFF2-40B4-BE49-F238E27FC236}">
                <a16:creationId xmlns:a16="http://schemas.microsoft.com/office/drawing/2014/main" id="{F6E87B25-D14E-453F-A17E-0EA7625B7225}"/>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Save protection in the actual code</a:t>
            </a:r>
          </a:p>
        </p:txBody>
      </p:sp>
      <p:sp>
        <p:nvSpPr>
          <p:cNvPr id="3" name="">
            <a:extLst xmlns:a="http://schemas.openxmlformats.org/drawingml/2006/main">
              <a:ext uri="{FF2B5EF4-FFF2-40B4-BE49-F238E27FC236}">
                <a16:creationId xmlns:a16="http://schemas.microsoft.com/office/drawing/2014/main" id="{52FE2658-E132-46DC-9B1D-9884046A4CF0}"/>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21C9AB8-6071-4AC0-B8E9-CE85B3E50DA5}"/>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3D2B6D87-2019-431B-8538-9CF80D53D565}"/>
              </a:ext>
            </a:extLst>
          </p:cNvPr>
          <p:cNvSpPr>
            <a:spLocks xmlns:a="http://schemas.openxmlformats.org/drawingml/2006/main" noGrp="1"/>
          </p:cNvSpPr>
          <p:nvPr/>
        </p:nvSpPr>
        <p:spPr>
          <a:xfrm xmlns:a="http://schemas.openxmlformats.org/drawingml/2006/main">
            <a:off x="666750" y="1362075"/>
            <a:ext cx="1085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lib/data/meal_database.dart</a:t>
            </a:r>
          </a:p>
        </p:txBody>
      </p:sp>
      <p:sp>
        <p:nvSpPr>
          <p:cNvPr id="6" name="">
            <a:extLst xmlns:a="http://schemas.openxmlformats.org/drawingml/2006/main">
              <a:ext uri="{FF2B5EF4-FFF2-40B4-BE49-F238E27FC236}">
                <a16:creationId xmlns:a16="http://schemas.microsoft.com/office/drawing/2014/main" id="{163B8D4D-F635-45A2-8732-4FAA85E90B96}"/>
              </a:ext>
            </a:extLst>
          </p:cNvPr>
          <p:cNvSpPr>
            <a:spLocks xmlns:a="http://schemas.openxmlformats.org/drawingml/2006/main" noGrp="1"/>
          </p:cNvSpPr>
          <p:nvPr/>
        </p:nvSpPr>
        <p:spPr>
          <a:xfrm xmlns:a="http://schemas.openxmlformats.org/drawingml/2006/main">
            <a:off x="666750" y="1952625"/>
            <a:ext cx="10858500" cy="33147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00" b="0">
                <a:solidFill>
                  <a:srgbClr val="E2F1E8"/>
                </a:solidFill>
                <a:latin typeface="Menlo"/>
                <a:ea typeface="Menlo"/>
                <a:cs typeface="Menlo"/>
              </a:defRPr>
            </a:defPPr>
            <a:lvl1pPr>
              <a:buNone/>
              <a:defRPr sz="1800" b="0">
                <a:solidFill>
                  <a:srgbClr val="E2F1E8"/>
                </a:solidFill>
                <a:latin typeface="Menlo"/>
                <a:ea typeface="Menlo"/>
                <a:cs typeface="Menlo"/>
              </a:defRPr>
            </a:lvl1pPr>
            <a:lvl2pPr>
              <a:buNone/>
              <a:defRPr sz="1800" b="0">
                <a:solidFill>
                  <a:srgbClr val="E2F1E8"/>
                </a:solidFill>
                <a:latin typeface="Menlo"/>
                <a:ea typeface="Menlo"/>
                <a:cs typeface="Menlo"/>
              </a:defRPr>
            </a:lvl2pPr>
            <a:lvl3pPr>
              <a:buNone/>
              <a:defRPr sz="1800" b="0">
                <a:solidFill>
                  <a:srgbClr val="E2F1E8"/>
                </a:solidFill>
                <a:latin typeface="Menlo"/>
                <a:ea typeface="Menlo"/>
                <a:cs typeface="Menlo"/>
              </a:defRPr>
            </a:lvl3pPr>
            <a:lvl4pPr>
              <a:buNone/>
              <a:defRPr sz="1800" b="0">
                <a:solidFill>
                  <a:srgbClr val="E2F1E8"/>
                </a:solidFill>
                <a:latin typeface="Menlo"/>
                <a:ea typeface="Menlo"/>
                <a:cs typeface="Menlo"/>
              </a:defRPr>
            </a:lvl4pPr>
            <a:lvl5pPr>
              <a:buNone/>
              <a:defRPr sz="1800" b="0">
                <a:solidFill>
                  <a:srgbClr val="E2F1E8"/>
                </a:solidFill>
                <a:latin typeface="Menlo"/>
                <a:ea typeface="Menlo"/>
                <a:cs typeface="Menlo"/>
              </a:defRPr>
            </a:lvl5pPr>
            <a:lvl6pPr>
              <a:buNone/>
              <a:defRPr sz="1800" b="0">
                <a:solidFill>
                  <a:srgbClr val="E2F1E8"/>
                </a:solidFill>
                <a:latin typeface="Menlo"/>
                <a:ea typeface="Menlo"/>
                <a:cs typeface="Menlo"/>
              </a:defRPr>
            </a:lvl6pPr>
            <a:lvl7pPr>
              <a:buNone/>
              <a:defRPr sz="1800" b="0">
                <a:solidFill>
                  <a:srgbClr val="E2F1E8"/>
                </a:solidFill>
                <a:latin typeface="Menlo"/>
                <a:ea typeface="Menlo"/>
                <a:cs typeface="Menlo"/>
              </a:defRPr>
            </a:lvl7pPr>
            <a:lvl8pPr>
              <a:buNone/>
              <a:defRPr sz="1800" b="0">
                <a:solidFill>
                  <a:srgbClr val="E2F1E8"/>
                </a:solidFill>
                <a:latin typeface="Menlo"/>
                <a:ea typeface="Menlo"/>
                <a:cs typeface="Menlo"/>
              </a:defRPr>
            </a:lvl8pPr>
            <a:lvl9pPr>
              <a:buNone/>
              <a:defRPr sz="1800" b="0">
                <a:solidFill>
                  <a:srgbClr val="E2F1E8"/>
                </a:solidFill>
                <a:latin typeface="Menlo"/>
                <a:ea typeface="Menlo"/>
                <a:cs typeface="Menlo"/>
              </a:defRPr>
            </a:lvl9pPr>
          </a:lstStyle>
          <a:p xmlns:a="http://schemas.openxmlformats.org/drawingml/2006/main">
            <a:pPr>
              <a:buNone/>
              <a:defRPr sz="1800" b="0">
                <a:solidFill>
                  <a:srgbClr val="E2F1E8"/>
                </a:solidFill>
                <a:latin typeface="Menlo"/>
                <a:ea typeface="Menlo"/>
                <a:cs typeface="Menlo"/>
              </a:defRPr>
            </a:pPr>
            <a:r>
              <a:rPr sz="1800" b="0">
                <a:solidFill>
                  <a:srgbClr val="B8ECD2"/>
                </a:solidFill>
                <a:latin typeface="Menlo"/>
                <a:ea typeface="Menlo"/>
                <a:cs typeface="Menlo"/>
              </a:rPr>
              <a:t>return</a:t>
            </a:r>
            <a:r>
              <a:rPr sz="1800" b="0">
                <a:solidFill>
                  <a:srgbClr val="E2F1E8"/>
                </a:solidFill>
                <a:latin typeface="Menlo"/>
                <a:ea typeface="Menlo"/>
                <a:cs typeface="Menlo"/>
              </a:rPr>
              <a:t> db.transaction((txn) async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r>
              <a:rPr sz="1800" b="0">
                <a:solidFill>
                  <a:srgbClr val="B8ECD2"/>
                </a:solidFill>
                <a:latin typeface="Menlo"/>
                <a:ea typeface="Menlo"/>
                <a:cs typeface="Menlo"/>
              </a:rPr>
              <a:t>final</a:t>
            </a:r>
            <a:r>
              <a:rPr sz="1800" b="0">
                <a:solidFill>
                  <a:srgbClr val="E2F1E8"/>
                </a:solidFill>
                <a:latin typeface="Menlo"/>
                <a:ea typeface="Menlo"/>
                <a:cs typeface="Menlo"/>
              </a:rPr>
              <a:t> existing = await txn.query(</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'purchase_logs',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columns: ['id'],</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where: 'saveToken =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whereArgs: [log.saveToken],</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a:t>
            </a:r>
            <a:r>
              <a:rPr sz="1800" b="0">
                <a:solidFill>
                  <a:srgbClr val="B8ECD2"/>
                </a:solidFill>
                <a:latin typeface="Menlo"/>
                <a:ea typeface="Menlo"/>
                <a:cs typeface="Menlo"/>
              </a:rPr>
              <a:t>if</a:t>
            </a:r>
            <a:r>
              <a:rPr sz="1800" b="0">
                <a:solidFill>
                  <a:srgbClr val="E2F1E8"/>
                </a:solidFill>
                <a:latin typeface="Menlo"/>
                <a:ea typeface="Menlo"/>
                <a:cs typeface="Menlo"/>
              </a:rPr>
              <a:t> (existing.isNotEmpty) return existing.first['id'] as </a:t>
            </a:r>
            <a:r>
              <a:rPr sz="1800" b="0">
                <a:solidFill>
                  <a:srgbClr val="B8ECD2"/>
                </a:solidFill>
                <a:latin typeface="Menlo"/>
                <a:ea typeface="Menlo"/>
                <a:cs typeface="Menlo"/>
              </a:rPr>
              <a:t>int</a:t>
            </a:r>
            <a:r>
              <a:rPr sz="1800" b="0">
                <a:solidFill>
                  <a:srgbClr val="E2F1E8"/>
                </a:solidFill>
                <a:latin typeface="Menlo"/>
                <a:ea typeface="Menlo"/>
                <a:cs typeface="Menlo"/>
              </a:rPr>
              <a:t>;</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return txn.insert('purchase_logs', log.toMap()..remove('id'));</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a:t>
            </a:r>
          </a:p>
        </p:txBody>
      </p:sp>
      <p:sp>
        <p:nvSpPr>
          <p:cNvPr id="7" name="">
            <a:extLst xmlns:a="http://schemas.openxmlformats.org/drawingml/2006/main">
              <a:ext uri="{FF2B5EF4-FFF2-40B4-BE49-F238E27FC236}">
                <a16:creationId xmlns:a16="http://schemas.microsoft.com/office/drawing/2014/main" id="{96CC8DB0-BB75-4D5E-936A-E5E57B1C16BA}"/>
              </a:ext>
            </a:extLst>
          </p:cNvPr>
          <p:cNvSpPr>
            <a:spLocks xmlns:a="http://schemas.openxmlformats.org/drawingml/2006/main" noGrp="1"/>
          </p:cNvSpPr>
          <p:nvPr/>
        </p:nvSpPr>
        <p:spPr>
          <a:xfrm xmlns:a="http://schemas.openxmlformats.org/drawingml/2006/main">
            <a:off x="666750" y="5381625"/>
            <a:ext cx="10858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transaction checks the draft token before inserting. Retrying the same draft returns its existing receipt ID. A new purchase receives a new token. Om will now explain how the frontend connects these backend operations to the student's workflow.</a:t>
            </a:r>
          </a:p>
        </p:txBody>
      </p:sp>
    </p:spTree>
    <p:extLst>
      <p:ext uri="{BB962C8B-B14F-4D97-AF65-F5344CB8AC3E}">
        <p14:creationId xmlns:p14="http://schemas.microsoft.com/office/powerpoint/2010/main" val="1108021270"/>
      </p:ext>
    </p:extLst>
  </p:cSld>
</p:sld>
</file>

<file path=ppt/slides/slide1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BE407C-CD65-4CA6-9EC7-0A2DE876C931}"/>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5DA85A49-72C5-453E-BF77-DE141151F48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Frontend navigation and screen roles</a:t>
            </a:r>
          </a:p>
        </p:txBody>
      </p:sp>
      <p:sp>
        <p:nvSpPr>
          <p:cNvPr id="3" name="">
            <a:extLst xmlns:a="http://schemas.openxmlformats.org/drawingml/2006/main">
              <a:ext uri="{FF2B5EF4-FFF2-40B4-BE49-F238E27FC236}">
                <a16:creationId xmlns:a16="http://schemas.microsoft.com/office/drawing/2014/main" id="{7556E369-C10C-41DB-AEDC-9DF89C6AF9F1}"/>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0DB27D55-7371-4EB0-872C-A1792EC78998}"/>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3864865A-C127-4F6E-877C-AA3E1DEEA8B2}"/>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My frontend work connects the student's actions to the shared data layer. Home provides meal search, a cuisine filter and a favorites filter. Add and Edit open the same meal form. View meal opens the planning activity, where the student can enter an actual purchase amount.</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History is the purchase log. It displays receipts with their amounts and dates and supports viewing, correction and deletion. Its selected filters determine the spending total. Settings provides the budget slider and a saved display preference, completing the five required screen roles.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Stateless MealCard and EmptyView render supplied values and callbacks. Reusing them keeps presentation consistent when saved records change or a filter returns no results.</a:t>
            </a:r>
          </a:p>
        </p:txBody>
      </p:sp>
      <p:sp>
        <p:nvSpPr>
          <p:cNvPr id="6" name="">
            <a:extLst xmlns:a="http://schemas.openxmlformats.org/drawingml/2006/main">
              <a:ext uri="{FF2B5EF4-FFF2-40B4-BE49-F238E27FC236}">
                <a16:creationId xmlns:a16="http://schemas.microsoft.com/office/drawing/2014/main" id="{5F193F22-2CC5-41A8-92FA-9159717D736D}"/>
              </a:ext>
            </a:extLst>
          </p:cNvPr>
          <p:cNvSpPr>
            <a:spLocks xmlns:a="http://schemas.openxmlformats.org/drawingml/2006/main" noGrp="1"/>
          </p:cNvSpPr>
          <p:nvPr/>
        </p:nvSpPr>
        <p:spPr>
          <a:xfrm xmlns:a="http://schemas.openxmlformats.org/drawingml/2006/main">
            <a:off x="7810500" y="168592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Navigation remains available</a:t>
            </a:r>
          </a:p>
        </p:txBody>
      </p:sp>
      <p:pic>
        <p:nvPicPr>
          <p:cNvPr id="7" name="">
            <a:extLst xmlns:a="http://schemas.openxmlformats.org/drawingml/2006/main">
              <a:ext uri="{FF2B5EF4-FFF2-40B4-BE49-F238E27FC236}">
                <a16:creationId xmlns:a16="http://schemas.microsoft.com/office/drawing/2014/main" id="{E1820E8F-1CCD-4438-8993-AE2E047F6C80}"/>
              </a:ext>
            </a:extLst>
          </p:cNvPr>
          <p:cNvPicPr>
            <a:picLocks xmlns:a="http://schemas.openxmlformats.org/drawingml/2006/main" noChangeAspect="1"/>
          </p:cNvPicPr>
          <p:nvPr/>
        </p:nvPicPr>
        <p:blipFill>
          <a:blip xmlns:r="http://schemas.openxmlformats.org/officeDocument/2006/relationships" xmlns:a="http://schemas.openxmlformats.org/drawingml/2006/main" r:embed="R6ac8423a31c248e7"/>
          <a:stretch xmlns:a="http://schemas.openxmlformats.org/drawingml/2006/main"/>
        </p:blipFill>
        <p:spPr>
          <a:xfrm xmlns:a="http://schemas.openxmlformats.org/drawingml/2006/main">
            <a:off x="8526780" y="2228850"/>
            <a:ext cx="1748790" cy="3886200"/>
          </a:xfrm>
          <a:prstGeom xmlns:a="http://schemas.openxmlformats.org/drawingml/2006/main" prst="rect">
            <a:avLst/>
          </a:prstGeom>
        </p:spPr>
      </p:pic>
    </p:spTree>
    <p:extLst>
      <p:ext uri="{BB962C8B-B14F-4D97-AF65-F5344CB8AC3E}">
        <p14:creationId xmlns:p14="http://schemas.microsoft.com/office/powerpoint/2010/main" val="1526955900"/>
      </p:ext>
    </p:extLst>
  </p:cSld>
</p:sld>
</file>

<file path=ppt/slides/slide1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8E28D3-E6BF-42E2-BB33-674507102A80}"/>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EEC70C2F-4083-4978-AA54-A2C89BB7393F}"/>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Shared state and widget lifecycle</a:t>
            </a:r>
          </a:p>
        </p:txBody>
      </p:sp>
      <p:sp>
        <p:nvSpPr>
          <p:cNvPr id="3" name="">
            <a:extLst xmlns:a="http://schemas.openxmlformats.org/drawingml/2006/main">
              <a:ext uri="{FF2B5EF4-FFF2-40B4-BE49-F238E27FC236}">
                <a16:creationId xmlns:a16="http://schemas.microsoft.com/office/drawing/2014/main" id="{4FE64625-7E7E-497E-BF23-E800B480E4E8}"/>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D0AB8E15-0859-4248-885F-EB7540415DD3}"/>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DD9A2267-237D-4400-8C6A-5B9246C48AD6}"/>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AppStore is our shared ChangeNotifier. It holds the loaded meals, purchases, budget and dark-mode value. After a successful database mutation, refreshing the store reloads current rows and notifies the interface. This allows multiple screens to reflect the same saved information.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forms use StatefulWidget for temporary input, validation and a pending-save flag. For example, dragging the budget slider shows a draft value immediately, while releasing it saves the preference. This separates interaction in progress from the value that has successfully reached local storage.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dispose controllers and check mounted after asynchronous operations. The application owns database lifetime, and AppStore suppresses notifications after disposal, reducing stale updates.</a:t>
            </a:r>
          </a:p>
        </p:txBody>
      </p:sp>
      <p:sp>
        <p:nvSpPr>
          <p:cNvPr id="6" name="">
            <a:extLst xmlns:a="http://schemas.openxmlformats.org/drawingml/2006/main">
              <a:ext uri="{FF2B5EF4-FFF2-40B4-BE49-F238E27FC236}">
                <a16:creationId xmlns:a16="http://schemas.microsoft.com/office/drawing/2014/main" id="{E92386BC-3B04-42CE-A1B6-F1FC85F03E32}"/>
              </a:ext>
            </a:extLst>
          </p:cNvPr>
          <p:cNvSpPr>
            <a:spLocks xmlns:a="http://schemas.openxmlformats.org/drawingml/2006/main" noGrp="1"/>
          </p:cNvSpPr>
          <p:nvPr/>
        </p:nvSpPr>
        <p:spPr>
          <a:xfrm xmlns:a="http://schemas.openxmlformats.org/drawingml/2006/main">
            <a:off x="7810500" y="167640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lib/state/app_store.dart</a:t>
            </a:r>
          </a:p>
        </p:txBody>
      </p:sp>
      <p:sp>
        <p:nvSpPr>
          <p:cNvPr id="7" name="">
            <a:extLst xmlns:a="http://schemas.openxmlformats.org/drawingml/2006/main">
              <a:ext uri="{FF2B5EF4-FFF2-40B4-BE49-F238E27FC236}">
                <a16:creationId xmlns:a16="http://schemas.microsoft.com/office/drawing/2014/main" id="{80615658-7B67-42A3-8640-8DB434182D67}"/>
              </a:ext>
            </a:extLst>
          </p:cNvPr>
          <p:cNvSpPr>
            <a:spLocks xmlns:a="http://schemas.openxmlformats.org/drawingml/2006/main" noGrp="1"/>
          </p:cNvSpPr>
          <p:nvPr/>
        </p:nvSpPr>
        <p:spPr>
          <a:xfrm xmlns:a="http://schemas.openxmlformats.org/drawingml/2006/main">
            <a:off x="7810500" y="2266950"/>
            <a:ext cx="3714750" cy="2047875"/>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void</a:t>
            </a:r>
            <a:r>
              <a:rPr sz="1875" b="0">
                <a:solidFill>
                  <a:srgbClr val="E2F1E8"/>
                </a:solidFill>
                <a:latin typeface="Menlo"/>
                <a:ea typeface="Menlo"/>
                <a:cs typeface="Menlo"/>
              </a:rPr>
              <a:t> _not</a:t>
            </a:r>
            <a:r>
              <a:rPr sz="1875" b="0">
                <a:solidFill>
                  <a:srgbClr val="B8ECD2"/>
                </a:solidFill>
                <a:latin typeface="Menlo"/>
                <a:ea typeface="Menlo"/>
                <a:cs typeface="Menlo"/>
              </a:rPr>
              <a:t>if</a:t>
            </a:r>
            <a:r>
              <a:rPr sz="1875" b="0">
                <a:solidFill>
                  <a:srgbClr val="E2F1E8"/>
                </a:solidFill>
                <a:latin typeface="Menlo"/>
                <a:ea typeface="Menlo"/>
                <a:cs typeface="Menlo"/>
              </a:rPr>
              <a:t>y() {</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if (!_closed)</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notifyListeners();</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AB30CDC7-1D11-4D49-8F34-9C5DFDFD18E6}"/>
              </a:ext>
            </a:extLst>
          </p:cNvPr>
          <p:cNvSpPr>
            <a:spLocks xmlns:a="http://schemas.openxmlformats.org/drawingml/2006/main" noGrp="1"/>
          </p:cNvSpPr>
          <p:nvPr/>
        </p:nvSpPr>
        <p:spPr>
          <a:xfrm xmlns:a="http://schemas.openxmlformats.org/drawingml/2006/main">
            <a:off x="7810500" y="4857750"/>
            <a:ext cx="371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Shared updates stop after disposal</a:t>
            </a:r>
          </a:p>
        </p:txBody>
      </p:sp>
    </p:spTree>
    <p:extLst>
      <p:ext uri="{BB962C8B-B14F-4D97-AF65-F5344CB8AC3E}">
        <p14:creationId xmlns:p14="http://schemas.microsoft.com/office/powerpoint/2010/main" val="1972596227"/>
      </p:ext>
    </p:extLst>
  </p:cSld>
</p:sld>
</file>

<file path=ppt/slides/slide16.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EC0DE90-033E-4658-9F7C-8C100C9EE78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Om speaking: Frontend contributions</a:t>
            </a:r>
          </a:p>
        </p:txBody>
      </p:sp>
      <p:sp>
        <p:nvSpPr>
          <p:cNvPr id="2" name="">
            <a:extLst xmlns:a="http://schemas.openxmlformats.org/drawingml/2006/main">
              <a:ext uri="{FF2B5EF4-FFF2-40B4-BE49-F238E27FC236}">
                <a16:creationId xmlns:a16="http://schemas.microsoft.com/office/drawing/2014/main" id="{9A2405D1-1555-4FE1-8605-5E2F7D080E45}"/>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Meal editor and input feedback</a:t>
            </a:r>
          </a:p>
        </p:txBody>
      </p:sp>
      <p:sp>
        <p:nvSpPr>
          <p:cNvPr id="3" name="">
            <a:extLst xmlns:a="http://schemas.openxmlformats.org/drawingml/2006/main">
              <a:ext uri="{FF2B5EF4-FFF2-40B4-BE49-F238E27FC236}">
                <a16:creationId xmlns:a16="http://schemas.microsoft.com/office/drawing/2014/main" id="{081D850A-23DB-4E4F-9C90-0BE34282B7D6}"/>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334AB3E-BDB0-46EC-AB00-82822630A6E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C7D74458-C0F3-4277-AE80-A7A42F6A07A3}"/>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MealEditor handles both creation and updates. Editing loads the selected Meal's current values and retains its ID. Creating collects new values and receives a database-generated ID after saving.</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form requires a meal name and venue note and validates the money fields before submitting. An inline message explains an invalid amount, so the student can correct the input instead of discovering the problem after leaving the page. All amounts have explicit USD labels.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Saving and navigation wait for the asynchronous operation to finish. If a write fails, the form provides feedback and preserves the draft. Delete actions require confirmation, and linked purchase records produce a clear restriction message. This connects backend rules to understandable user feedback.</a:t>
            </a:r>
          </a:p>
        </p:txBody>
      </p:sp>
      <p:sp>
        <p:nvSpPr>
          <p:cNvPr id="6" name="">
            <a:extLst xmlns:a="http://schemas.openxmlformats.org/drawingml/2006/main">
              <a:ext uri="{FF2B5EF4-FFF2-40B4-BE49-F238E27FC236}">
                <a16:creationId xmlns:a16="http://schemas.microsoft.com/office/drawing/2014/main" id="{A4C3CAEB-4DCD-4701-BFC5-5250DDA21819}"/>
              </a:ext>
            </a:extLst>
          </p:cNvPr>
          <p:cNvSpPr>
            <a:spLocks xmlns:a="http://schemas.openxmlformats.org/drawingml/2006/main" noGrp="1"/>
          </p:cNvSpPr>
          <p:nvPr/>
        </p:nvSpPr>
        <p:spPr>
          <a:xfrm xmlns:a="http://schemas.openxmlformats.org/drawingml/2006/main">
            <a:off x="7810500" y="171450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The same editor supports updates</a:t>
            </a:r>
          </a:p>
        </p:txBody>
      </p:sp>
      <p:pic>
        <p:nvPicPr>
          <p:cNvPr id="7" name="">
            <a:extLst xmlns:a="http://schemas.openxmlformats.org/drawingml/2006/main">
              <a:ext uri="{FF2B5EF4-FFF2-40B4-BE49-F238E27FC236}">
                <a16:creationId xmlns:a16="http://schemas.microsoft.com/office/drawing/2014/main" id="{D7848EAB-E856-424D-A61A-ADE79331D797}"/>
              </a:ext>
            </a:extLst>
          </p:cNvPr>
          <p:cNvPicPr>
            <a:picLocks xmlns:a="http://schemas.openxmlformats.org/drawingml/2006/main" noChangeAspect="1"/>
          </p:cNvPicPr>
          <p:nvPr/>
        </p:nvPicPr>
        <p:blipFill>
          <a:blip xmlns:r="http://schemas.openxmlformats.org/officeDocument/2006/relationships" xmlns:a="http://schemas.openxmlformats.org/drawingml/2006/main" r:embed="Rb9f803e7a19743ad"/>
          <a:srcRect xmlns:a="http://schemas.openxmlformats.org/drawingml/2006/main" l="4000" t="32500" r="4000" b="50000"/>
          <a:stretch xmlns:a="http://schemas.openxmlformats.org/drawingml/2006/main"/>
        </p:blipFill>
        <p:spPr>
          <a:xfrm xmlns:a="http://schemas.openxmlformats.org/drawingml/2006/main">
            <a:off x="7810500" y="2428875"/>
            <a:ext cx="3714750" cy="15906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1549F33-F843-4BED-9417-9461163D5AE2}"/>
              </a:ext>
            </a:extLst>
          </p:cNvPr>
          <p:cNvSpPr>
            <a:spLocks xmlns:a="http://schemas.openxmlformats.org/drawingml/2006/main" noGrp="1"/>
          </p:cNvSpPr>
          <p:nvPr/>
        </p:nvSpPr>
        <p:spPr>
          <a:xfrm xmlns:a="http://schemas.openxmlformats.org/drawingml/2006/main">
            <a:off x="7810500" y="43338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Explicit Save after validation</a:t>
            </a:r>
          </a:p>
        </p:txBody>
      </p:sp>
      <p:pic>
        <p:nvPicPr>
          <p:cNvPr id="9" name="">
            <a:extLst xmlns:a="http://schemas.openxmlformats.org/drawingml/2006/main">
              <a:ext uri="{FF2B5EF4-FFF2-40B4-BE49-F238E27FC236}">
                <a16:creationId xmlns:a16="http://schemas.microsoft.com/office/drawing/2014/main" id="{1A5C5A66-3A52-4FC5-9289-CF75F7F5676E}"/>
              </a:ext>
            </a:extLst>
          </p:cNvPr>
          <p:cNvPicPr>
            <a:picLocks xmlns:a="http://schemas.openxmlformats.org/drawingml/2006/main" noChangeAspect="1"/>
          </p:cNvPicPr>
          <p:nvPr/>
        </p:nvPicPr>
        <p:blipFill>
          <a:blip xmlns:r="http://schemas.openxmlformats.org/officeDocument/2006/relationships" xmlns:a="http://schemas.openxmlformats.org/drawingml/2006/main" r:embed="Ra13701a29ec94018"/>
          <a:srcRect xmlns:a="http://schemas.openxmlformats.org/drawingml/2006/main" l="4000" t="86500" r="4000" b="6500"/>
          <a:stretch xmlns:a="http://schemas.openxmlformats.org/drawingml/2006/main"/>
        </p:blipFill>
        <p:spPr>
          <a:xfrm xmlns:a="http://schemas.openxmlformats.org/drawingml/2006/main">
            <a:off x="7810500" y="5010150"/>
            <a:ext cx="3714750" cy="6286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819572C8-CC5F-4577-87C8-A390B9BDED90}"/>
              </a:ext>
            </a:extLst>
          </p:cNvPr>
          <p:cNvSpPr>
            <a:spLocks xmlns:a="http://schemas.openxmlformats.org/drawingml/2006/main" noGrp="1"/>
          </p:cNvSpPr>
          <p:nvPr/>
        </p:nvSpPr>
        <p:spPr>
          <a:xfrm xmlns:a="http://schemas.openxmlformats.org/drawingml/2006/main">
            <a:off x="7810500" y="588645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will continue from here.</a:t>
            </a:r>
          </a:p>
        </p:txBody>
      </p:sp>
    </p:spTree>
    <p:extLst>
      <p:ext uri="{BB962C8B-B14F-4D97-AF65-F5344CB8AC3E}">
        <p14:creationId xmlns:p14="http://schemas.microsoft.com/office/powerpoint/2010/main" val="1774955214"/>
      </p:ext>
    </p:extLst>
  </p:cSld>
</p:sld>
</file>

<file path=ppt/slides/slide1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6E934E-DFBE-4F32-8363-A52396C5B2E7}"/>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BC6A896-F41D-47EA-B804-C2451D9935BC}"/>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Plan, purchase and saved preferences</a:t>
            </a:r>
          </a:p>
        </p:txBody>
      </p:sp>
      <p:sp>
        <p:nvSpPr>
          <p:cNvPr id="3" name="">
            <a:extLst xmlns:a="http://schemas.openxmlformats.org/drawingml/2006/main">
              <a:ext uri="{FF2B5EF4-FFF2-40B4-BE49-F238E27FC236}">
                <a16:creationId xmlns:a16="http://schemas.microsoft.com/office/drawing/2014/main" id="{F876D2E6-1E90-4E64-B894-303C7C0FF47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C3BEA981-E556-4844-9CE5-E75CB52512AE}"/>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0AC20ED2-84E9-4ED0-B696-41B43AD0B03B}"/>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activity begins with Start plan. The student enters the actual amount and explicitly chooses Save purchase and finish. An amount over the lunch budget triggers a confirmation. Reset asks for confirmation and discards the active unsaved draft while keeping saved purchase history available.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Correcting a receipt refreshes its actual amount, spending total and dependent Lunch Lens result. The flow distinguishes current catalog estimates, unsaved drafts and saved receipts.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budget slider covers zero to thirty dollars in fifty-cent steps. SharedPreferences stores the budget and dark mode, while SQLite stores the meals and receipts. The application loads both kinds of saved information after a process restart, which we also demonstrate with networking disabled.</a:t>
            </a:r>
          </a:p>
        </p:txBody>
      </p:sp>
      <p:sp>
        <p:nvSpPr>
          <p:cNvPr id="6" name="">
            <a:extLst xmlns:a="http://schemas.openxmlformats.org/drawingml/2006/main">
              <a:ext uri="{FF2B5EF4-FFF2-40B4-BE49-F238E27FC236}">
                <a16:creationId xmlns:a16="http://schemas.microsoft.com/office/drawing/2014/main" id="{B732DD41-7620-4F2F-BDC0-6F52AEC363EA}"/>
              </a:ext>
            </a:extLst>
          </p:cNvPr>
          <p:cNvSpPr>
            <a:spLocks xmlns:a="http://schemas.openxmlformats.org/drawingml/2006/main" noGrp="1"/>
          </p:cNvSpPr>
          <p:nvPr/>
        </p:nvSpPr>
        <p:spPr>
          <a:xfrm xmlns:a="http://schemas.openxmlformats.org/drawingml/2006/main">
            <a:off x="7810500" y="16954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6452"/>
                </a:solidFill>
                <a:latin typeface="Arial"/>
                <a:ea typeface="Arial"/>
                <a:cs typeface="Arial"/>
              </a:defRPr>
            </a:defPPr>
            <a:lvl1pPr>
              <a:buNone/>
              <a:defRPr sz="1725" b="1">
                <a:solidFill>
                  <a:srgbClr val="176452"/>
                </a:solidFill>
                <a:latin typeface="Arial"/>
                <a:ea typeface="Arial"/>
                <a:cs typeface="Arial"/>
              </a:defRPr>
            </a:lvl1pPr>
            <a:lvl2pPr>
              <a:buNone/>
              <a:defRPr sz="1725" b="1">
                <a:solidFill>
                  <a:srgbClr val="176452"/>
                </a:solidFill>
                <a:latin typeface="Arial"/>
                <a:ea typeface="Arial"/>
                <a:cs typeface="Arial"/>
              </a:defRPr>
            </a:lvl2pPr>
            <a:lvl3pPr>
              <a:buNone/>
              <a:defRPr sz="1725" b="1">
                <a:solidFill>
                  <a:srgbClr val="176452"/>
                </a:solidFill>
                <a:latin typeface="Arial"/>
                <a:ea typeface="Arial"/>
                <a:cs typeface="Arial"/>
              </a:defRPr>
            </a:lvl3pPr>
            <a:lvl4pPr>
              <a:buNone/>
              <a:defRPr sz="1725" b="1">
                <a:solidFill>
                  <a:srgbClr val="176452"/>
                </a:solidFill>
                <a:latin typeface="Arial"/>
                <a:ea typeface="Arial"/>
                <a:cs typeface="Arial"/>
              </a:defRPr>
            </a:lvl4pPr>
            <a:lvl5pPr>
              <a:buNone/>
              <a:defRPr sz="1725" b="1">
                <a:solidFill>
                  <a:srgbClr val="176452"/>
                </a:solidFill>
                <a:latin typeface="Arial"/>
                <a:ea typeface="Arial"/>
                <a:cs typeface="Arial"/>
              </a:defRPr>
            </a:lvl5pPr>
            <a:lvl6pPr>
              <a:buNone/>
              <a:defRPr sz="1725" b="1">
                <a:solidFill>
                  <a:srgbClr val="176452"/>
                </a:solidFill>
                <a:latin typeface="Arial"/>
                <a:ea typeface="Arial"/>
                <a:cs typeface="Arial"/>
              </a:defRPr>
            </a:lvl6pPr>
            <a:lvl7pPr>
              <a:buNone/>
              <a:defRPr sz="1725" b="1">
                <a:solidFill>
                  <a:srgbClr val="176452"/>
                </a:solidFill>
                <a:latin typeface="Arial"/>
                <a:ea typeface="Arial"/>
                <a:cs typeface="Arial"/>
              </a:defRPr>
            </a:lvl7pPr>
            <a:lvl8pPr>
              <a:buNone/>
              <a:defRPr sz="1725" b="1">
                <a:solidFill>
                  <a:srgbClr val="176452"/>
                </a:solidFill>
                <a:latin typeface="Arial"/>
                <a:ea typeface="Arial"/>
                <a:cs typeface="Arial"/>
              </a:defRPr>
            </a:lvl8pPr>
            <a:lvl9pPr>
              <a:buNone/>
              <a:defRPr sz="1725" b="1">
                <a:solidFill>
                  <a:srgbClr val="176452"/>
                </a:solidFill>
                <a:latin typeface="Arial"/>
                <a:ea typeface="Arial"/>
                <a:cs typeface="Arial"/>
              </a:defRPr>
            </a:lvl9pPr>
          </a:lstStyle>
          <a:p xmlns:a="http://schemas.openxmlformats.org/drawingml/2006/main">
            <a:pPr>
              <a:buNone/>
              <a:defRPr sz="1725" b="1">
                <a:solidFill>
                  <a:srgbClr val="176452"/>
                </a:solidFill>
                <a:latin typeface="Arial"/>
                <a:ea typeface="Arial"/>
                <a:cs typeface="Arial"/>
              </a:defRPr>
            </a:pPr>
            <a:r>
              <a:rPr sz="1725" b="1">
                <a:solidFill>
                  <a:srgbClr val="176452"/>
                </a:solidFill>
                <a:latin typeface="Arial"/>
                <a:ea typeface="Arial"/>
                <a:cs typeface="Arial"/>
              </a:rPr>
              <a:t>Reset affects the unsaved draft</a:t>
            </a:r>
          </a:p>
        </p:txBody>
      </p:sp>
      <p:pic>
        <p:nvPicPr>
          <p:cNvPr id="7" name="">
            <a:extLst xmlns:a="http://schemas.openxmlformats.org/drawingml/2006/main">
              <a:ext uri="{FF2B5EF4-FFF2-40B4-BE49-F238E27FC236}">
                <a16:creationId xmlns:a16="http://schemas.microsoft.com/office/drawing/2014/main" id="{E9FB4DFA-CE81-4266-993C-8439A0101364}"/>
              </a:ext>
            </a:extLst>
          </p:cNvPr>
          <p:cNvPicPr>
            <a:picLocks xmlns:a="http://schemas.openxmlformats.org/drawingml/2006/main" noChangeAspect="1"/>
          </p:cNvPicPr>
          <p:nvPr/>
        </p:nvPicPr>
        <p:blipFill>
          <a:blip xmlns:r="http://schemas.openxmlformats.org/officeDocument/2006/relationships" xmlns:a="http://schemas.openxmlformats.org/drawingml/2006/main" r:embed="R352c09315d5e41b1"/>
          <a:srcRect xmlns:a="http://schemas.openxmlformats.org/drawingml/2006/main" l="8000" t="40000" r="8000" b="37000"/>
          <a:stretch xmlns:a="http://schemas.openxmlformats.org/drawingml/2006/main"/>
        </p:blipFill>
        <p:spPr>
          <a:xfrm xmlns:a="http://schemas.openxmlformats.org/drawingml/2006/main">
            <a:off x="7810500" y="2400300"/>
            <a:ext cx="3714750" cy="22669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502D84F2-795A-4E62-B9BF-229494C28D37}"/>
              </a:ext>
            </a:extLst>
          </p:cNvPr>
          <p:cNvSpPr>
            <a:spLocks xmlns:a="http://schemas.openxmlformats.org/drawingml/2006/main" noGrp="1"/>
          </p:cNvSpPr>
          <p:nvPr/>
        </p:nvSpPr>
        <p:spPr>
          <a:xfrm xmlns:a="http://schemas.openxmlformats.org/drawingml/2006/main">
            <a:off x="7810500" y="5238750"/>
            <a:ext cx="37623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The confirmation explicitly preserves saved purchase history.</a:t>
            </a:r>
          </a:p>
        </p:txBody>
      </p:sp>
    </p:spTree>
    <p:extLst>
      <p:ext uri="{BB962C8B-B14F-4D97-AF65-F5344CB8AC3E}">
        <p14:creationId xmlns:p14="http://schemas.microsoft.com/office/powerpoint/2010/main" val="912633506"/>
      </p:ext>
    </p:extLst>
  </p:cSld>
</p:sld>
</file>

<file path=ppt/slides/slide18.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519D3C2-57BB-4317-AEB6-8974D38914A4}"/>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64C432F1-DB4F-483C-924A-70526A02A1C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Receipt correction in practice</a:t>
            </a:r>
          </a:p>
        </p:txBody>
      </p:sp>
      <p:sp>
        <p:nvSpPr>
          <p:cNvPr id="3" name="">
            <a:extLst xmlns:a="http://schemas.openxmlformats.org/drawingml/2006/main">
              <a:ext uri="{FF2B5EF4-FFF2-40B4-BE49-F238E27FC236}">
                <a16:creationId xmlns:a16="http://schemas.microsoft.com/office/drawing/2014/main" id="{ABDD265F-F266-4392-924F-43CB3AF8DE9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95FAF8EA-F680-4954-98A3-5D76BDB986CC}"/>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2EF52F66-E76A-4416-83F3-4CB5B1479831}"/>
              </a:ext>
            </a:extLst>
          </p:cNvPr>
          <p:cNvSpPr>
            <a:spLocks xmlns:a="http://schemas.openxmlformats.org/drawingml/2006/main" noGrp="1"/>
          </p:cNvSpPr>
          <p:nvPr/>
        </p:nvSpPr>
        <p:spPr>
          <a:xfrm xmlns:a="http://schemas.openxmlformats.org/drawingml/2006/main">
            <a:off x="666750" y="1524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Original saved amount</a:t>
            </a:r>
          </a:p>
        </p:txBody>
      </p:sp>
      <p:sp>
        <p:nvSpPr>
          <p:cNvPr id="6" name="">
            <a:extLst xmlns:a="http://schemas.openxmlformats.org/drawingml/2006/main">
              <a:ext uri="{FF2B5EF4-FFF2-40B4-BE49-F238E27FC236}">
                <a16:creationId xmlns:a16="http://schemas.microsoft.com/office/drawing/2014/main" id="{A9E6788B-80B8-4A34-86C1-D7EB9D9503EB}"/>
              </a:ext>
            </a:extLst>
          </p:cNvPr>
          <p:cNvSpPr>
            <a:spLocks xmlns:a="http://schemas.openxmlformats.org/drawingml/2006/main" noGrp="1"/>
          </p:cNvSpPr>
          <p:nvPr/>
        </p:nvSpPr>
        <p:spPr>
          <a:xfrm xmlns:a="http://schemas.openxmlformats.org/drawingml/2006/main">
            <a:off x="4619625" y="1524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Corrected saved amount</a:t>
            </a:r>
          </a:p>
        </p:txBody>
      </p:sp>
      <p:pic>
        <p:nvPicPr>
          <p:cNvPr id="7" name="">
            <a:extLst xmlns:a="http://schemas.openxmlformats.org/drawingml/2006/main">
              <a:ext uri="{FF2B5EF4-FFF2-40B4-BE49-F238E27FC236}">
                <a16:creationId xmlns:a16="http://schemas.microsoft.com/office/drawing/2014/main" id="{2EEC5372-02AB-4CBD-8E5D-A82BA391F44D}"/>
              </a:ext>
            </a:extLst>
          </p:cNvPr>
          <p:cNvPicPr>
            <a:picLocks xmlns:a="http://schemas.openxmlformats.org/drawingml/2006/main" noChangeAspect="1"/>
          </p:cNvPicPr>
          <p:nvPr/>
        </p:nvPicPr>
        <p:blipFill>
          <a:blip xmlns:r="http://schemas.openxmlformats.org/officeDocument/2006/relationships" xmlns:a="http://schemas.openxmlformats.org/drawingml/2006/main" r:embed="Rbde628fc647b458f"/>
          <a:srcRect xmlns:a="http://schemas.openxmlformats.org/drawingml/2006/main" l="2000" t="37000" r="2000" b="19000"/>
          <a:stretch xmlns:a="http://schemas.openxmlformats.org/drawingml/2006/main"/>
        </p:blipFill>
        <p:spPr>
          <a:xfrm xmlns:a="http://schemas.openxmlformats.org/drawingml/2006/main">
            <a:off x="666750" y="2219325"/>
            <a:ext cx="3286125" cy="334327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02E7A4F-DACB-4F01-95A8-C7F1D4D6B50A}"/>
              </a:ext>
            </a:extLst>
          </p:cNvPr>
          <p:cNvPicPr>
            <a:picLocks xmlns:a="http://schemas.openxmlformats.org/drawingml/2006/main" noChangeAspect="1"/>
          </p:cNvPicPr>
          <p:nvPr/>
        </p:nvPicPr>
        <p:blipFill>
          <a:blip xmlns:r="http://schemas.openxmlformats.org/officeDocument/2006/relationships" xmlns:a="http://schemas.openxmlformats.org/drawingml/2006/main" r:embed="R941541a88a874c5b"/>
          <a:srcRect xmlns:a="http://schemas.openxmlformats.org/drawingml/2006/main" l="2000" t="37000" r="2000" b="19000"/>
          <a:stretch xmlns:a="http://schemas.openxmlformats.org/drawingml/2006/main"/>
        </p:blipFill>
        <p:spPr>
          <a:xfrm xmlns:a="http://schemas.openxmlformats.org/drawingml/2006/main">
            <a:off x="4619625" y="2219325"/>
            <a:ext cx="3286125" cy="334327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894C5BB-2C3A-4EC1-8D46-720F4B6C2401}"/>
              </a:ext>
            </a:extLst>
          </p:cNvPr>
          <p:cNvSpPr>
            <a:spLocks xmlns:a="http://schemas.openxmlformats.org/drawingml/2006/main" noGrp="1"/>
          </p:cNvSpPr>
          <p:nvPr/>
        </p:nvSpPr>
        <p:spPr>
          <a:xfrm xmlns:a="http://schemas.openxmlformats.org/drawingml/2006/main">
            <a:off x="8572500" y="2447925"/>
            <a:ext cx="285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6452"/>
                </a:solidFill>
                <a:latin typeface="Arial"/>
                <a:ea typeface="Arial"/>
                <a:cs typeface="Arial"/>
              </a:defRPr>
            </a:defPPr>
            <a:lvl1pPr>
              <a:buNone/>
              <a:defRPr sz="2400" b="1">
                <a:solidFill>
                  <a:srgbClr val="176452"/>
                </a:solidFill>
                <a:latin typeface="Arial"/>
                <a:ea typeface="Arial"/>
                <a:cs typeface="Arial"/>
              </a:defRPr>
            </a:lvl1pPr>
            <a:lvl2pPr>
              <a:buNone/>
              <a:defRPr sz="2400" b="1">
                <a:solidFill>
                  <a:srgbClr val="176452"/>
                </a:solidFill>
                <a:latin typeface="Arial"/>
                <a:ea typeface="Arial"/>
                <a:cs typeface="Arial"/>
              </a:defRPr>
            </a:lvl2pPr>
            <a:lvl3pPr>
              <a:buNone/>
              <a:defRPr sz="2400" b="1">
                <a:solidFill>
                  <a:srgbClr val="176452"/>
                </a:solidFill>
                <a:latin typeface="Arial"/>
                <a:ea typeface="Arial"/>
                <a:cs typeface="Arial"/>
              </a:defRPr>
            </a:lvl3pPr>
            <a:lvl4pPr>
              <a:buNone/>
              <a:defRPr sz="2400" b="1">
                <a:solidFill>
                  <a:srgbClr val="176452"/>
                </a:solidFill>
                <a:latin typeface="Arial"/>
                <a:ea typeface="Arial"/>
                <a:cs typeface="Arial"/>
              </a:defRPr>
            </a:lvl4pPr>
            <a:lvl5pPr>
              <a:buNone/>
              <a:defRPr sz="2400" b="1">
                <a:solidFill>
                  <a:srgbClr val="176452"/>
                </a:solidFill>
                <a:latin typeface="Arial"/>
                <a:ea typeface="Arial"/>
                <a:cs typeface="Arial"/>
              </a:defRPr>
            </a:lvl5pPr>
            <a:lvl6pPr>
              <a:buNone/>
              <a:defRPr sz="2400" b="1">
                <a:solidFill>
                  <a:srgbClr val="176452"/>
                </a:solidFill>
                <a:latin typeface="Arial"/>
                <a:ea typeface="Arial"/>
                <a:cs typeface="Arial"/>
              </a:defRPr>
            </a:lvl6pPr>
            <a:lvl7pPr>
              <a:buNone/>
              <a:defRPr sz="2400" b="1">
                <a:solidFill>
                  <a:srgbClr val="176452"/>
                </a:solidFill>
                <a:latin typeface="Arial"/>
                <a:ea typeface="Arial"/>
                <a:cs typeface="Arial"/>
              </a:defRPr>
            </a:lvl7pPr>
            <a:lvl8pPr>
              <a:buNone/>
              <a:defRPr sz="2400" b="1">
                <a:solidFill>
                  <a:srgbClr val="176452"/>
                </a:solidFill>
                <a:latin typeface="Arial"/>
                <a:ea typeface="Arial"/>
                <a:cs typeface="Arial"/>
              </a:defRPr>
            </a:lvl8pPr>
            <a:lvl9pPr>
              <a:buNone/>
              <a:defRPr sz="2400" b="1">
                <a:solidFill>
                  <a:srgbClr val="176452"/>
                </a:solidFill>
                <a:latin typeface="Arial"/>
                <a:ea typeface="Arial"/>
                <a:cs typeface="Arial"/>
              </a:defRPr>
            </a:lvl9pPr>
          </a:lstStyle>
          <a:p xmlns:a="http://schemas.openxmlformats.org/drawingml/2006/main">
            <a:pPr>
              <a:buNone/>
              <a:defRPr sz="2400" b="1">
                <a:solidFill>
                  <a:srgbClr val="176452"/>
                </a:solidFill>
                <a:latin typeface="Arial"/>
                <a:ea typeface="Arial"/>
                <a:cs typeface="Arial"/>
              </a:defRPr>
            </a:pPr>
            <a:r>
              <a:rPr sz="2400" b="1">
                <a:solidFill>
                  <a:srgbClr val="176452"/>
                </a:solidFill>
                <a:latin typeface="Arial"/>
                <a:ea typeface="Arial"/>
                <a:cs typeface="Arial"/>
              </a:rPr>
              <a:t>$6.50 to $6.00</a:t>
            </a:r>
          </a:p>
        </p:txBody>
      </p:sp>
      <p:sp>
        <p:nvSpPr>
          <p:cNvPr id="10" name="">
            <a:extLst xmlns:a="http://schemas.openxmlformats.org/drawingml/2006/main">
              <a:ext uri="{FF2B5EF4-FFF2-40B4-BE49-F238E27FC236}">
                <a16:creationId xmlns:a16="http://schemas.microsoft.com/office/drawing/2014/main" id="{D0A7ACCC-F81F-4927-A953-BB875B506211}"/>
              </a:ext>
            </a:extLst>
          </p:cNvPr>
          <p:cNvSpPr>
            <a:spLocks xmlns:a="http://schemas.openxmlformats.org/drawingml/2006/main" noGrp="1"/>
          </p:cNvSpPr>
          <p:nvPr/>
        </p:nvSpPr>
        <p:spPr>
          <a:xfrm xmlns:a="http://schemas.openxmlformats.org/drawingml/2006/main">
            <a:off x="8572500" y="3190875"/>
            <a:ext cx="285750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The same receipt ID</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Updated actual amount</a:t>
            </a:r>
          </a:p>
          <a:p xmlns:a="http://schemas.openxmlformats.org/drawingml/2006/main">
            <a:r>
              <a:t/>
            </a:r>
          </a:p>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Recalculated spending total</a:t>
            </a:r>
          </a:p>
        </p:txBody>
      </p:sp>
      <p:sp>
        <p:nvSpPr>
          <p:cNvPr id="11" name="">
            <a:extLst xmlns:a="http://schemas.openxmlformats.org/drawingml/2006/main">
              <a:ext uri="{FF2B5EF4-FFF2-40B4-BE49-F238E27FC236}">
                <a16:creationId xmlns:a16="http://schemas.microsoft.com/office/drawing/2014/main" id="{EDFB9722-C11E-4580-B89D-D01935846644}"/>
              </a:ext>
            </a:extLst>
          </p:cNvPr>
          <p:cNvSpPr>
            <a:spLocks xmlns:a="http://schemas.openxmlformats.org/drawingml/2006/main" noGrp="1"/>
          </p:cNvSpPr>
          <p:nvPr/>
        </p:nvSpPr>
        <p:spPr>
          <a:xfrm xmlns:a="http://schemas.openxmlformats.org/drawingml/2006/main">
            <a:off x="666750" y="5857875"/>
            <a:ext cx="10858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The same receipt changes from $6.50 to $6.00. The spending total refreshes while the catalog estimate remains separate.</a:t>
            </a:r>
          </a:p>
        </p:txBody>
      </p:sp>
    </p:spTree>
    <p:extLst>
      <p:ext uri="{BB962C8B-B14F-4D97-AF65-F5344CB8AC3E}">
        <p14:creationId xmlns:p14="http://schemas.microsoft.com/office/powerpoint/2010/main" val="262450765"/>
      </p:ext>
    </p:extLst>
  </p:cSld>
</p:sld>
</file>

<file path=ppt/slides/slide19.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8D78F3-00F3-4265-BB4B-EAA139722F19}"/>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0BE941B-C4B5-4888-B7AE-26155E8B0557}"/>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Lunch Lens method and user control</a:t>
            </a:r>
          </a:p>
        </p:txBody>
      </p:sp>
      <p:sp>
        <p:nvSpPr>
          <p:cNvPr id="3" name="">
            <a:extLst xmlns:a="http://schemas.openxmlformats.org/drawingml/2006/main">
              <a:ext uri="{FF2B5EF4-FFF2-40B4-BE49-F238E27FC236}">
                <a16:creationId xmlns:a16="http://schemas.microsoft.com/office/drawing/2014/main" id="{FDE2A30A-C79B-4D30-BA86-F5C57C2A577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A353E882-3C4F-4000-827F-F51C3E04A050}"/>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0AB934E5-D7CB-4A4F-9A48-C29268E86092}"/>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Lunch Lens is our local rule-based smart helper. A pure Dart function selects the three most recent earlier purchases of the selected meal. It sorts them by timestamp and uses the row ID to break equal-time ties. Other meals and later purchases do not enter that estimate.</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helper calculates and rounds the mean in cents. It also reports the last-price baseline. The activity shows the input amounts and date range alongside its explanation.</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student can dismiss the card with Not now and restore it later. The helper never overwrites the actual amount or saves a purchase by itself. Insufficient history produces a clear message. This gives the user a suggestion with a visible reason while preserving control over the recorded amount.</a:t>
            </a:r>
          </a:p>
        </p:txBody>
      </p:sp>
      <p:sp>
        <p:nvSpPr>
          <p:cNvPr id="6" name="">
            <a:extLst xmlns:a="http://schemas.openxmlformats.org/drawingml/2006/main">
              <a:ext uri="{FF2B5EF4-FFF2-40B4-BE49-F238E27FC236}">
                <a16:creationId xmlns:a16="http://schemas.microsoft.com/office/drawing/2014/main" id="{9C8A70D3-7115-45BA-9D92-833B4A844E13}"/>
              </a:ext>
            </a:extLst>
          </p:cNvPr>
          <p:cNvSpPr>
            <a:spLocks xmlns:a="http://schemas.openxmlformats.org/drawingml/2006/main" noGrp="1"/>
          </p:cNvSpPr>
          <p:nvPr/>
        </p:nvSpPr>
        <p:spPr>
          <a:xfrm xmlns:a="http://schemas.openxmlformats.org/drawingml/2006/main">
            <a:off x="7762875" y="1704975"/>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Suggestion with a visible reason</a:t>
            </a:r>
          </a:p>
        </p:txBody>
      </p:sp>
      <p:pic>
        <p:nvPicPr>
          <p:cNvPr id="7" name="">
            <a:extLst xmlns:a="http://schemas.openxmlformats.org/drawingml/2006/main">
              <a:ext uri="{FF2B5EF4-FFF2-40B4-BE49-F238E27FC236}">
                <a16:creationId xmlns:a16="http://schemas.microsoft.com/office/drawing/2014/main" id="{BF4CAF4A-5A4A-4329-A3E6-3ED7EC33D4C5}"/>
              </a:ext>
            </a:extLst>
          </p:cNvPr>
          <p:cNvPicPr>
            <a:picLocks xmlns:a="http://schemas.openxmlformats.org/drawingml/2006/main" noChangeAspect="1"/>
          </p:cNvPicPr>
          <p:nvPr/>
        </p:nvPicPr>
        <p:blipFill>
          <a:blip xmlns:r="http://schemas.openxmlformats.org/officeDocument/2006/relationships" xmlns:a="http://schemas.openxmlformats.org/drawingml/2006/main" r:embed="Rb0dbd36597034b32"/>
          <a:srcRect xmlns:a="http://schemas.openxmlformats.org/drawingml/2006/main" l="4500" t="25500" r="4500" b="41500"/>
          <a:stretch xmlns:a="http://schemas.openxmlformats.org/drawingml/2006/main"/>
        </p:blipFill>
        <p:spPr>
          <a:xfrm xmlns:a="http://schemas.openxmlformats.org/drawingml/2006/main">
            <a:off x="7762875" y="2409825"/>
            <a:ext cx="3810000" cy="3067050"/>
          </a:xfrm>
          <a:prstGeom xmlns:a="http://schemas.openxmlformats.org/drawingml/2006/main" prst="rect">
            <a:avLst/>
          </a:prstGeom>
        </p:spPr>
      </p:pic>
    </p:spTree>
    <p:extLst>
      <p:ext uri="{BB962C8B-B14F-4D97-AF65-F5344CB8AC3E}">
        <p14:creationId xmlns:p14="http://schemas.microsoft.com/office/powerpoint/2010/main" val="1832918885"/>
      </p:ext>
    </p:extLst>
  </p:cSld>
</p:sld>
</file>

<file path=ppt/slides/slide20.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BF422DE-7395-48ED-91C4-95342F7D08A1}"/>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A69E5BD4-B652-44C4-8D4D-896A63CEDE2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Lunch Lens calculation in Dart</a:t>
            </a:r>
          </a:p>
        </p:txBody>
      </p:sp>
      <p:sp>
        <p:nvSpPr>
          <p:cNvPr id="3" name="">
            <a:extLst xmlns:a="http://schemas.openxmlformats.org/drawingml/2006/main">
              <a:ext uri="{FF2B5EF4-FFF2-40B4-BE49-F238E27FC236}">
                <a16:creationId xmlns:a16="http://schemas.microsoft.com/office/drawing/2014/main" id="{1A2E51EA-FD65-4B14-A516-45D041C80EB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33B5AD0-0134-40C0-8C89-5E141F6B27D6}"/>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332C4FB2-8302-44B1-B7CD-C441C095DE33}"/>
              </a:ext>
            </a:extLst>
          </p:cNvPr>
          <p:cNvSpPr>
            <a:spLocks xmlns:a="http://schemas.openxmlformats.org/drawingml/2006/main" noGrp="1"/>
          </p:cNvSpPr>
          <p:nvPr/>
        </p:nvSpPr>
        <p:spPr>
          <a:xfrm xmlns:a="http://schemas.openxmlformats.org/drawingml/2006/main">
            <a:off x="666750" y="1552575"/>
            <a:ext cx="7524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lib/domain/lunch_lens.dart</a:t>
            </a:r>
          </a:p>
        </p:txBody>
      </p:sp>
      <p:sp>
        <p:nvSpPr>
          <p:cNvPr id="6" name="">
            <a:extLst xmlns:a="http://schemas.openxmlformats.org/drawingml/2006/main">
              <a:ext uri="{FF2B5EF4-FFF2-40B4-BE49-F238E27FC236}">
                <a16:creationId xmlns:a16="http://schemas.microsoft.com/office/drawing/2014/main" id="{29CA1657-2FC4-425A-96B4-F6464DAF5855}"/>
              </a:ext>
            </a:extLst>
          </p:cNvPr>
          <p:cNvSpPr>
            <a:spLocks xmlns:a="http://schemas.openxmlformats.org/drawingml/2006/main" noGrp="1"/>
          </p:cNvSpPr>
          <p:nvPr/>
        </p:nvSpPr>
        <p:spPr>
          <a:xfrm xmlns:a="http://schemas.openxmlformats.org/drawingml/2006/main">
            <a:off x="666750" y="2143125"/>
            <a:ext cx="7524750" cy="29337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75" b="0">
                <a:solidFill>
                  <a:srgbClr val="E2F1E8"/>
                </a:solidFill>
                <a:latin typeface="Menlo"/>
                <a:ea typeface="Menlo"/>
                <a:cs typeface="Menlo"/>
              </a:defRPr>
            </a:defPPr>
            <a:lvl1pPr>
              <a:buNone/>
              <a:defRPr sz="1875" b="0">
                <a:solidFill>
                  <a:srgbClr val="E2F1E8"/>
                </a:solidFill>
                <a:latin typeface="Menlo"/>
                <a:ea typeface="Menlo"/>
                <a:cs typeface="Menlo"/>
              </a:defRPr>
            </a:lvl1pPr>
            <a:lvl2pPr>
              <a:buNone/>
              <a:defRPr sz="1875" b="0">
                <a:solidFill>
                  <a:srgbClr val="E2F1E8"/>
                </a:solidFill>
                <a:latin typeface="Menlo"/>
                <a:ea typeface="Menlo"/>
                <a:cs typeface="Menlo"/>
              </a:defRPr>
            </a:lvl2pPr>
            <a:lvl3pPr>
              <a:buNone/>
              <a:defRPr sz="1875" b="0">
                <a:solidFill>
                  <a:srgbClr val="E2F1E8"/>
                </a:solidFill>
                <a:latin typeface="Menlo"/>
                <a:ea typeface="Menlo"/>
                <a:cs typeface="Menlo"/>
              </a:defRPr>
            </a:lvl3pPr>
            <a:lvl4pPr>
              <a:buNone/>
              <a:defRPr sz="1875" b="0">
                <a:solidFill>
                  <a:srgbClr val="E2F1E8"/>
                </a:solidFill>
                <a:latin typeface="Menlo"/>
                <a:ea typeface="Menlo"/>
                <a:cs typeface="Menlo"/>
              </a:defRPr>
            </a:lvl4pPr>
            <a:lvl5pPr>
              <a:buNone/>
              <a:defRPr sz="1875" b="0">
                <a:solidFill>
                  <a:srgbClr val="E2F1E8"/>
                </a:solidFill>
                <a:latin typeface="Menlo"/>
                <a:ea typeface="Menlo"/>
                <a:cs typeface="Menlo"/>
              </a:defRPr>
            </a:lvl5pPr>
            <a:lvl6pPr>
              <a:buNone/>
              <a:defRPr sz="1875" b="0">
                <a:solidFill>
                  <a:srgbClr val="E2F1E8"/>
                </a:solidFill>
                <a:latin typeface="Menlo"/>
                <a:ea typeface="Menlo"/>
                <a:cs typeface="Menlo"/>
              </a:defRPr>
            </a:lvl6pPr>
            <a:lvl7pPr>
              <a:buNone/>
              <a:defRPr sz="1875" b="0">
                <a:solidFill>
                  <a:srgbClr val="E2F1E8"/>
                </a:solidFill>
                <a:latin typeface="Menlo"/>
                <a:ea typeface="Menlo"/>
                <a:cs typeface="Menlo"/>
              </a:defRPr>
            </a:lvl7pPr>
            <a:lvl8pPr>
              <a:buNone/>
              <a:defRPr sz="1875" b="0">
                <a:solidFill>
                  <a:srgbClr val="E2F1E8"/>
                </a:solidFill>
                <a:latin typeface="Menlo"/>
                <a:ea typeface="Menlo"/>
                <a:cs typeface="Menlo"/>
              </a:defRPr>
            </a:lvl8pPr>
            <a:lvl9pPr>
              <a:buNone/>
              <a:defRPr sz="1875" b="0">
                <a:solidFill>
                  <a:srgbClr val="E2F1E8"/>
                </a:solidFill>
                <a:latin typeface="Menlo"/>
                <a:ea typeface="Menlo"/>
                <a:cs typeface="Menlo"/>
              </a:defRPr>
            </a:lvl9pPr>
          </a:lstStyle>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final</a:t>
            </a:r>
            <a:r>
              <a:rPr sz="1875" b="0">
                <a:solidFill>
                  <a:srgbClr val="E2F1E8"/>
                </a:solidFill>
                <a:latin typeface="Menlo"/>
                <a:ea typeface="Menlo"/>
                <a:cs typeface="Menlo"/>
              </a:rPr>
              <a:t> inputs = earlier.take(3).toList();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final sum = inputs.fold&lt;</a:t>
            </a:r>
            <a:r>
              <a:rPr sz="1875" b="0">
                <a:solidFill>
                  <a:srgbClr val="B8ECD2"/>
                </a:solidFill>
                <a:latin typeface="Menlo"/>
                <a:ea typeface="Menlo"/>
                <a:cs typeface="Menlo"/>
              </a:rPr>
              <a:t>int</a:t>
            </a:r>
            <a:r>
              <a:rPr sz="1875" b="0">
                <a:solidFill>
                  <a:srgbClr val="E2F1E8"/>
                </a:solidFill>
                <a:latin typeface="Menlo"/>
                <a:ea typeface="Menlo"/>
                <a:cs typeface="Menlo"/>
              </a:rPr>
              <a:t>&gt;(</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0, (s, l) =&gt; s + l.actualPriceMinor);</a:t>
            </a:r>
          </a:p>
          <a:p xmlns:a="http://schemas.openxmlformats.org/drawingml/2006/main">
            <a:pPr>
              <a:buNone/>
              <a:defRPr sz="1875" b="0">
                <a:solidFill>
                  <a:srgbClr val="E2F1E8"/>
                </a:solidFill>
                <a:latin typeface="Menlo"/>
                <a:ea typeface="Menlo"/>
                <a:cs typeface="Menlo"/>
              </a:defRPr>
            </a:pPr>
            <a:r>
              <a:rPr sz="1875" b="0">
                <a:solidFill>
                  <a:srgbClr val="B8ECD2"/>
                </a:solidFill>
                <a:latin typeface="Menlo"/>
                <a:ea typeface="Menlo"/>
                <a:cs typeface="Menlo"/>
              </a:rPr>
              <a:t>return</a:t>
            </a:r>
            <a:r>
              <a:rPr sz="1875" b="0">
                <a:solidFill>
                  <a:srgbClr val="E2F1E8"/>
                </a:solidFill>
                <a:latin typeface="Menlo"/>
                <a:ea typeface="Menlo"/>
                <a:cs typeface="Menlo"/>
              </a:rPr>
              <a:t> LunchEstimate(</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(sum + 1) ~/ 3,</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inputs.first.actualPriceMinor,</a:t>
            </a:r>
          </a:p>
          <a:p xmlns:a="http://schemas.openxmlformats.org/drawingml/2006/main">
            <a:pPr>
              <a:buNone/>
              <a:defRPr sz="1875" b="0">
                <a:solidFill>
                  <a:srgbClr val="E2F1E8"/>
                </a:solidFill>
                <a:latin typeface="Menlo"/>
                <a:ea typeface="Menlo"/>
                <a:cs typeface="Menlo"/>
              </a:defRPr>
            </a:pPr>
            <a:r>
              <a:rPr sz="1875" b="0">
                <a:solidFill>
                  <a:srgbClr val="E2F1E8"/>
                </a:solidFill>
                <a:latin typeface="Menlo"/>
                <a:ea typeface="Menlo"/>
                <a:cs typeface="Menlo"/>
              </a:rPr>
              <a:t>  inputs);</a:t>
            </a:r>
          </a:p>
        </p:txBody>
      </p:sp>
      <p:sp>
        <p:nvSpPr>
          <p:cNvPr id="7" name="">
            <a:extLst xmlns:a="http://schemas.openxmlformats.org/drawingml/2006/main">
              <a:ext uri="{FF2B5EF4-FFF2-40B4-BE49-F238E27FC236}">
                <a16:creationId xmlns:a16="http://schemas.microsoft.com/office/drawing/2014/main" id="{D57DCCD2-4246-4AAC-B825-39E2C6A52A01}"/>
              </a:ext>
            </a:extLst>
          </p:cNvPr>
          <p:cNvSpPr>
            <a:spLocks xmlns:a="http://schemas.openxmlformats.org/drawingml/2006/main" noGrp="1"/>
          </p:cNvSpPr>
          <p:nvPr/>
        </p:nvSpPr>
        <p:spPr>
          <a:xfrm xmlns:a="http://schemas.openxmlformats.org/drawingml/2006/main">
            <a:off x="8810625" y="2009775"/>
            <a:ext cx="2809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6452"/>
                </a:solidFill>
                <a:latin typeface="Arial"/>
                <a:ea typeface="Arial"/>
                <a:cs typeface="Arial"/>
              </a:defRPr>
            </a:defPPr>
            <a:lvl1pPr>
              <a:buNone/>
              <a:defRPr sz="1950" b="1">
                <a:solidFill>
                  <a:srgbClr val="176452"/>
                </a:solidFill>
                <a:latin typeface="Arial"/>
                <a:ea typeface="Arial"/>
                <a:cs typeface="Arial"/>
              </a:defRPr>
            </a:lvl1pPr>
            <a:lvl2pPr>
              <a:buNone/>
              <a:defRPr sz="1950" b="1">
                <a:solidFill>
                  <a:srgbClr val="176452"/>
                </a:solidFill>
                <a:latin typeface="Arial"/>
                <a:ea typeface="Arial"/>
                <a:cs typeface="Arial"/>
              </a:defRPr>
            </a:lvl2pPr>
            <a:lvl3pPr>
              <a:buNone/>
              <a:defRPr sz="1950" b="1">
                <a:solidFill>
                  <a:srgbClr val="176452"/>
                </a:solidFill>
                <a:latin typeface="Arial"/>
                <a:ea typeface="Arial"/>
                <a:cs typeface="Arial"/>
              </a:defRPr>
            </a:lvl3pPr>
            <a:lvl4pPr>
              <a:buNone/>
              <a:defRPr sz="1950" b="1">
                <a:solidFill>
                  <a:srgbClr val="176452"/>
                </a:solidFill>
                <a:latin typeface="Arial"/>
                <a:ea typeface="Arial"/>
                <a:cs typeface="Arial"/>
              </a:defRPr>
            </a:lvl4pPr>
            <a:lvl5pPr>
              <a:buNone/>
              <a:defRPr sz="1950" b="1">
                <a:solidFill>
                  <a:srgbClr val="176452"/>
                </a:solidFill>
                <a:latin typeface="Arial"/>
                <a:ea typeface="Arial"/>
                <a:cs typeface="Arial"/>
              </a:defRPr>
            </a:lvl5pPr>
            <a:lvl6pPr>
              <a:buNone/>
              <a:defRPr sz="1950" b="1">
                <a:solidFill>
                  <a:srgbClr val="176452"/>
                </a:solidFill>
                <a:latin typeface="Arial"/>
                <a:ea typeface="Arial"/>
                <a:cs typeface="Arial"/>
              </a:defRPr>
            </a:lvl6pPr>
            <a:lvl7pPr>
              <a:buNone/>
              <a:defRPr sz="1950" b="1">
                <a:solidFill>
                  <a:srgbClr val="176452"/>
                </a:solidFill>
                <a:latin typeface="Arial"/>
                <a:ea typeface="Arial"/>
                <a:cs typeface="Arial"/>
              </a:defRPr>
            </a:lvl7pPr>
            <a:lvl8pPr>
              <a:buNone/>
              <a:defRPr sz="1950" b="1">
                <a:solidFill>
                  <a:srgbClr val="176452"/>
                </a:solidFill>
                <a:latin typeface="Arial"/>
                <a:ea typeface="Arial"/>
                <a:cs typeface="Arial"/>
              </a:defRPr>
            </a:lvl8pPr>
            <a:lvl9pPr>
              <a:buNone/>
              <a:defRPr sz="1950" b="1">
                <a:solidFill>
                  <a:srgbClr val="176452"/>
                </a:solidFill>
                <a:latin typeface="Arial"/>
                <a:ea typeface="Arial"/>
                <a:cs typeface="Arial"/>
              </a:defRPr>
            </a:lvl9pPr>
          </a:lstStyle>
          <a:p xmlns:a="http://schemas.openxmlformats.org/drawingml/2006/main">
            <a:pPr>
              <a:buNone/>
              <a:defRPr sz="1950" b="1">
                <a:solidFill>
                  <a:srgbClr val="176452"/>
                </a:solidFill>
                <a:latin typeface="Arial"/>
                <a:ea typeface="Arial"/>
                <a:cs typeface="Arial"/>
              </a:defRPr>
            </a:pPr>
            <a:r>
              <a:rPr sz="1950" b="1">
                <a:solidFill>
                  <a:srgbClr val="176452"/>
                </a:solidFill>
                <a:latin typeface="Arial"/>
                <a:ea typeface="Arial"/>
                <a:cs typeface="Arial"/>
              </a:rPr>
              <a:t>Recorded inputs</a:t>
            </a:r>
          </a:p>
        </p:txBody>
      </p:sp>
      <p:sp>
        <p:nvSpPr>
          <p:cNvPr id="8" name="">
            <a:extLst xmlns:a="http://schemas.openxmlformats.org/drawingml/2006/main">
              <a:ext uri="{FF2B5EF4-FFF2-40B4-BE49-F238E27FC236}">
                <a16:creationId xmlns:a16="http://schemas.microsoft.com/office/drawing/2014/main" id="{0B9CCAA3-29FF-4914-B751-188F5B1AAEA3}"/>
              </a:ext>
            </a:extLst>
          </p:cNvPr>
          <p:cNvSpPr>
            <a:spLocks xmlns:a="http://schemas.openxmlformats.org/drawingml/2006/main" noGrp="1"/>
          </p:cNvSpPr>
          <p:nvPr/>
        </p:nvSpPr>
        <p:spPr>
          <a:xfrm xmlns:a="http://schemas.openxmlformats.org/drawingml/2006/main">
            <a:off x="8810625" y="2676525"/>
            <a:ext cx="2809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52B25"/>
                </a:solidFill>
                <a:latin typeface="Arial"/>
                <a:ea typeface="Arial"/>
                <a:cs typeface="Arial"/>
              </a:defRPr>
            </a:defPPr>
            <a:lvl1pPr>
              <a:buNone/>
              <a:defRPr sz="2100" b="1">
                <a:solidFill>
                  <a:srgbClr val="152B25"/>
                </a:solidFill>
                <a:latin typeface="Arial"/>
                <a:ea typeface="Arial"/>
                <a:cs typeface="Arial"/>
              </a:defRPr>
            </a:lvl1pPr>
            <a:lvl2pPr>
              <a:buNone/>
              <a:defRPr sz="2100" b="1">
                <a:solidFill>
                  <a:srgbClr val="152B25"/>
                </a:solidFill>
                <a:latin typeface="Arial"/>
                <a:ea typeface="Arial"/>
                <a:cs typeface="Arial"/>
              </a:defRPr>
            </a:lvl2pPr>
            <a:lvl3pPr>
              <a:buNone/>
              <a:defRPr sz="2100" b="1">
                <a:solidFill>
                  <a:srgbClr val="152B25"/>
                </a:solidFill>
                <a:latin typeface="Arial"/>
                <a:ea typeface="Arial"/>
                <a:cs typeface="Arial"/>
              </a:defRPr>
            </a:lvl3pPr>
            <a:lvl4pPr>
              <a:buNone/>
              <a:defRPr sz="2100" b="1">
                <a:solidFill>
                  <a:srgbClr val="152B25"/>
                </a:solidFill>
                <a:latin typeface="Arial"/>
                <a:ea typeface="Arial"/>
                <a:cs typeface="Arial"/>
              </a:defRPr>
            </a:lvl4pPr>
            <a:lvl5pPr>
              <a:buNone/>
              <a:defRPr sz="2100" b="1">
                <a:solidFill>
                  <a:srgbClr val="152B25"/>
                </a:solidFill>
                <a:latin typeface="Arial"/>
                <a:ea typeface="Arial"/>
                <a:cs typeface="Arial"/>
              </a:defRPr>
            </a:lvl5pPr>
            <a:lvl6pPr>
              <a:buNone/>
              <a:defRPr sz="2100" b="1">
                <a:solidFill>
                  <a:srgbClr val="152B25"/>
                </a:solidFill>
                <a:latin typeface="Arial"/>
                <a:ea typeface="Arial"/>
                <a:cs typeface="Arial"/>
              </a:defRPr>
            </a:lvl6pPr>
            <a:lvl7pPr>
              <a:buNone/>
              <a:defRPr sz="2100" b="1">
                <a:solidFill>
                  <a:srgbClr val="152B25"/>
                </a:solidFill>
                <a:latin typeface="Arial"/>
                <a:ea typeface="Arial"/>
                <a:cs typeface="Arial"/>
              </a:defRPr>
            </a:lvl7pPr>
            <a:lvl8pPr>
              <a:buNone/>
              <a:defRPr sz="2100" b="1">
                <a:solidFill>
                  <a:srgbClr val="152B25"/>
                </a:solidFill>
                <a:latin typeface="Arial"/>
                <a:ea typeface="Arial"/>
                <a:cs typeface="Arial"/>
              </a:defRPr>
            </a:lvl8pPr>
            <a:lvl9pPr>
              <a:buNone/>
              <a:defRPr sz="2100" b="1">
                <a:solidFill>
                  <a:srgbClr val="152B25"/>
                </a:solidFill>
                <a:latin typeface="Arial"/>
                <a:ea typeface="Arial"/>
                <a:cs typeface="Arial"/>
              </a:defRPr>
            </a:lvl9pPr>
          </a:lstStyle>
          <a:p xmlns:a="http://schemas.openxmlformats.org/drawingml/2006/main">
            <a:pPr>
              <a:buNone/>
              <a:defRPr sz="2100" b="1">
                <a:solidFill>
                  <a:srgbClr val="152B25"/>
                </a:solidFill>
                <a:latin typeface="Arial"/>
                <a:ea typeface="Arial"/>
                <a:cs typeface="Arial"/>
              </a:defRPr>
            </a:pPr>
            <a:r>
              <a:rPr sz="2100" b="1">
                <a:solidFill>
                  <a:srgbClr val="152B25"/>
                </a:solidFill>
                <a:latin typeface="Arial"/>
                <a:ea typeface="Arial"/>
                <a:cs typeface="Arial"/>
              </a:rPr>
              <a:t>750 + 450 + 600</a:t>
            </a:r>
          </a:p>
        </p:txBody>
      </p:sp>
      <p:sp>
        <p:nvSpPr>
          <p:cNvPr id="9" name="">
            <a:extLst xmlns:a="http://schemas.openxmlformats.org/drawingml/2006/main">
              <a:ext uri="{FF2B5EF4-FFF2-40B4-BE49-F238E27FC236}">
                <a16:creationId xmlns:a16="http://schemas.microsoft.com/office/drawing/2014/main" id="{DCEE3EB7-FDF3-4E25-8AC1-A2CAFFC95CE0}"/>
              </a:ext>
            </a:extLst>
          </p:cNvPr>
          <p:cNvSpPr>
            <a:spLocks xmlns:a="http://schemas.openxmlformats.org/drawingml/2006/main" noGrp="1"/>
          </p:cNvSpPr>
          <p:nvPr/>
        </p:nvSpPr>
        <p:spPr>
          <a:xfrm xmlns:a="http://schemas.openxmlformats.org/drawingml/2006/main">
            <a:off x="8810625" y="3409950"/>
            <a:ext cx="2809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52B25"/>
                </a:solidFill>
                <a:latin typeface="Arial"/>
                <a:ea typeface="Arial"/>
                <a:cs typeface="Arial"/>
              </a:defRPr>
            </a:defPPr>
            <a:lvl1pPr>
              <a:buNone/>
              <a:defRPr sz="2100" b="1">
                <a:solidFill>
                  <a:srgbClr val="152B25"/>
                </a:solidFill>
                <a:latin typeface="Arial"/>
                <a:ea typeface="Arial"/>
                <a:cs typeface="Arial"/>
              </a:defRPr>
            </a:lvl1pPr>
            <a:lvl2pPr>
              <a:buNone/>
              <a:defRPr sz="2100" b="1">
                <a:solidFill>
                  <a:srgbClr val="152B25"/>
                </a:solidFill>
                <a:latin typeface="Arial"/>
                <a:ea typeface="Arial"/>
                <a:cs typeface="Arial"/>
              </a:defRPr>
            </a:lvl2pPr>
            <a:lvl3pPr>
              <a:buNone/>
              <a:defRPr sz="2100" b="1">
                <a:solidFill>
                  <a:srgbClr val="152B25"/>
                </a:solidFill>
                <a:latin typeface="Arial"/>
                <a:ea typeface="Arial"/>
                <a:cs typeface="Arial"/>
              </a:defRPr>
            </a:lvl3pPr>
            <a:lvl4pPr>
              <a:buNone/>
              <a:defRPr sz="2100" b="1">
                <a:solidFill>
                  <a:srgbClr val="152B25"/>
                </a:solidFill>
                <a:latin typeface="Arial"/>
                <a:ea typeface="Arial"/>
                <a:cs typeface="Arial"/>
              </a:defRPr>
            </a:lvl4pPr>
            <a:lvl5pPr>
              <a:buNone/>
              <a:defRPr sz="2100" b="1">
                <a:solidFill>
                  <a:srgbClr val="152B25"/>
                </a:solidFill>
                <a:latin typeface="Arial"/>
                <a:ea typeface="Arial"/>
                <a:cs typeface="Arial"/>
              </a:defRPr>
            </a:lvl5pPr>
            <a:lvl6pPr>
              <a:buNone/>
              <a:defRPr sz="2100" b="1">
                <a:solidFill>
                  <a:srgbClr val="152B25"/>
                </a:solidFill>
                <a:latin typeface="Arial"/>
                <a:ea typeface="Arial"/>
                <a:cs typeface="Arial"/>
              </a:defRPr>
            </a:lvl6pPr>
            <a:lvl7pPr>
              <a:buNone/>
              <a:defRPr sz="2100" b="1">
                <a:solidFill>
                  <a:srgbClr val="152B25"/>
                </a:solidFill>
                <a:latin typeface="Arial"/>
                <a:ea typeface="Arial"/>
                <a:cs typeface="Arial"/>
              </a:defRPr>
            </a:lvl7pPr>
            <a:lvl8pPr>
              <a:buNone/>
              <a:defRPr sz="2100" b="1">
                <a:solidFill>
                  <a:srgbClr val="152B25"/>
                </a:solidFill>
                <a:latin typeface="Arial"/>
                <a:ea typeface="Arial"/>
                <a:cs typeface="Arial"/>
              </a:defRPr>
            </a:lvl8pPr>
            <a:lvl9pPr>
              <a:buNone/>
              <a:defRPr sz="2100" b="1">
                <a:solidFill>
                  <a:srgbClr val="152B25"/>
                </a:solidFill>
                <a:latin typeface="Arial"/>
                <a:ea typeface="Arial"/>
                <a:cs typeface="Arial"/>
              </a:defRPr>
            </a:lvl9pPr>
          </a:lstStyle>
          <a:p xmlns:a="http://schemas.openxmlformats.org/drawingml/2006/main">
            <a:pPr>
              <a:buNone/>
              <a:defRPr sz="2100" b="1">
                <a:solidFill>
                  <a:srgbClr val="152B25"/>
                </a:solidFill>
                <a:latin typeface="Arial"/>
                <a:ea typeface="Arial"/>
                <a:cs typeface="Arial"/>
              </a:defRPr>
            </a:pPr>
            <a:r>
              <a:rPr sz="2100" b="1">
                <a:solidFill>
                  <a:srgbClr val="152B25"/>
                </a:solidFill>
                <a:latin typeface="Arial"/>
                <a:ea typeface="Arial"/>
                <a:cs typeface="Arial"/>
              </a:rPr>
              <a:t>1800 / 3 = 600</a:t>
            </a:r>
          </a:p>
        </p:txBody>
      </p:sp>
      <p:sp>
        <p:nvSpPr>
          <p:cNvPr id="10" name="">
            <a:extLst xmlns:a="http://schemas.openxmlformats.org/drawingml/2006/main">
              <a:ext uri="{FF2B5EF4-FFF2-40B4-BE49-F238E27FC236}">
                <a16:creationId xmlns:a16="http://schemas.microsoft.com/office/drawing/2014/main" id="{8DC5630F-A2BF-4190-9169-8E47B627AF66}"/>
              </a:ext>
            </a:extLst>
          </p:cNvPr>
          <p:cNvSpPr>
            <a:spLocks xmlns:a="http://schemas.openxmlformats.org/drawingml/2006/main" noGrp="1"/>
          </p:cNvSpPr>
          <p:nvPr/>
        </p:nvSpPr>
        <p:spPr>
          <a:xfrm xmlns:a="http://schemas.openxmlformats.org/drawingml/2006/main">
            <a:off x="8810625" y="4191000"/>
            <a:ext cx="2809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76452"/>
                </a:solidFill>
                <a:latin typeface="Arial"/>
                <a:ea typeface="Arial"/>
                <a:cs typeface="Arial"/>
              </a:defRPr>
            </a:defPPr>
            <a:lvl1pPr>
              <a:buNone/>
              <a:defRPr sz="3600" b="1">
                <a:solidFill>
                  <a:srgbClr val="176452"/>
                </a:solidFill>
                <a:latin typeface="Arial"/>
                <a:ea typeface="Arial"/>
                <a:cs typeface="Arial"/>
              </a:defRPr>
            </a:lvl1pPr>
            <a:lvl2pPr>
              <a:buNone/>
              <a:defRPr sz="3600" b="1">
                <a:solidFill>
                  <a:srgbClr val="176452"/>
                </a:solidFill>
                <a:latin typeface="Arial"/>
                <a:ea typeface="Arial"/>
                <a:cs typeface="Arial"/>
              </a:defRPr>
            </a:lvl2pPr>
            <a:lvl3pPr>
              <a:buNone/>
              <a:defRPr sz="3600" b="1">
                <a:solidFill>
                  <a:srgbClr val="176452"/>
                </a:solidFill>
                <a:latin typeface="Arial"/>
                <a:ea typeface="Arial"/>
                <a:cs typeface="Arial"/>
              </a:defRPr>
            </a:lvl3pPr>
            <a:lvl4pPr>
              <a:buNone/>
              <a:defRPr sz="3600" b="1">
                <a:solidFill>
                  <a:srgbClr val="176452"/>
                </a:solidFill>
                <a:latin typeface="Arial"/>
                <a:ea typeface="Arial"/>
                <a:cs typeface="Arial"/>
              </a:defRPr>
            </a:lvl4pPr>
            <a:lvl5pPr>
              <a:buNone/>
              <a:defRPr sz="3600" b="1">
                <a:solidFill>
                  <a:srgbClr val="176452"/>
                </a:solidFill>
                <a:latin typeface="Arial"/>
                <a:ea typeface="Arial"/>
                <a:cs typeface="Arial"/>
              </a:defRPr>
            </a:lvl5pPr>
            <a:lvl6pPr>
              <a:buNone/>
              <a:defRPr sz="3600" b="1">
                <a:solidFill>
                  <a:srgbClr val="176452"/>
                </a:solidFill>
                <a:latin typeface="Arial"/>
                <a:ea typeface="Arial"/>
                <a:cs typeface="Arial"/>
              </a:defRPr>
            </a:lvl6pPr>
            <a:lvl7pPr>
              <a:buNone/>
              <a:defRPr sz="3600" b="1">
                <a:solidFill>
                  <a:srgbClr val="176452"/>
                </a:solidFill>
                <a:latin typeface="Arial"/>
                <a:ea typeface="Arial"/>
                <a:cs typeface="Arial"/>
              </a:defRPr>
            </a:lvl7pPr>
            <a:lvl8pPr>
              <a:buNone/>
              <a:defRPr sz="3600" b="1">
                <a:solidFill>
                  <a:srgbClr val="176452"/>
                </a:solidFill>
                <a:latin typeface="Arial"/>
                <a:ea typeface="Arial"/>
                <a:cs typeface="Arial"/>
              </a:defRPr>
            </a:lvl8pPr>
            <a:lvl9pPr>
              <a:buNone/>
              <a:defRPr sz="3600" b="1">
                <a:solidFill>
                  <a:srgbClr val="176452"/>
                </a:solidFill>
                <a:latin typeface="Arial"/>
                <a:ea typeface="Arial"/>
                <a:cs typeface="Arial"/>
              </a:defRPr>
            </a:lvl9pPr>
          </a:lstStyle>
          <a:p xmlns:a="http://schemas.openxmlformats.org/drawingml/2006/main">
            <a:pPr>
              <a:buNone/>
              <a:defRPr sz="3600" b="1">
                <a:solidFill>
                  <a:srgbClr val="176452"/>
                </a:solidFill>
                <a:latin typeface="Arial"/>
                <a:ea typeface="Arial"/>
                <a:cs typeface="Arial"/>
              </a:defRPr>
            </a:pPr>
            <a:r>
              <a:rPr sz="3600" b="1">
                <a:solidFill>
                  <a:srgbClr val="176452"/>
                </a:solidFill>
                <a:latin typeface="Arial"/>
                <a:ea typeface="Arial"/>
                <a:cs typeface="Arial"/>
              </a:rPr>
              <a:t>$6.00</a:t>
            </a:r>
          </a:p>
        </p:txBody>
      </p:sp>
      <p:sp>
        <p:nvSpPr>
          <p:cNvPr id="11" name="">
            <a:extLst xmlns:a="http://schemas.openxmlformats.org/drawingml/2006/main">
              <a:ext uri="{FF2B5EF4-FFF2-40B4-BE49-F238E27FC236}">
                <a16:creationId xmlns:a16="http://schemas.microsoft.com/office/drawing/2014/main" id="{FF1533FB-2173-45F5-A848-21886DD26570}"/>
              </a:ext>
            </a:extLst>
          </p:cNvPr>
          <p:cNvSpPr>
            <a:spLocks xmlns:a="http://schemas.openxmlformats.org/drawingml/2006/main" noGrp="1"/>
          </p:cNvSpPr>
          <p:nvPr/>
        </p:nvSpPr>
        <p:spPr>
          <a:xfrm xmlns:a="http://schemas.openxmlformats.org/drawingml/2006/main">
            <a:off x="666750" y="5476875"/>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The pure function takes three earlier amounts and calculates their rounded mean in cents. In this recorded example, $7.50, $4.50 and $6.00 produce $6.00.</a:t>
            </a:r>
          </a:p>
        </p:txBody>
      </p:sp>
    </p:spTree>
    <p:extLst>
      <p:ext uri="{BB962C8B-B14F-4D97-AF65-F5344CB8AC3E}">
        <p14:creationId xmlns:p14="http://schemas.microsoft.com/office/powerpoint/2010/main" val="1734846548"/>
      </p:ext>
    </p:extLst>
  </p:cSld>
</p:sld>
</file>

<file path=ppt/slides/slide21.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BE98FC9-8240-4982-9A60-90EFE07A78B6}"/>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E59C3326-98D6-4279-A0CB-9AE82043E4D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Five helper evaluation cases</a:t>
            </a:r>
          </a:p>
        </p:txBody>
      </p:sp>
      <p:sp>
        <p:nvSpPr>
          <p:cNvPr id="3" name="">
            <a:extLst xmlns:a="http://schemas.openxmlformats.org/drawingml/2006/main">
              <a:ext uri="{FF2B5EF4-FFF2-40B4-BE49-F238E27FC236}">
                <a16:creationId xmlns:a16="http://schemas.microsoft.com/office/drawing/2014/main" id="{CC54FD3E-8F0C-4327-9E53-565F0211F74A}"/>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12166756-293A-458F-8A31-FFF636570983}"/>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5514D8FE-9DB1-4F25-9004-2E3BB1DABEB9}"/>
              </a:ext>
            </a:extLst>
          </p:cNvPr>
          <p:cNvSpPr>
            <a:spLocks xmlns:a="http://schemas.openxmlformats.org/drawingml/2006/main" noGrp="1"/>
          </p:cNvSpPr>
          <p:nvPr/>
        </p:nvSpPr>
        <p:spPr>
          <a:xfrm xmlns:a="http://schemas.openxmlformats.org/drawingml/2006/main">
            <a:off x="666750" y="1628775"/>
            <a:ext cx="10858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We checked five fictional case types. The table shows chronological input amounts in cents and the actual outputs from the passing checks.</a:t>
            </a:r>
          </a:p>
        </p:txBody>
      </p:sp>
      <p:graphicFrame>
        <p:nvGraphicFramePr>
          <p:cNvPr id="6" name="">
            <a:extLst xmlns:a="http://schemas.openxmlformats.org/drawingml/2006/main">
              <a:ext uri="{FF2B5EF4-FFF2-40B4-BE49-F238E27FC236}">
                <a16:creationId xmlns:a16="http://schemas.microsoft.com/office/drawing/2014/main" id="{67917D69-E5B0-47CE-AB2F-2D52988824D0}"/>
              </a:ext>
            </a:extLst>
          </p:cNvPr>
          <p:cNvGraphicFramePr/>
          <p:nvPr/>
        </p:nvGraphicFramePr>
        <p:xfrm>
          <a:off xmlns:a="http://schemas.openxmlformats.org/drawingml/2006/main" x="666750" y="2457450"/>
          <a:ext xmlns:a="http://schemas.openxmlformats.org/drawingml/2006/main" cx="10858500" cy="2743200"/>
        </p:xfrm>
        <a:graphic xmlns:a="http://schemas.openxmlformats.org/drawingml/2006/main">
          <a:graphicData uri="http://schemas.openxmlformats.org/drawingml/2006/table">
            <a:tbl>
              <a:tblPr/>
              <a:tblGrid>
                <a:gridCol w="2190750"/>
                <a:gridCol w="3714750"/>
                <a:gridCol w="2476500"/>
                <a:gridCol w="2476500"/>
              </a:tblGrid>
              <a:tr h="457200">
                <a:tc>
                  <a:txBody>
                    <a:bodyPr/>
                    <a:lstStyle/>
                    <a:p>
                      <a:r>
                        <a:rPr sz="1800" b="1">
                          <a:solidFill>
                            <a:srgbClr val="152B25"/>
                          </a:solidFill>
                          <a:latin typeface="Arial"/>
                          <a:ea typeface="Arial"/>
                          <a:cs typeface="Arial"/>
                        </a:rPr>
                        <a:t>Case</a:t>
                      </a:r>
                    </a:p>
                  </a:txBody>
                  <a:tcPr marL="91440" marR="91440" marT="45720" marB="45720">
                    <a:lnL w="9525">
                      <a:solidFill>
                        <a:srgbClr val="A9BBB1"/>
                      </a:solidFill>
                      <a:prstDash val="solid"/>
                    </a:lnL>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Input cents</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Mean helper</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c>
                  <a:txBody>
                    <a:bodyPr/>
                    <a:lstStyle/>
                    <a:p>
                      <a:r>
                        <a:rPr sz="1800" b="1">
                          <a:solidFill>
                            <a:srgbClr val="152B25"/>
                          </a:solidFill>
                          <a:latin typeface="Arial"/>
                          <a:ea typeface="Arial"/>
                          <a:cs typeface="Arial"/>
                        </a:rPr>
                        <a:t>Last price</a:t>
                      </a:r>
                    </a:p>
                  </a:txBody>
                  <a:tcPr marL="91440" marR="91440" marT="45720" marB="45720">
                    <a:lnR w="9525">
                      <a:solidFill>
                        <a:srgbClr val="A9BBB1"/>
                      </a:solidFill>
                      <a:prstDash val="solid"/>
                    </a:lnR>
                    <a:lnT w="9525">
                      <a:solidFill>
                        <a:srgbClr val="A9BBB1"/>
                      </a:solidFill>
                      <a:prstDash val="solid"/>
                    </a:lnT>
                    <a:lnB w="9525">
                      <a:solidFill>
                        <a:srgbClr val="A9BBB1"/>
                      </a:solidFill>
                      <a:prstDash val="solid"/>
                    </a:lnB>
                    <a:solidFill>
                      <a:srgbClr val="DCECE2"/>
                    </a:solidFill>
                  </a:tcPr>
                </a:tc>
              </a:tr>
              <a:tr h="457200">
                <a:tc>
                  <a:txBody>
                    <a:bodyPr/>
                    <a:lstStyle/>
                    <a:p>
                      <a:r>
                        <a:rPr sz="1800" b="0">
                          <a:solidFill>
                            <a:srgbClr val="152B25"/>
                          </a:solidFill>
                          <a:latin typeface="Arial"/>
                          <a:ea typeface="Arial"/>
                          <a:cs typeface="Arial"/>
                        </a:rPr>
                        <a:t>Normal</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750</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Insufficient</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450, 600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 estimate</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Invalid</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450, -1, 750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Correction</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Not scored</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Boundary</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100, 100, 101</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101</a:t>
                      </a:r>
                    </a:p>
                  </a:txBody>
                  <a:tcPr marL="91440" marR="91440" marT="45720" marB="45720">
                    <a:lnR w="9525">
                      <a:solidFill>
                        <a:srgbClr val="A9BBB1"/>
                      </a:solidFill>
                      <a:prstDash val="solid"/>
                    </a:lnR>
                    <a:lnB w="9525">
                      <a:solidFill>
                        <a:srgbClr val="A9BBB1"/>
                      </a:solidFill>
                      <a:prstDash val="solid"/>
                    </a:lnB>
                    <a:solidFill>
                      <a:srgbClr val="FFFFFF"/>
                    </a:solidFill>
                  </a:tcPr>
                </a:tc>
              </a:tr>
              <a:tr h="457200">
                <a:tc>
                  <a:txBody>
                    <a:bodyPr/>
                    <a:lstStyle/>
                    <a:p>
                      <a:r>
                        <a:rPr sz="1800" b="0">
                          <a:solidFill>
                            <a:srgbClr val="152B25"/>
                          </a:solidFill>
                          <a:latin typeface="Arial"/>
                          <a:ea typeface="Arial"/>
                          <a:cs typeface="Arial"/>
                        </a:rPr>
                        <a:t>Counterexample</a:t>
                      </a:r>
                    </a:p>
                  </a:txBody>
                  <a:tcPr marL="91440" marR="91440" marT="45720" marB="45720">
                    <a:lnL w="9525">
                      <a:solidFill>
                        <a:srgbClr val="A9BBB1"/>
                      </a:solidFill>
                      <a:prstDash val="solid"/>
                    </a:lnL>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500, 2000, 500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1000</a:t>
                      </a:r>
                    </a:p>
                  </a:txBody>
                  <a:tcPr marL="91440" marR="91440" marT="45720" marB="45720">
                    <a:lnR w="9525">
                      <a:solidFill>
                        <a:srgbClr val="A9BBB1"/>
                      </a:solidFill>
                      <a:prstDash val="solid"/>
                    </a:lnR>
                    <a:lnB w="9525">
                      <a:solidFill>
                        <a:srgbClr val="A9BBB1"/>
                      </a:solidFill>
                      <a:prstDash val="solid"/>
                    </a:lnB>
                    <a:solidFill>
                      <a:srgbClr val="FFFFFF"/>
                    </a:solidFill>
                  </a:tcPr>
                </a:tc>
                <a:tc>
                  <a:txBody>
                    <a:bodyPr/>
                    <a:lstStyle/>
                    <a:p>
                      <a:r>
                        <a:rPr sz="1800" b="0">
                          <a:solidFill>
                            <a:srgbClr val="152B25"/>
                          </a:solidFill>
                          <a:latin typeface="Arial"/>
                          <a:ea typeface="Arial"/>
                          <a:cs typeface="Arial"/>
                        </a:rPr>
                        <a:t>500</a:t>
                      </a:r>
                    </a:p>
                  </a:txBody>
                  <a:tcPr marL="91440" marR="91440" marT="45720" marB="45720">
                    <a:lnR w="9525">
                      <a:solidFill>
                        <a:srgbClr val="A9BBB1"/>
                      </a:solidFill>
                      <a:prstDash val="solid"/>
                    </a:lnR>
                    <a:lnB w="9525">
                      <a:solidFill>
                        <a:srgbClr val="A9BBB1"/>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BBAA08A-3EE3-4BAD-A291-DA258065B8BC}"/>
              </a:ext>
            </a:extLst>
          </p:cNvPr>
          <p:cNvSpPr>
            <a:spLocks xmlns:a="http://schemas.openxmlformats.org/drawingml/2006/main" noGrp="1"/>
          </p:cNvSpPr>
          <p:nvPr/>
        </p:nvSpPr>
        <p:spPr>
          <a:xfrm xmlns:a="http://schemas.openxmlformats.org/drawingml/2006/main">
            <a:off x="666750" y="5381625"/>
            <a:ext cx="10858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2B25"/>
                </a:solidFill>
                <a:latin typeface="Arial"/>
                <a:ea typeface="Arial"/>
                <a:cs typeface="Arial"/>
              </a:defRPr>
            </a:defPPr>
            <a:lvl1pPr>
              <a:buNone/>
              <a:defRPr sz="1875" b="0">
                <a:solidFill>
                  <a:srgbClr val="152B25"/>
                </a:solidFill>
                <a:latin typeface="Arial"/>
                <a:ea typeface="Arial"/>
                <a:cs typeface="Arial"/>
              </a:defRPr>
            </a:lvl1pPr>
            <a:lvl2pPr>
              <a:buNone/>
              <a:defRPr sz="1875" b="0">
                <a:solidFill>
                  <a:srgbClr val="152B25"/>
                </a:solidFill>
                <a:latin typeface="Arial"/>
                <a:ea typeface="Arial"/>
                <a:cs typeface="Arial"/>
              </a:defRPr>
            </a:lvl2pPr>
            <a:lvl3pPr>
              <a:buNone/>
              <a:defRPr sz="1875" b="0">
                <a:solidFill>
                  <a:srgbClr val="152B25"/>
                </a:solidFill>
                <a:latin typeface="Arial"/>
                <a:ea typeface="Arial"/>
                <a:cs typeface="Arial"/>
              </a:defRPr>
            </a:lvl3pPr>
            <a:lvl4pPr>
              <a:buNone/>
              <a:defRPr sz="1875" b="0">
                <a:solidFill>
                  <a:srgbClr val="152B25"/>
                </a:solidFill>
                <a:latin typeface="Arial"/>
                <a:ea typeface="Arial"/>
                <a:cs typeface="Arial"/>
              </a:defRPr>
            </a:lvl4pPr>
            <a:lvl5pPr>
              <a:buNone/>
              <a:defRPr sz="1875" b="0">
                <a:solidFill>
                  <a:srgbClr val="152B25"/>
                </a:solidFill>
                <a:latin typeface="Arial"/>
                <a:ea typeface="Arial"/>
                <a:cs typeface="Arial"/>
              </a:defRPr>
            </a:lvl5pPr>
            <a:lvl6pPr>
              <a:buNone/>
              <a:defRPr sz="1875" b="0">
                <a:solidFill>
                  <a:srgbClr val="152B25"/>
                </a:solidFill>
                <a:latin typeface="Arial"/>
                <a:ea typeface="Arial"/>
                <a:cs typeface="Arial"/>
              </a:defRPr>
            </a:lvl6pPr>
            <a:lvl7pPr>
              <a:buNone/>
              <a:defRPr sz="1875" b="0">
                <a:solidFill>
                  <a:srgbClr val="152B25"/>
                </a:solidFill>
                <a:latin typeface="Arial"/>
                <a:ea typeface="Arial"/>
                <a:cs typeface="Arial"/>
              </a:defRPr>
            </a:lvl7pPr>
            <a:lvl8pPr>
              <a:buNone/>
              <a:defRPr sz="1875" b="0">
                <a:solidFill>
                  <a:srgbClr val="152B25"/>
                </a:solidFill>
                <a:latin typeface="Arial"/>
                <a:ea typeface="Arial"/>
                <a:cs typeface="Arial"/>
              </a:defRPr>
            </a:lvl8pPr>
            <a:lvl9pPr>
              <a:buNone/>
              <a:defRPr sz="1875" b="0">
                <a:solidFill>
                  <a:srgbClr val="152B25"/>
                </a:solidFill>
                <a:latin typeface="Arial"/>
                <a:ea typeface="Arial"/>
                <a:cs typeface="Arial"/>
              </a:defRPr>
            </a:lvl9pPr>
          </a:lstStyle>
          <a:p xmlns:a="http://schemas.openxmlformats.org/drawingml/2006/main">
            <a:pPr>
              <a:buNone/>
              <a:defRPr sz="1875" b="0">
                <a:solidFill>
                  <a:srgbClr val="152B25"/>
                </a:solidFill>
                <a:latin typeface="Arial"/>
                <a:ea typeface="Arial"/>
                <a:cs typeface="Arial"/>
              </a:defRPr>
            </a:pPr>
            <a:r>
              <a:rPr sz="1875" b="0">
                <a:solidFill>
                  <a:srgbClr val="152B25"/>
                </a:solidFill>
                <a:latin typeface="Arial"/>
                <a:ea typeface="Arial"/>
                <a:cs typeface="Arial"/>
              </a:rPr>
              <a:t>Normal, insufficient, invalid, boundary and counterexample cases test different behaviors. Empty and invalid cases assess feedback. They do not receive invented numeric error scores.</a:t>
            </a:r>
          </a:p>
        </p:txBody>
      </p:sp>
    </p:spTree>
    <p:extLst>
      <p:ext uri="{BB962C8B-B14F-4D97-AF65-F5344CB8AC3E}">
        <p14:creationId xmlns:p14="http://schemas.microsoft.com/office/powerpoint/2010/main" val="1903842899"/>
      </p:ext>
    </p:extLst>
  </p:cSld>
</p:sld>
</file>

<file path=ppt/slides/slide22.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41210C3-52DD-4DC9-AE3F-280EDD58F575}"/>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C5C891CB-06AC-4EE3-A5C9-9023284F190E}"/>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Evaluation result and limitation</a:t>
            </a:r>
          </a:p>
        </p:txBody>
      </p:sp>
      <p:sp>
        <p:nvSpPr>
          <p:cNvPr id="3" name="">
            <a:extLst xmlns:a="http://schemas.openxmlformats.org/drawingml/2006/main">
              <a:ext uri="{FF2B5EF4-FFF2-40B4-BE49-F238E27FC236}">
                <a16:creationId xmlns:a16="http://schemas.microsoft.com/office/drawing/2014/main" id="{BB612824-FFAA-478A-9AA3-AF6BA20117D2}"/>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9E54E26-8B5F-4770-AB1E-7718967A9F2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22</a:t>
            </a:r>
          </a:p>
        </p:txBody>
      </p:sp>
      <p:sp>
        <p:nvSpPr>
          <p:cNvPr id="5" name="">
            <a:extLst xmlns:a="http://schemas.openxmlformats.org/drawingml/2006/main">
              <a:ext uri="{FF2B5EF4-FFF2-40B4-BE49-F238E27FC236}">
                <a16:creationId xmlns:a16="http://schemas.microsoft.com/office/drawing/2014/main" id="{3B50049D-1349-4EEC-93A1-0BDD42812190}"/>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For the normal case, an earlier history of 450, 600 and 750 cents produces a 600-cent estimate. Against a later fictional reference of 650 cents, its absolute error is fifty cents. The last-price baseline predicts 750 cents and has an error of one hundred cents.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counterexample exposes the weakness of a mean. Inputs of 500, 2000 and 500 cents produce a 1000-cent estimate, although the reference is 500. Across the three valid numeric comparisons, the helper's mean absolute error is 183.33 cents, while the baseline's is 33.67 cents.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baseline wins on this tiny designed set. We retain the recipe's transparent mean and disclose its outlier sensitivity. A future median comparison needs new cases before any improvement claim.</a:t>
            </a:r>
          </a:p>
        </p:txBody>
      </p:sp>
      <p:graphicFrame>
        <p:nvGraphicFramePr>
          <p:cNvPr id="6" name="Chart">
            <a:extLst xmlns:a="http://schemas.openxmlformats.org/drawingml/2006/main">
              <a:ext uri="{FF2B5EF4-FFF2-40B4-BE49-F238E27FC236}">
                <a16:creationId xmlns:a16="http://schemas.microsoft.com/office/drawing/2014/main" id="{E4A26018-E4E1-4864-96C0-D61605F48E58}"/>
              </a:ext>
            </a:extLst>
          </p:cNvPr>
          <p:cNvGraphicFramePr/>
          <p:nvPr/>
        </p:nvGraphicFramePr>
        <p:xfrm>
          <a:off xmlns:a="http://schemas.openxmlformats.org/drawingml/2006/main" x="7667625" y="1933575"/>
          <a:ext xmlns:a="http://schemas.openxmlformats.org/drawingml/2006/main" cx="4048125" cy="3429000"/>
        </p:xfrm>
        <a:graphic xmlns:a="http://schemas.openxmlformats.org/drawingml/2006/main">
          <a:graphicData uri="http://schemas.openxmlformats.org/drawingml/2006/chart">
            <c:chart xmlns:r="http://schemas.openxmlformats.org/officeDocument/2006/relationships" xmlns:c="http://schemas.openxmlformats.org/drawingml/2006/chart" r:id="R936c512f7d394d73"/>
          </a:graphicData>
        </a:graphic>
      </p:graphicFrame>
      <p:sp>
        <p:nvSpPr>
          <p:cNvPr id="7" name="">
            <a:extLst xmlns:a="http://schemas.openxmlformats.org/drawingml/2006/main">
              <a:ext uri="{FF2B5EF4-FFF2-40B4-BE49-F238E27FC236}">
                <a16:creationId xmlns:a16="http://schemas.microsoft.com/office/drawing/2014/main" id="{A7FBA1A6-F07E-48FC-A15F-3F9E2B040042}"/>
              </a:ext>
            </a:extLst>
          </p:cNvPr>
          <p:cNvSpPr>
            <a:spLocks xmlns:a="http://schemas.openxmlformats.org/drawingml/2006/main" noGrp="1"/>
          </p:cNvSpPr>
          <p:nvPr/>
        </p:nvSpPr>
        <p:spPr>
          <a:xfrm xmlns:a="http://schemas.openxmlformats.org/drawingml/2006/main">
            <a:off x="7762875" y="5619750"/>
            <a:ext cx="3810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4B6259"/>
                </a:solidFill>
                <a:latin typeface="Arial"/>
                <a:ea typeface="Arial"/>
                <a:cs typeface="Arial"/>
              </a:defRPr>
            </a:defPPr>
            <a:lvl1pPr>
              <a:buNone/>
              <a:defRPr sz="1650" b="0">
                <a:solidFill>
                  <a:srgbClr val="4B6259"/>
                </a:solidFill>
                <a:latin typeface="Arial"/>
                <a:ea typeface="Arial"/>
                <a:cs typeface="Arial"/>
              </a:defRPr>
            </a:lvl1pPr>
            <a:lvl2pPr>
              <a:buNone/>
              <a:defRPr sz="1650" b="0">
                <a:solidFill>
                  <a:srgbClr val="4B6259"/>
                </a:solidFill>
                <a:latin typeface="Arial"/>
                <a:ea typeface="Arial"/>
                <a:cs typeface="Arial"/>
              </a:defRPr>
            </a:lvl2pPr>
            <a:lvl3pPr>
              <a:buNone/>
              <a:defRPr sz="1650" b="0">
                <a:solidFill>
                  <a:srgbClr val="4B6259"/>
                </a:solidFill>
                <a:latin typeface="Arial"/>
                <a:ea typeface="Arial"/>
                <a:cs typeface="Arial"/>
              </a:defRPr>
            </a:lvl3pPr>
            <a:lvl4pPr>
              <a:buNone/>
              <a:defRPr sz="1650" b="0">
                <a:solidFill>
                  <a:srgbClr val="4B6259"/>
                </a:solidFill>
                <a:latin typeface="Arial"/>
                <a:ea typeface="Arial"/>
                <a:cs typeface="Arial"/>
              </a:defRPr>
            </a:lvl4pPr>
            <a:lvl5pPr>
              <a:buNone/>
              <a:defRPr sz="1650" b="0">
                <a:solidFill>
                  <a:srgbClr val="4B6259"/>
                </a:solidFill>
                <a:latin typeface="Arial"/>
                <a:ea typeface="Arial"/>
                <a:cs typeface="Arial"/>
              </a:defRPr>
            </a:lvl5pPr>
            <a:lvl6pPr>
              <a:buNone/>
              <a:defRPr sz="1650" b="0">
                <a:solidFill>
                  <a:srgbClr val="4B6259"/>
                </a:solidFill>
                <a:latin typeface="Arial"/>
                <a:ea typeface="Arial"/>
                <a:cs typeface="Arial"/>
              </a:defRPr>
            </a:lvl6pPr>
            <a:lvl7pPr>
              <a:buNone/>
              <a:defRPr sz="1650" b="0">
                <a:solidFill>
                  <a:srgbClr val="4B6259"/>
                </a:solidFill>
                <a:latin typeface="Arial"/>
                <a:ea typeface="Arial"/>
                <a:cs typeface="Arial"/>
              </a:defRPr>
            </a:lvl7pPr>
            <a:lvl8pPr>
              <a:buNone/>
              <a:defRPr sz="1650" b="0">
                <a:solidFill>
                  <a:srgbClr val="4B6259"/>
                </a:solidFill>
                <a:latin typeface="Arial"/>
                <a:ea typeface="Arial"/>
                <a:cs typeface="Arial"/>
              </a:defRPr>
            </a:lvl8pPr>
            <a:lvl9pPr>
              <a:buNone/>
              <a:defRPr sz="1650" b="0">
                <a:solidFill>
                  <a:srgbClr val="4B6259"/>
                </a:solidFill>
                <a:latin typeface="Arial"/>
                <a:ea typeface="Arial"/>
                <a:cs typeface="Arial"/>
              </a:defRPr>
            </a:lvl9pPr>
          </a:lstStyle>
          <a:p xmlns:a="http://schemas.openxmlformats.org/drawingml/2006/main">
            <a:pPr>
              <a:buNone/>
              <a:defRPr sz="1650" b="0">
                <a:solidFill>
                  <a:srgbClr val="4B6259"/>
                </a:solidFill>
                <a:latin typeface="Arial"/>
                <a:ea typeface="Arial"/>
                <a:cs typeface="Arial"/>
              </a:defRPr>
            </a:pPr>
            <a:r>
              <a:rPr sz="1650" b="0">
                <a:solidFill>
                  <a:srgbClr val="4B6259"/>
                </a:solidFill>
                <a:latin typeface="Arial"/>
                <a:ea typeface="Arial"/>
                <a:cs typeface="Arial"/>
              </a:rPr>
              <a:t>Three valid designed cases.</a:t>
            </a:r>
          </a:p>
          <a:p xmlns:a="http://schemas.openxmlformats.org/drawingml/2006/main">
            <a:pPr>
              <a:buNone/>
              <a:defRPr sz="1650" b="0">
                <a:solidFill>
                  <a:srgbClr val="4B6259"/>
                </a:solidFill>
                <a:latin typeface="Arial"/>
                <a:ea typeface="Arial"/>
                <a:cs typeface="Arial"/>
              </a:defRPr>
            </a:pPr>
            <a:r>
              <a:rPr sz="1650" b="0">
                <a:solidFill>
                  <a:srgbClr val="4B6259"/>
                </a:solidFill>
                <a:latin typeface="Arial"/>
                <a:ea typeface="Arial"/>
                <a:cs typeface="Arial"/>
              </a:rPr>
              <a:t>Lower error is better on these cases.</a:t>
            </a:r>
          </a:p>
        </p:txBody>
      </p:sp>
    </p:spTree>
    <p:extLst>
      <p:ext uri="{BB962C8B-B14F-4D97-AF65-F5344CB8AC3E}">
        <p14:creationId xmlns:p14="http://schemas.microsoft.com/office/powerpoint/2010/main" val="115998517"/>
      </p:ext>
    </p:extLst>
  </p:cSld>
</p:sld>
</file>

<file path=ppt/slides/slide23.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C9653A-DF9B-4BB3-A6E1-A1B65C01B3A3}"/>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987E6DA6-353E-4CF6-AEFE-1BFB94384D5B}"/>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Testing techniques and actual evidence</a:t>
            </a:r>
          </a:p>
        </p:txBody>
      </p:sp>
      <p:sp>
        <p:nvSpPr>
          <p:cNvPr id="3" name="">
            <a:extLst xmlns:a="http://schemas.openxmlformats.org/drawingml/2006/main">
              <a:ext uri="{FF2B5EF4-FFF2-40B4-BE49-F238E27FC236}">
                <a16:creationId xmlns:a16="http://schemas.microsoft.com/office/drawing/2014/main" id="{E82F7175-BE70-4BB6-AD8B-B49D0346473C}"/>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C33966D8-5479-4E79-8BAC-921DAC782A5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BAEF325E-9B83-4F7F-9EBE-BDF4FFF42C98}"/>
              </a:ext>
            </a:extLst>
          </p:cNvPr>
          <p:cNvSpPr>
            <a:spLocks xmlns:a="http://schemas.openxmlformats.org/drawingml/2006/main" noGrp="1"/>
          </p:cNvSpPr>
          <p:nvPr/>
        </p:nvSpPr>
        <p:spPr>
          <a:xfrm xmlns:a="http://schemas.openxmlformats.org/drawingml/2006/main">
            <a:off x="609600" y="1657350"/>
            <a:ext cx="6858000" cy="466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52B25"/>
                </a:solidFill>
                <a:latin typeface="Arial"/>
                <a:ea typeface="Arial"/>
                <a:cs typeface="Arial"/>
              </a:defRPr>
            </a:defPPr>
            <a:lvl1pPr>
              <a:buNone/>
              <a:defRPr sz="1725" b="0">
                <a:solidFill>
                  <a:srgbClr val="152B25"/>
                </a:solidFill>
                <a:latin typeface="Arial"/>
                <a:ea typeface="Arial"/>
                <a:cs typeface="Arial"/>
              </a:defRPr>
            </a:lvl1pPr>
            <a:lvl2pPr>
              <a:buNone/>
              <a:defRPr sz="1725" b="0">
                <a:solidFill>
                  <a:srgbClr val="152B25"/>
                </a:solidFill>
                <a:latin typeface="Arial"/>
                <a:ea typeface="Arial"/>
                <a:cs typeface="Arial"/>
              </a:defRPr>
            </a:lvl2pPr>
            <a:lvl3pPr>
              <a:buNone/>
              <a:defRPr sz="1725" b="0">
                <a:solidFill>
                  <a:srgbClr val="152B25"/>
                </a:solidFill>
                <a:latin typeface="Arial"/>
                <a:ea typeface="Arial"/>
                <a:cs typeface="Arial"/>
              </a:defRPr>
            </a:lvl3pPr>
            <a:lvl4pPr>
              <a:buNone/>
              <a:defRPr sz="1725" b="0">
                <a:solidFill>
                  <a:srgbClr val="152B25"/>
                </a:solidFill>
                <a:latin typeface="Arial"/>
                <a:ea typeface="Arial"/>
                <a:cs typeface="Arial"/>
              </a:defRPr>
            </a:lvl4pPr>
            <a:lvl5pPr>
              <a:buNone/>
              <a:defRPr sz="1725" b="0">
                <a:solidFill>
                  <a:srgbClr val="152B25"/>
                </a:solidFill>
                <a:latin typeface="Arial"/>
                <a:ea typeface="Arial"/>
                <a:cs typeface="Arial"/>
              </a:defRPr>
            </a:lvl5pPr>
            <a:lvl6pPr>
              <a:buNone/>
              <a:defRPr sz="1725" b="0">
                <a:solidFill>
                  <a:srgbClr val="152B25"/>
                </a:solidFill>
                <a:latin typeface="Arial"/>
                <a:ea typeface="Arial"/>
                <a:cs typeface="Arial"/>
              </a:defRPr>
            </a:lvl6pPr>
            <a:lvl7pPr>
              <a:buNone/>
              <a:defRPr sz="1725" b="0">
                <a:solidFill>
                  <a:srgbClr val="152B25"/>
                </a:solidFill>
                <a:latin typeface="Arial"/>
                <a:ea typeface="Arial"/>
                <a:cs typeface="Arial"/>
              </a:defRPr>
            </a:lvl7pPr>
            <a:lvl8pPr>
              <a:buNone/>
              <a:defRPr sz="1725" b="0">
                <a:solidFill>
                  <a:srgbClr val="152B25"/>
                </a:solidFill>
                <a:latin typeface="Arial"/>
                <a:ea typeface="Arial"/>
                <a:cs typeface="Arial"/>
              </a:defRPr>
            </a:lvl8pPr>
            <a:lvl9pPr>
              <a:buNone/>
              <a:defRPr sz="1725" b="0">
                <a:solidFill>
                  <a:srgbClr val="152B25"/>
                </a:solidFill>
                <a:latin typeface="Arial"/>
                <a:ea typeface="Arial"/>
                <a:cs typeface="Arial"/>
              </a:defRPr>
            </a:lvl9pPr>
          </a:lstStyle>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Our final analyzer run reported no issues, and the logic and widget suite passed seventeen checks. Pure-function tests cover money rules and helper cases. Widget tests use an injected fake data boundary to examine navigation, invalid inputs, a failed save and the helper's explanation and dismissal.</a:t>
            </a:r>
          </a:p>
          <a:p xmlns:a="http://schemas.openxmlformats.org/drawingml/2006/main">
            <a:r>
              <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Android integration checks use the real SQLite plugin. Three checks passed on each of two emulator profiles, covering CRUD, constraints, repeated-save behavior, migration and reopening saved data. Release installation and offline restart checks also showed retained records and preferences through the running interface.</a:t>
            </a:r>
          </a:p>
          <a:p xmlns:a="http://schemas.openxmlformats.org/drawingml/2006/main">
            <a:r>
              <a:t/>
            </a:r>
          </a:p>
          <a:p xmlns:a="http://schemas.openxmlformats.org/drawingml/2006/main">
            <a:pPr>
              <a:buNone/>
              <a:defRPr sz="1725" b="0">
                <a:solidFill>
                  <a:srgbClr val="152B25"/>
                </a:solidFill>
                <a:latin typeface="Arial"/>
                <a:ea typeface="Arial"/>
                <a:cs typeface="Arial"/>
              </a:defRPr>
            </a:pPr>
            <a:r>
              <a:rPr sz="1725" b="0">
                <a:solidFill>
                  <a:srgbClr val="152B25"/>
                </a:solidFill>
                <a:latin typeface="Arial"/>
                <a:ea typeface="Arial"/>
                <a:cs typeface="Arial"/>
              </a:rPr>
              <a:t>The emulators have different display settings but share one Android API image. Physical-device testing and independent peer revision remain incomplete. Genuine logs identify the checks we actually performed.</a:t>
            </a:r>
          </a:p>
        </p:txBody>
      </p:sp>
      <p:sp>
        <p:nvSpPr>
          <p:cNvPr id="6" name="">
            <a:extLst xmlns:a="http://schemas.openxmlformats.org/drawingml/2006/main">
              <a:ext uri="{FF2B5EF4-FFF2-40B4-BE49-F238E27FC236}">
                <a16:creationId xmlns:a16="http://schemas.microsoft.com/office/drawing/2014/main" id="{DFAFA26D-805E-48ED-A8F7-94B725AA0D9C}"/>
              </a:ext>
            </a:extLst>
          </p:cNvPr>
          <p:cNvSpPr>
            <a:spLocks xmlns:a="http://schemas.openxmlformats.org/drawingml/2006/main" noGrp="1"/>
          </p:cNvSpPr>
          <p:nvPr/>
        </p:nvSpPr>
        <p:spPr>
          <a:xfrm xmlns:a="http://schemas.openxmlformats.org/drawingml/2006/main">
            <a:off x="7734300" y="1724025"/>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final-unit-widget-tests.txt</a:t>
            </a:r>
          </a:p>
        </p:txBody>
      </p:sp>
      <p:sp>
        <p:nvSpPr>
          <p:cNvPr id="7" name="">
            <a:extLst xmlns:a="http://schemas.openxmlformats.org/drawingml/2006/main">
              <a:ext uri="{FF2B5EF4-FFF2-40B4-BE49-F238E27FC236}">
                <a16:creationId xmlns:a16="http://schemas.microsoft.com/office/drawing/2014/main" id="{65820F8A-467B-47E6-8CF6-B2DDF9A27762}"/>
              </a:ext>
            </a:extLst>
          </p:cNvPr>
          <p:cNvSpPr>
            <a:spLocks xmlns:a="http://schemas.openxmlformats.org/drawingml/2006/main" noGrp="1"/>
          </p:cNvSpPr>
          <p:nvPr/>
        </p:nvSpPr>
        <p:spPr>
          <a:xfrm xmlns:a="http://schemas.openxmlformats.org/drawingml/2006/main">
            <a:off x="7734300" y="2314575"/>
            <a:ext cx="3905250" cy="104775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00:01 +17: All tests passed!</a:t>
            </a:r>
          </a:p>
        </p:txBody>
      </p:sp>
      <p:sp>
        <p:nvSpPr>
          <p:cNvPr id="8" name="">
            <a:extLst xmlns:a="http://schemas.openxmlformats.org/drawingml/2006/main">
              <a:ext uri="{FF2B5EF4-FFF2-40B4-BE49-F238E27FC236}">
                <a16:creationId xmlns:a16="http://schemas.microsoft.com/office/drawing/2014/main" id="{F6E97647-17A4-44E0-9CE5-761FBA9FEDE9}"/>
              </a:ext>
            </a:extLst>
          </p:cNvPr>
          <p:cNvSpPr>
            <a:spLocks xmlns:a="http://schemas.openxmlformats.org/drawingml/2006/main" noGrp="1"/>
          </p:cNvSpPr>
          <p:nvPr/>
        </p:nvSpPr>
        <p:spPr>
          <a:xfrm xmlns:a="http://schemas.openxmlformats.org/drawingml/2006/main">
            <a:off x="7810500" y="39052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6452"/>
                </a:solidFill>
                <a:latin typeface="Arial"/>
                <a:ea typeface="Arial"/>
                <a:cs typeface="Arial"/>
              </a:defRPr>
            </a:defPPr>
            <a:lvl1pPr>
              <a:buNone/>
              <a:defRPr sz="1875" b="1">
                <a:solidFill>
                  <a:srgbClr val="176452"/>
                </a:solidFill>
                <a:latin typeface="Arial"/>
                <a:ea typeface="Arial"/>
                <a:cs typeface="Arial"/>
              </a:defRPr>
            </a:lvl1pPr>
            <a:lvl2pPr>
              <a:buNone/>
              <a:defRPr sz="1875" b="1">
                <a:solidFill>
                  <a:srgbClr val="176452"/>
                </a:solidFill>
                <a:latin typeface="Arial"/>
                <a:ea typeface="Arial"/>
                <a:cs typeface="Arial"/>
              </a:defRPr>
            </a:lvl2pPr>
            <a:lvl3pPr>
              <a:buNone/>
              <a:defRPr sz="1875" b="1">
                <a:solidFill>
                  <a:srgbClr val="176452"/>
                </a:solidFill>
                <a:latin typeface="Arial"/>
                <a:ea typeface="Arial"/>
                <a:cs typeface="Arial"/>
              </a:defRPr>
            </a:lvl3pPr>
            <a:lvl4pPr>
              <a:buNone/>
              <a:defRPr sz="1875" b="1">
                <a:solidFill>
                  <a:srgbClr val="176452"/>
                </a:solidFill>
                <a:latin typeface="Arial"/>
                <a:ea typeface="Arial"/>
                <a:cs typeface="Arial"/>
              </a:defRPr>
            </a:lvl4pPr>
            <a:lvl5pPr>
              <a:buNone/>
              <a:defRPr sz="1875" b="1">
                <a:solidFill>
                  <a:srgbClr val="176452"/>
                </a:solidFill>
                <a:latin typeface="Arial"/>
                <a:ea typeface="Arial"/>
                <a:cs typeface="Arial"/>
              </a:defRPr>
            </a:lvl5pPr>
            <a:lvl6pPr>
              <a:buNone/>
              <a:defRPr sz="1875" b="1">
                <a:solidFill>
                  <a:srgbClr val="176452"/>
                </a:solidFill>
                <a:latin typeface="Arial"/>
                <a:ea typeface="Arial"/>
                <a:cs typeface="Arial"/>
              </a:defRPr>
            </a:lvl6pPr>
            <a:lvl7pPr>
              <a:buNone/>
              <a:defRPr sz="1875" b="1">
                <a:solidFill>
                  <a:srgbClr val="176452"/>
                </a:solidFill>
                <a:latin typeface="Arial"/>
                <a:ea typeface="Arial"/>
                <a:cs typeface="Arial"/>
              </a:defRPr>
            </a:lvl7pPr>
            <a:lvl8pPr>
              <a:buNone/>
              <a:defRPr sz="1875" b="1">
                <a:solidFill>
                  <a:srgbClr val="176452"/>
                </a:solidFill>
                <a:latin typeface="Arial"/>
                <a:ea typeface="Arial"/>
                <a:cs typeface="Arial"/>
              </a:defRPr>
            </a:lvl8pPr>
            <a:lvl9pPr>
              <a:buNone/>
              <a:defRPr sz="1875" b="1">
                <a:solidFill>
                  <a:srgbClr val="176452"/>
                </a:solidFill>
                <a:latin typeface="Arial"/>
                <a:ea typeface="Arial"/>
                <a:cs typeface="Arial"/>
              </a:defRPr>
            </a:lvl9pPr>
          </a:lstStyle>
          <a:p xmlns:a="http://schemas.openxmlformats.org/drawingml/2006/main">
            <a:pPr>
              <a:buNone/>
              <a:defRPr sz="1875" b="1">
                <a:solidFill>
                  <a:srgbClr val="176452"/>
                </a:solidFill>
                <a:latin typeface="Arial"/>
                <a:ea typeface="Arial"/>
                <a:cs typeface="Arial"/>
              </a:defRPr>
            </a:pPr>
            <a:r>
              <a:rPr sz="1875" b="1">
                <a:solidFill>
                  <a:srgbClr val="176452"/>
                </a:solidFill>
                <a:latin typeface="Arial"/>
                <a:ea typeface="Arial"/>
                <a:cs typeface="Arial"/>
              </a:rPr>
              <a:t>Actual Android runs</a:t>
            </a:r>
          </a:p>
        </p:txBody>
      </p:sp>
      <p:sp>
        <p:nvSpPr>
          <p:cNvPr id="9" name="">
            <a:extLst xmlns:a="http://schemas.openxmlformats.org/drawingml/2006/main">
              <a:ext uri="{FF2B5EF4-FFF2-40B4-BE49-F238E27FC236}">
                <a16:creationId xmlns:a16="http://schemas.microsoft.com/office/drawing/2014/main" id="{CF0E202D-DB19-41DA-9EC7-C287CD4B898D}"/>
              </a:ext>
            </a:extLst>
          </p:cNvPr>
          <p:cNvSpPr>
            <a:spLocks xmlns:a="http://schemas.openxmlformats.org/drawingml/2006/main" noGrp="1"/>
          </p:cNvSpPr>
          <p:nvPr/>
        </p:nvSpPr>
        <p:spPr>
          <a:xfrm xmlns:a="http://schemas.openxmlformats.org/drawingml/2006/main">
            <a:off x="7734300" y="42672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final-phone-integration.txt</a:t>
            </a:r>
          </a:p>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final-large-integration.txt</a:t>
            </a:r>
          </a:p>
        </p:txBody>
      </p:sp>
      <p:sp>
        <p:nvSpPr>
          <p:cNvPr id="10" name="">
            <a:extLst xmlns:a="http://schemas.openxmlformats.org/drawingml/2006/main">
              <a:ext uri="{FF2B5EF4-FFF2-40B4-BE49-F238E27FC236}">
                <a16:creationId xmlns:a16="http://schemas.microsoft.com/office/drawing/2014/main" id="{301E3E6C-0614-4094-BA32-460B90E7BACE}"/>
              </a:ext>
            </a:extLst>
          </p:cNvPr>
          <p:cNvSpPr>
            <a:spLocks xmlns:a="http://schemas.openxmlformats.org/drawingml/2006/main" noGrp="1"/>
          </p:cNvSpPr>
          <p:nvPr/>
        </p:nvSpPr>
        <p:spPr>
          <a:xfrm xmlns:a="http://schemas.openxmlformats.org/drawingml/2006/main">
            <a:off x="7734300" y="4857750"/>
            <a:ext cx="3905250" cy="9906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00:04 +3: All tests passed!</a:t>
            </a:r>
          </a:p>
        </p:txBody>
      </p:sp>
    </p:spTree>
    <p:extLst>
      <p:ext uri="{BB962C8B-B14F-4D97-AF65-F5344CB8AC3E}">
        <p14:creationId xmlns:p14="http://schemas.microsoft.com/office/powerpoint/2010/main" val="1916671242"/>
      </p:ext>
    </p:extLst>
  </p:cSld>
</p:sld>
</file>

<file path=ppt/slides/slide24.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0C2F3D2-DD93-46DF-A851-3B95C2D7A12B}"/>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76E5FFAF-B2C3-4A2A-8933-DA4A9862B2C1}"/>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Two emulator profiles in the evidence</a:t>
            </a:r>
          </a:p>
        </p:txBody>
      </p:sp>
      <p:sp>
        <p:nvSpPr>
          <p:cNvPr id="3" name="">
            <a:extLst xmlns:a="http://schemas.openxmlformats.org/drawingml/2006/main">
              <a:ext uri="{FF2B5EF4-FFF2-40B4-BE49-F238E27FC236}">
                <a16:creationId xmlns:a16="http://schemas.microsoft.com/office/drawing/2014/main" id="{D7C19943-F2D6-4E13-A86D-1BD39DE7E33A}"/>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27ABB451-ECA5-47F2-9F0B-7841AC316759}"/>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24</a:t>
            </a:r>
          </a:p>
        </p:txBody>
      </p:sp>
      <p:pic>
        <p:nvPicPr>
          <p:cNvPr id="5" name="">
            <a:extLst xmlns:a="http://schemas.openxmlformats.org/drawingml/2006/main">
              <a:ext uri="{FF2B5EF4-FFF2-40B4-BE49-F238E27FC236}">
                <a16:creationId xmlns:a16="http://schemas.microsoft.com/office/drawing/2014/main" id="{9B322801-F6B3-493C-B357-7C82F099694A}"/>
              </a:ext>
            </a:extLst>
          </p:cNvPr>
          <p:cNvPicPr>
            <a:picLocks xmlns:a="http://schemas.openxmlformats.org/drawingml/2006/main" noChangeAspect="1"/>
          </p:cNvPicPr>
          <p:nvPr/>
        </p:nvPicPr>
        <p:blipFill>
          <a:blip xmlns:r="http://schemas.openxmlformats.org/officeDocument/2006/relationships" xmlns:a="http://schemas.openxmlformats.org/drawingml/2006/main" r:embed="R371002a8c5d94f2a"/>
          <a:stretch xmlns:a="http://schemas.openxmlformats.org/drawingml/2006/main"/>
        </p:blipFill>
        <p:spPr>
          <a:xfrm xmlns:a="http://schemas.openxmlformats.org/drawingml/2006/main">
            <a:off x="667226" y="1685925"/>
            <a:ext cx="1980248" cy="440055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F2A16973-EE76-4B9C-B05C-26BE1A477778}"/>
              </a:ext>
            </a:extLst>
          </p:cNvPr>
          <p:cNvPicPr>
            <a:picLocks xmlns:a="http://schemas.openxmlformats.org/drawingml/2006/main" noChangeAspect="1"/>
          </p:cNvPicPr>
          <p:nvPr/>
        </p:nvPicPr>
        <p:blipFill>
          <a:blip xmlns:r="http://schemas.openxmlformats.org/officeDocument/2006/relationships" xmlns:a="http://schemas.openxmlformats.org/drawingml/2006/main" r:embed="R4c2d6a6028d54de4"/>
          <a:stretch xmlns:a="http://schemas.openxmlformats.org/drawingml/2006/main"/>
        </p:blipFill>
        <p:spPr>
          <a:xfrm xmlns:a="http://schemas.openxmlformats.org/drawingml/2006/main">
            <a:off x="3173016" y="1685925"/>
            <a:ext cx="2750344" cy="44005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6258224-8AB1-423E-8407-32383E12E7C0}"/>
              </a:ext>
            </a:extLst>
          </p:cNvPr>
          <p:cNvSpPr>
            <a:spLocks xmlns:a="http://schemas.openxmlformats.org/drawingml/2006/main" noGrp="1"/>
          </p:cNvSpPr>
          <p:nvPr/>
        </p:nvSpPr>
        <p:spPr>
          <a:xfrm xmlns:a="http://schemas.openxmlformats.org/drawingml/2006/main">
            <a:off x="6667500" y="17621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buNone/>
              <a:defRPr sz="2175" b="1">
                <a:solidFill>
                  <a:srgbClr val="176452"/>
                </a:solidFill>
                <a:latin typeface="Arial"/>
                <a:ea typeface="Arial"/>
                <a:cs typeface="Arial"/>
              </a:defRPr>
            </a:lvl1pPr>
            <a:lvl2pPr>
              <a:buNone/>
              <a:defRPr sz="2175" b="1">
                <a:solidFill>
                  <a:srgbClr val="176452"/>
                </a:solidFill>
                <a:latin typeface="Arial"/>
                <a:ea typeface="Arial"/>
                <a:cs typeface="Arial"/>
              </a:defRPr>
            </a:lvl2pPr>
            <a:lvl3pPr>
              <a:buNone/>
              <a:defRPr sz="2175" b="1">
                <a:solidFill>
                  <a:srgbClr val="176452"/>
                </a:solidFill>
                <a:latin typeface="Arial"/>
                <a:ea typeface="Arial"/>
                <a:cs typeface="Arial"/>
              </a:defRPr>
            </a:lvl3pPr>
            <a:lvl4pPr>
              <a:buNone/>
              <a:defRPr sz="2175" b="1">
                <a:solidFill>
                  <a:srgbClr val="176452"/>
                </a:solidFill>
                <a:latin typeface="Arial"/>
                <a:ea typeface="Arial"/>
                <a:cs typeface="Arial"/>
              </a:defRPr>
            </a:lvl4pPr>
            <a:lvl5pPr>
              <a:buNone/>
              <a:defRPr sz="2175" b="1">
                <a:solidFill>
                  <a:srgbClr val="176452"/>
                </a:solidFill>
                <a:latin typeface="Arial"/>
                <a:ea typeface="Arial"/>
                <a:cs typeface="Arial"/>
              </a:defRPr>
            </a:lvl5pPr>
            <a:lvl6pPr>
              <a:buNone/>
              <a:defRPr sz="2175" b="1">
                <a:solidFill>
                  <a:srgbClr val="176452"/>
                </a:solidFill>
                <a:latin typeface="Arial"/>
                <a:ea typeface="Arial"/>
                <a:cs typeface="Arial"/>
              </a:defRPr>
            </a:lvl6pPr>
            <a:lvl7pPr>
              <a:buNone/>
              <a:defRPr sz="2175" b="1">
                <a:solidFill>
                  <a:srgbClr val="176452"/>
                </a:solidFill>
                <a:latin typeface="Arial"/>
                <a:ea typeface="Arial"/>
                <a:cs typeface="Arial"/>
              </a:defRPr>
            </a:lvl7pPr>
            <a:lvl8pPr>
              <a:buNone/>
              <a:defRPr sz="2175" b="1">
                <a:solidFill>
                  <a:srgbClr val="176452"/>
                </a:solidFill>
                <a:latin typeface="Arial"/>
                <a:ea typeface="Arial"/>
                <a:cs typeface="Arial"/>
              </a:defRPr>
            </a:lvl8pPr>
            <a:lvl9pPr>
              <a:buNone/>
              <a:defRPr sz="2175" b="1">
                <a:solidFill>
                  <a:srgbClr val="176452"/>
                </a:solidFill>
                <a:latin typeface="Arial"/>
                <a:ea typeface="Arial"/>
                <a:cs typeface="Arial"/>
              </a:defRPr>
            </a:lvl9pPr>
          </a:lstStyle>
          <a:p xmlns:a="http://schemas.openxmlformats.org/drawingml/2006/main">
            <a:pPr>
              <a:buNone/>
              <a:defRPr sz="2175" b="1">
                <a:solidFill>
                  <a:srgbClr val="176452"/>
                </a:solidFill>
                <a:latin typeface="Arial"/>
                <a:ea typeface="Arial"/>
                <a:cs typeface="Arial"/>
              </a:defRPr>
            </a:pPr>
            <a:r>
              <a:rPr sz="2175" b="1">
                <a:solidFill>
                  <a:srgbClr val="176452"/>
                </a:solidFill>
                <a:latin typeface="Arial"/>
                <a:ea typeface="Arial"/>
                <a:cs typeface="Arial"/>
              </a:rPr>
              <a:t>Phone profile</a:t>
            </a:r>
          </a:p>
        </p:txBody>
      </p:sp>
      <p:sp>
        <p:nvSpPr>
          <p:cNvPr id="8" name="">
            <a:extLst xmlns:a="http://schemas.openxmlformats.org/drawingml/2006/main">
              <a:ext uri="{FF2B5EF4-FFF2-40B4-BE49-F238E27FC236}">
                <a16:creationId xmlns:a16="http://schemas.microsoft.com/office/drawing/2014/main" id="{06D07D62-6334-4B23-B399-1EC38BB3B0C9}"/>
              </a:ext>
            </a:extLst>
          </p:cNvPr>
          <p:cNvSpPr>
            <a:spLocks xmlns:a="http://schemas.openxmlformats.org/drawingml/2006/main" noGrp="1"/>
          </p:cNvSpPr>
          <p:nvPr/>
        </p:nvSpPr>
        <p:spPr>
          <a:xfrm xmlns:a="http://schemas.openxmlformats.org/drawingml/2006/main">
            <a:off x="6667500" y="22955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1080 × 2400 display</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3 integration checks passed</a:t>
            </a:r>
          </a:p>
        </p:txBody>
      </p:sp>
      <p:sp>
        <p:nvSpPr>
          <p:cNvPr id="9" name="">
            <a:extLst xmlns:a="http://schemas.openxmlformats.org/drawingml/2006/main">
              <a:ext uri="{FF2B5EF4-FFF2-40B4-BE49-F238E27FC236}">
                <a16:creationId xmlns:a16="http://schemas.microsoft.com/office/drawing/2014/main" id="{C081DCE9-5098-419D-90F2-25BBA34EBEB4}"/>
              </a:ext>
            </a:extLst>
          </p:cNvPr>
          <p:cNvSpPr>
            <a:spLocks xmlns:a="http://schemas.openxmlformats.org/drawingml/2006/main" noGrp="1"/>
          </p:cNvSpPr>
          <p:nvPr/>
        </p:nvSpPr>
        <p:spPr>
          <a:xfrm xmlns:a="http://schemas.openxmlformats.org/drawingml/2006/main">
            <a:off x="6667500" y="3476625"/>
            <a:ext cx="4762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6452"/>
                </a:solidFill>
                <a:latin typeface="Arial"/>
                <a:ea typeface="Arial"/>
                <a:cs typeface="Arial"/>
              </a:defRPr>
            </a:defPPr>
            <a:lvl1pPr>
              <a:buNone/>
              <a:defRPr sz="2175" b="1">
                <a:solidFill>
                  <a:srgbClr val="176452"/>
                </a:solidFill>
                <a:latin typeface="Arial"/>
                <a:ea typeface="Arial"/>
                <a:cs typeface="Arial"/>
              </a:defRPr>
            </a:lvl1pPr>
            <a:lvl2pPr>
              <a:buNone/>
              <a:defRPr sz="2175" b="1">
                <a:solidFill>
                  <a:srgbClr val="176452"/>
                </a:solidFill>
                <a:latin typeface="Arial"/>
                <a:ea typeface="Arial"/>
                <a:cs typeface="Arial"/>
              </a:defRPr>
            </a:lvl2pPr>
            <a:lvl3pPr>
              <a:buNone/>
              <a:defRPr sz="2175" b="1">
                <a:solidFill>
                  <a:srgbClr val="176452"/>
                </a:solidFill>
                <a:latin typeface="Arial"/>
                <a:ea typeface="Arial"/>
                <a:cs typeface="Arial"/>
              </a:defRPr>
            </a:lvl3pPr>
            <a:lvl4pPr>
              <a:buNone/>
              <a:defRPr sz="2175" b="1">
                <a:solidFill>
                  <a:srgbClr val="176452"/>
                </a:solidFill>
                <a:latin typeface="Arial"/>
                <a:ea typeface="Arial"/>
                <a:cs typeface="Arial"/>
              </a:defRPr>
            </a:lvl4pPr>
            <a:lvl5pPr>
              <a:buNone/>
              <a:defRPr sz="2175" b="1">
                <a:solidFill>
                  <a:srgbClr val="176452"/>
                </a:solidFill>
                <a:latin typeface="Arial"/>
                <a:ea typeface="Arial"/>
                <a:cs typeface="Arial"/>
              </a:defRPr>
            </a:lvl5pPr>
            <a:lvl6pPr>
              <a:buNone/>
              <a:defRPr sz="2175" b="1">
                <a:solidFill>
                  <a:srgbClr val="176452"/>
                </a:solidFill>
                <a:latin typeface="Arial"/>
                <a:ea typeface="Arial"/>
                <a:cs typeface="Arial"/>
              </a:defRPr>
            </a:lvl6pPr>
            <a:lvl7pPr>
              <a:buNone/>
              <a:defRPr sz="2175" b="1">
                <a:solidFill>
                  <a:srgbClr val="176452"/>
                </a:solidFill>
                <a:latin typeface="Arial"/>
                <a:ea typeface="Arial"/>
                <a:cs typeface="Arial"/>
              </a:defRPr>
            </a:lvl7pPr>
            <a:lvl8pPr>
              <a:buNone/>
              <a:defRPr sz="2175" b="1">
                <a:solidFill>
                  <a:srgbClr val="176452"/>
                </a:solidFill>
                <a:latin typeface="Arial"/>
                <a:ea typeface="Arial"/>
                <a:cs typeface="Arial"/>
              </a:defRPr>
            </a:lvl8pPr>
            <a:lvl9pPr>
              <a:buNone/>
              <a:defRPr sz="2175" b="1">
                <a:solidFill>
                  <a:srgbClr val="176452"/>
                </a:solidFill>
                <a:latin typeface="Arial"/>
                <a:ea typeface="Arial"/>
                <a:cs typeface="Arial"/>
              </a:defRPr>
            </a:lvl9pPr>
          </a:lstStyle>
          <a:p xmlns:a="http://schemas.openxmlformats.org/drawingml/2006/main">
            <a:pPr>
              <a:buNone/>
              <a:defRPr sz="2175" b="1">
                <a:solidFill>
                  <a:srgbClr val="176452"/>
                </a:solidFill>
                <a:latin typeface="Arial"/>
                <a:ea typeface="Arial"/>
                <a:cs typeface="Arial"/>
              </a:defRPr>
            </a:pPr>
            <a:r>
              <a:rPr sz="2175" b="1">
                <a:solidFill>
                  <a:srgbClr val="176452"/>
                </a:solidFill>
                <a:latin typeface="Arial"/>
                <a:ea typeface="Arial"/>
                <a:cs typeface="Arial"/>
              </a:rPr>
              <a:t>Large display profile</a:t>
            </a:r>
          </a:p>
        </p:txBody>
      </p:sp>
      <p:sp>
        <p:nvSpPr>
          <p:cNvPr id="10" name="">
            <a:extLst xmlns:a="http://schemas.openxmlformats.org/drawingml/2006/main">
              <a:ext uri="{FF2B5EF4-FFF2-40B4-BE49-F238E27FC236}">
                <a16:creationId xmlns:a16="http://schemas.microsoft.com/office/drawing/2014/main" id="{6B40257E-CC98-4324-9E63-E42DF49DA348}"/>
              </a:ext>
            </a:extLst>
          </p:cNvPr>
          <p:cNvSpPr>
            <a:spLocks xmlns:a="http://schemas.openxmlformats.org/drawingml/2006/main" noGrp="1"/>
          </p:cNvSpPr>
          <p:nvPr/>
        </p:nvSpPr>
        <p:spPr>
          <a:xfrm xmlns:a="http://schemas.openxmlformats.org/drawingml/2006/main">
            <a:off x="6667500" y="401002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52B25"/>
                </a:solidFill>
                <a:latin typeface="Arial"/>
                <a:ea typeface="Arial"/>
                <a:cs typeface="Arial"/>
              </a:defRPr>
            </a:defPPr>
            <a:lvl1pPr>
              <a:buNone/>
              <a:defRPr sz="1950" b="0">
                <a:solidFill>
                  <a:srgbClr val="152B25"/>
                </a:solidFill>
                <a:latin typeface="Arial"/>
                <a:ea typeface="Arial"/>
                <a:cs typeface="Arial"/>
              </a:defRPr>
            </a:lvl1pPr>
            <a:lvl2pPr>
              <a:buNone/>
              <a:defRPr sz="1950" b="0">
                <a:solidFill>
                  <a:srgbClr val="152B25"/>
                </a:solidFill>
                <a:latin typeface="Arial"/>
                <a:ea typeface="Arial"/>
                <a:cs typeface="Arial"/>
              </a:defRPr>
            </a:lvl2pPr>
            <a:lvl3pPr>
              <a:buNone/>
              <a:defRPr sz="1950" b="0">
                <a:solidFill>
                  <a:srgbClr val="152B25"/>
                </a:solidFill>
                <a:latin typeface="Arial"/>
                <a:ea typeface="Arial"/>
                <a:cs typeface="Arial"/>
              </a:defRPr>
            </a:lvl3pPr>
            <a:lvl4pPr>
              <a:buNone/>
              <a:defRPr sz="1950" b="0">
                <a:solidFill>
                  <a:srgbClr val="152B25"/>
                </a:solidFill>
                <a:latin typeface="Arial"/>
                <a:ea typeface="Arial"/>
                <a:cs typeface="Arial"/>
              </a:defRPr>
            </a:lvl4pPr>
            <a:lvl5pPr>
              <a:buNone/>
              <a:defRPr sz="1950" b="0">
                <a:solidFill>
                  <a:srgbClr val="152B25"/>
                </a:solidFill>
                <a:latin typeface="Arial"/>
                <a:ea typeface="Arial"/>
                <a:cs typeface="Arial"/>
              </a:defRPr>
            </a:lvl5pPr>
            <a:lvl6pPr>
              <a:buNone/>
              <a:defRPr sz="1950" b="0">
                <a:solidFill>
                  <a:srgbClr val="152B25"/>
                </a:solidFill>
                <a:latin typeface="Arial"/>
                <a:ea typeface="Arial"/>
                <a:cs typeface="Arial"/>
              </a:defRPr>
            </a:lvl6pPr>
            <a:lvl7pPr>
              <a:buNone/>
              <a:defRPr sz="1950" b="0">
                <a:solidFill>
                  <a:srgbClr val="152B25"/>
                </a:solidFill>
                <a:latin typeface="Arial"/>
                <a:ea typeface="Arial"/>
                <a:cs typeface="Arial"/>
              </a:defRPr>
            </a:lvl7pPr>
            <a:lvl8pPr>
              <a:buNone/>
              <a:defRPr sz="1950" b="0">
                <a:solidFill>
                  <a:srgbClr val="152B25"/>
                </a:solidFill>
                <a:latin typeface="Arial"/>
                <a:ea typeface="Arial"/>
                <a:cs typeface="Arial"/>
              </a:defRPr>
            </a:lvl8pPr>
            <a:lvl9pPr>
              <a:buNone/>
              <a:defRPr sz="1950" b="0">
                <a:solidFill>
                  <a:srgbClr val="152B25"/>
                </a:solidFill>
                <a:latin typeface="Arial"/>
                <a:ea typeface="Arial"/>
                <a:cs typeface="Arial"/>
              </a:defRPr>
            </a:lvl9pPr>
          </a:lstStyle>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1200 × 1920 display</a:t>
            </a:r>
          </a:p>
          <a:p xmlns:a="http://schemas.openxmlformats.org/drawingml/2006/main">
            <a:pPr>
              <a:buNone/>
              <a:defRPr sz="1950" b="0">
                <a:solidFill>
                  <a:srgbClr val="152B25"/>
                </a:solidFill>
                <a:latin typeface="Arial"/>
                <a:ea typeface="Arial"/>
                <a:cs typeface="Arial"/>
              </a:defRPr>
            </a:pPr>
            <a:r>
              <a:rPr sz="1950" b="0">
                <a:solidFill>
                  <a:srgbClr val="152B25"/>
                </a:solidFill>
                <a:latin typeface="Arial"/>
                <a:ea typeface="Arial"/>
                <a:cs typeface="Arial"/>
              </a:rPr>
              <a:t>3 integration checks passed</a:t>
            </a:r>
          </a:p>
        </p:txBody>
      </p:sp>
      <p:sp>
        <p:nvSpPr>
          <p:cNvPr id="11" name="">
            <a:extLst xmlns:a="http://schemas.openxmlformats.org/drawingml/2006/main">
              <a:ext uri="{FF2B5EF4-FFF2-40B4-BE49-F238E27FC236}">
                <a16:creationId xmlns:a16="http://schemas.microsoft.com/office/drawing/2014/main" id="{830CE431-AFC6-423B-AA52-64340B42579E}"/>
              </a:ext>
            </a:extLst>
          </p:cNvPr>
          <p:cNvSpPr>
            <a:spLocks xmlns:a="http://schemas.openxmlformats.org/drawingml/2006/main" noGrp="1"/>
          </p:cNvSpPr>
          <p:nvPr/>
        </p:nvSpPr>
        <p:spPr>
          <a:xfrm xmlns:a="http://schemas.openxmlformats.org/drawingml/2006/main">
            <a:off x="6667500" y="5334000"/>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4B6259"/>
                </a:solidFill>
                <a:latin typeface="Arial"/>
                <a:ea typeface="Arial"/>
                <a:cs typeface="Arial"/>
              </a:defRPr>
            </a:defPPr>
            <a:lvl1pPr>
              <a:buNone/>
              <a:defRPr sz="1725" b="0">
                <a:solidFill>
                  <a:srgbClr val="4B6259"/>
                </a:solidFill>
                <a:latin typeface="Arial"/>
                <a:ea typeface="Arial"/>
                <a:cs typeface="Arial"/>
              </a:defRPr>
            </a:lvl1pPr>
            <a:lvl2pPr>
              <a:buNone/>
              <a:defRPr sz="1725" b="0">
                <a:solidFill>
                  <a:srgbClr val="4B6259"/>
                </a:solidFill>
                <a:latin typeface="Arial"/>
                <a:ea typeface="Arial"/>
                <a:cs typeface="Arial"/>
              </a:defRPr>
            </a:lvl2pPr>
            <a:lvl3pPr>
              <a:buNone/>
              <a:defRPr sz="1725" b="0">
                <a:solidFill>
                  <a:srgbClr val="4B6259"/>
                </a:solidFill>
                <a:latin typeface="Arial"/>
                <a:ea typeface="Arial"/>
                <a:cs typeface="Arial"/>
              </a:defRPr>
            </a:lvl3pPr>
            <a:lvl4pPr>
              <a:buNone/>
              <a:defRPr sz="1725" b="0">
                <a:solidFill>
                  <a:srgbClr val="4B6259"/>
                </a:solidFill>
                <a:latin typeface="Arial"/>
                <a:ea typeface="Arial"/>
                <a:cs typeface="Arial"/>
              </a:defRPr>
            </a:lvl4pPr>
            <a:lvl5pPr>
              <a:buNone/>
              <a:defRPr sz="1725" b="0">
                <a:solidFill>
                  <a:srgbClr val="4B6259"/>
                </a:solidFill>
                <a:latin typeface="Arial"/>
                <a:ea typeface="Arial"/>
                <a:cs typeface="Arial"/>
              </a:defRPr>
            </a:lvl5pPr>
            <a:lvl6pPr>
              <a:buNone/>
              <a:defRPr sz="1725" b="0">
                <a:solidFill>
                  <a:srgbClr val="4B6259"/>
                </a:solidFill>
                <a:latin typeface="Arial"/>
                <a:ea typeface="Arial"/>
                <a:cs typeface="Arial"/>
              </a:defRPr>
            </a:lvl6pPr>
            <a:lvl7pPr>
              <a:buNone/>
              <a:defRPr sz="1725" b="0">
                <a:solidFill>
                  <a:srgbClr val="4B6259"/>
                </a:solidFill>
                <a:latin typeface="Arial"/>
                <a:ea typeface="Arial"/>
                <a:cs typeface="Arial"/>
              </a:defRPr>
            </a:lvl7pPr>
            <a:lvl8pPr>
              <a:buNone/>
              <a:defRPr sz="1725" b="0">
                <a:solidFill>
                  <a:srgbClr val="4B6259"/>
                </a:solidFill>
                <a:latin typeface="Arial"/>
                <a:ea typeface="Arial"/>
                <a:cs typeface="Arial"/>
              </a:defRPr>
            </a:lvl8pPr>
            <a:lvl9pPr>
              <a:buNone/>
              <a:defRPr sz="1725" b="0">
                <a:solidFill>
                  <a:srgbClr val="4B6259"/>
                </a:solidFill>
                <a:latin typeface="Arial"/>
                <a:ea typeface="Arial"/>
                <a:cs typeface="Arial"/>
              </a:defRPr>
            </a:lvl9pPr>
          </a:lstStyle>
          <a:p xmlns:a="http://schemas.openxmlformats.org/drawingml/2006/main">
            <a:pPr>
              <a:buNone/>
              <a:defRPr sz="1725" b="0">
                <a:solidFill>
                  <a:srgbClr val="4B6259"/>
                </a:solidFill>
                <a:latin typeface="Arial"/>
                <a:ea typeface="Arial"/>
                <a:cs typeface="Arial"/>
              </a:defRPr>
            </a:pPr>
            <a:r>
              <a:rPr sz="1725" b="0">
                <a:solidFill>
                  <a:srgbClr val="4B6259"/>
                </a:solidFill>
                <a:latin typeface="Arial"/>
                <a:ea typeface="Arial"/>
                <a:cs typeface="Arial"/>
              </a:rPr>
              <a:t>Genuine release captures. Same Android API image. Fictional $4.50 purchase retained.</a:t>
            </a:r>
          </a:p>
        </p:txBody>
      </p:sp>
    </p:spTree>
    <p:extLst>
      <p:ext uri="{BB962C8B-B14F-4D97-AF65-F5344CB8AC3E}">
        <p14:creationId xmlns:p14="http://schemas.microsoft.com/office/powerpoint/2010/main" val="1752047104"/>
      </p:ext>
    </p:extLst>
  </p:cSld>
</p:sld>
</file>

<file path=ppt/slides/slide25.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1803F62-C2EB-4E5D-910F-0B58A799512E}"/>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Technical walkthrough</a:t>
            </a:r>
          </a:p>
        </p:txBody>
      </p:sp>
      <p:sp>
        <p:nvSpPr>
          <p:cNvPr id="2" name="">
            <a:extLst xmlns:a="http://schemas.openxmlformats.org/drawingml/2006/main">
              <a:ext uri="{FF2B5EF4-FFF2-40B4-BE49-F238E27FC236}">
                <a16:creationId xmlns:a16="http://schemas.microsoft.com/office/drawing/2014/main" id="{B374125D-E596-459B-A327-4F5DE84CDBF3}"/>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Integration, contribution and workflow</a:t>
            </a:r>
          </a:p>
        </p:txBody>
      </p:sp>
      <p:sp>
        <p:nvSpPr>
          <p:cNvPr id="3" name="">
            <a:extLst xmlns:a="http://schemas.openxmlformats.org/drawingml/2006/main">
              <a:ext uri="{FF2B5EF4-FFF2-40B4-BE49-F238E27FC236}">
                <a16:creationId xmlns:a16="http://schemas.microsoft.com/office/drawing/2014/main" id="{0A1C3553-AE6B-4D8B-8C04-2C78F8B04D4D}"/>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5648FE64-18F8-4092-831B-9444B000A8BF}"/>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224F3CE9-604A-412A-8E12-74D2BA8E0579}"/>
              </a:ext>
            </a:extLst>
          </p:cNvPr>
          <p:cNvSpPr>
            <a:spLocks xmlns:a="http://schemas.openxmlformats.org/drawingml/2006/main" noGrp="1"/>
          </p:cNvSpPr>
          <p:nvPr/>
        </p:nvSpPr>
        <p:spPr>
          <a:xfrm xmlns:a="http://schemas.openxmlformats.org/drawingml/2006/main">
            <a:off x="609600" y="1657350"/>
            <a:ext cx="6858000" cy="453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52B25"/>
                </a:solidFill>
                <a:latin typeface="Arial"/>
                <a:ea typeface="Arial"/>
                <a:cs typeface="Arial"/>
              </a:defRPr>
            </a:defPPr>
            <a:lvl1pPr>
              <a:buNone/>
              <a:defRPr sz="1800" b="0">
                <a:solidFill>
                  <a:srgbClr val="152B25"/>
                </a:solidFill>
                <a:latin typeface="Arial"/>
                <a:ea typeface="Arial"/>
                <a:cs typeface="Arial"/>
              </a:defRPr>
            </a:lvl1pPr>
            <a:lvl2pPr>
              <a:buNone/>
              <a:defRPr sz="1800" b="0">
                <a:solidFill>
                  <a:srgbClr val="152B25"/>
                </a:solidFill>
                <a:latin typeface="Arial"/>
                <a:ea typeface="Arial"/>
                <a:cs typeface="Arial"/>
              </a:defRPr>
            </a:lvl2pPr>
            <a:lvl3pPr>
              <a:buNone/>
              <a:defRPr sz="1800" b="0">
                <a:solidFill>
                  <a:srgbClr val="152B25"/>
                </a:solidFill>
                <a:latin typeface="Arial"/>
                <a:ea typeface="Arial"/>
                <a:cs typeface="Arial"/>
              </a:defRPr>
            </a:lvl3pPr>
            <a:lvl4pPr>
              <a:buNone/>
              <a:defRPr sz="1800" b="0">
                <a:solidFill>
                  <a:srgbClr val="152B25"/>
                </a:solidFill>
                <a:latin typeface="Arial"/>
                <a:ea typeface="Arial"/>
                <a:cs typeface="Arial"/>
              </a:defRPr>
            </a:lvl4pPr>
            <a:lvl5pPr>
              <a:buNone/>
              <a:defRPr sz="1800" b="0">
                <a:solidFill>
                  <a:srgbClr val="152B25"/>
                </a:solidFill>
                <a:latin typeface="Arial"/>
                <a:ea typeface="Arial"/>
                <a:cs typeface="Arial"/>
              </a:defRPr>
            </a:lvl5pPr>
            <a:lvl6pPr>
              <a:buNone/>
              <a:defRPr sz="1800" b="0">
                <a:solidFill>
                  <a:srgbClr val="152B25"/>
                </a:solidFill>
                <a:latin typeface="Arial"/>
                <a:ea typeface="Arial"/>
                <a:cs typeface="Arial"/>
              </a:defRPr>
            </a:lvl6pPr>
            <a:lvl7pPr>
              <a:buNone/>
              <a:defRPr sz="1800" b="0">
                <a:solidFill>
                  <a:srgbClr val="152B25"/>
                </a:solidFill>
                <a:latin typeface="Arial"/>
                <a:ea typeface="Arial"/>
                <a:cs typeface="Arial"/>
              </a:defRPr>
            </a:lvl7pPr>
            <a:lvl8pPr>
              <a:buNone/>
              <a:defRPr sz="1800" b="0">
                <a:solidFill>
                  <a:srgbClr val="152B25"/>
                </a:solidFill>
                <a:latin typeface="Arial"/>
                <a:ea typeface="Arial"/>
                <a:cs typeface="Arial"/>
              </a:defRPr>
            </a:lvl8pPr>
            <a:lvl9pPr>
              <a:buNone/>
              <a:defRPr sz="1800" b="0">
                <a:solidFill>
                  <a:srgbClr val="152B25"/>
                </a:solidFill>
                <a:latin typeface="Arial"/>
                <a:ea typeface="Arial"/>
                <a:cs typeface="Arial"/>
              </a:defRPr>
            </a:lvl9pPr>
          </a:lstStyle>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main integration task was connecting my original database and History foundation to Om's frontend and the child purchase model. The team adapted History actions to use PurchaseLog IDs, connected it to AppStore and checked that filters, totals and corrections reflected current saved records.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We preserved my original branch history and added History regression checks before merging. This creates a contribution trail and separates my original foundation from Om's frontend and integration focus.</a:t>
            </a:r>
          </a:p>
          <a:p xmlns:a="http://schemas.openxmlformats.org/drawingml/2006/main">
            <a:r>
              <a:t/>
            </a:r>
          </a:p>
          <a:p xmlns:a="http://schemas.openxmlformats.org/drawingml/2006/main">
            <a:pPr>
              <a:buNone/>
              <a:defRPr sz="1800" b="0">
                <a:solidFill>
                  <a:srgbClr val="152B25"/>
                </a:solidFill>
                <a:latin typeface="Arial"/>
                <a:ea typeface="Arial"/>
                <a:cs typeface="Arial"/>
              </a:defRPr>
            </a:pPr>
            <a:r>
              <a:rPr sz="1800" b="0">
                <a:solidFill>
                  <a:srgbClr val="152B25"/>
                </a:solidFill>
                <a:latin typeface="Arial"/>
                <a:ea typeface="Arial"/>
                <a:cs typeface="Arial"/>
              </a:rPr>
              <a:t>The preserved branch history, shared data ownership and focused regression tests connect both contributions into one working application. History totals, receipt actions and large-text behavior were checked after integration.</a:t>
            </a:r>
          </a:p>
        </p:txBody>
      </p:sp>
      <p:sp>
        <p:nvSpPr>
          <p:cNvPr id="6" name="">
            <a:extLst xmlns:a="http://schemas.openxmlformats.org/drawingml/2006/main">
              <a:ext uri="{FF2B5EF4-FFF2-40B4-BE49-F238E27FC236}">
                <a16:creationId xmlns:a16="http://schemas.microsoft.com/office/drawing/2014/main" id="{AAE0FBC4-F664-4A42-9268-B5B35A4D9C5A}"/>
              </a:ext>
            </a:extLst>
          </p:cNvPr>
          <p:cNvSpPr>
            <a:spLocks xmlns:a="http://schemas.openxmlformats.org/drawingml/2006/main" noGrp="1"/>
          </p:cNvSpPr>
          <p:nvPr/>
        </p:nvSpPr>
        <p:spPr>
          <a:xfrm xmlns:a="http://schemas.openxmlformats.org/drawingml/2006/main">
            <a:off x="7734300" y="17145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lib/screens/meal_history.dart</a:t>
            </a:r>
          </a:p>
        </p:txBody>
      </p:sp>
      <p:sp>
        <p:nvSpPr>
          <p:cNvPr id="7" name="">
            <a:extLst xmlns:a="http://schemas.openxmlformats.org/drawingml/2006/main">
              <a:ext uri="{FF2B5EF4-FFF2-40B4-BE49-F238E27FC236}">
                <a16:creationId xmlns:a16="http://schemas.microsoft.com/office/drawing/2014/main" id="{B245AB0F-D938-437B-B71F-A49970C97334}"/>
              </a:ext>
            </a:extLst>
          </p:cNvPr>
          <p:cNvSpPr>
            <a:spLocks xmlns:a="http://schemas.openxmlformats.org/drawingml/2006/main" noGrp="1"/>
          </p:cNvSpPr>
          <p:nvPr/>
        </p:nvSpPr>
        <p:spPr>
          <a:xfrm xmlns:a="http://schemas.openxmlformats.org/drawingml/2006/main">
            <a:off x="7734300" y="2305050"/>
            <a:ext cx="3905250" cy="1400175"/>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650" b="0">
                <a:solidFill>
                  <a:srgbClr val="E2F1E8"/>
                </a:solidFill>
                <a:latin typeface="Menlo"/>
                <a:ea typeface="Menlo"/>
                <a:cs typeface="Menlo"/>
              </a:defRPr>
            </a:defPPr>
            <a:lvl1pPr>
              <a:buNone/>
              <a:defRPr sz="1650" b="0">
                <a:solidFill>
                  <a:srgbClr val="E2F1E8"/>
                </a:solidFill>
                <a:latin typeface="Menlo"/>
                <a:ea typeface="Menlo"/>
                <a:cs typeface="Menlo"/>
              </a:defRPr>
            </a:lvl1pPr>
            <a:lvl2pPr>
              <a:buNone/>
              <a:defRPr sz="1650" b="0">
                <a:solidFill>
                  <a:srgbClr val="E2F1E8"/>
                </a:solidFill>
                <a:latin typeface="Menlo"/>
                <a:ea typeface="Menlo"/>
                <a:cs typeface="Menlo"/>
              </a:defRPr>
            </a:lvl2pPr>
            <a:lvl3pPr>
              <a:buNone/>
              <a:defRPr sz="1650" b="0">
                <a:solidFill>
                  <a:srgbClr val="E2F1E8"/>
                </a:solidFill>
                <a:latin typeface="Menlo"/>
                <a:ea typeface="Menlo"/>
                <a:cs typeface="Menlo"/>
              </a:defRPr>
            </a:lvl3pPr>
            <a:lvl4pPr>
              <a:buNone/>
              <a:defRPr sz="1650" b="0">
                <a:solidFill>
                  <a:srgbClr val="E2F1E8"/>
                </a:solidFill>
                <a:latin typeface="Menlo"/>
                <a:ea typeface="Menlo"/>
                <a:cs typeface="Menlo"/>
              </a:defRPr>
            </a:lvl4pPr>
            <a:lvl5pPr>
              <a:buNone/>
              <a:defRPr sz="1650" b="0">
                <a:solidFill>
                  <a:srgbClr val="E2F1E8"/>
                </a:solidFill>
                <a:latin typeface="Menlo"/>
                <a:ea typeface="Menlo"/>
                <a:cs typeface="Menlo"/>
              </a:defRPr>
            </a:lvl5pPr>
            <a:lvl6pPr>
              <a:buNone/>
              <a:defRPr sz="1650" b="0">
                <a:solidFill>
                  <a:srgbClr val="E2F1E8"/>
                </a:solidFill>
                <a:latin typeface="Menlo"/>
                <a:ea typeface="Menlo"/>
                <a:cs typeface="Menlo"/>
              </a:defRPr>
            </a:lvl6pPr>
            <a:lvl7pPr>
              <a:buNone/>
              <a:defRPr sz="1650" b="0">
                <a:solidFill>
                  <a:srgbClr val="E2F1E8"/>
                </a:solidFill>
                <a:latin typeface="Menlo"/>
                <a:ea typeface="Menlo"/>
                <a:cs typeface="Menlo"/>
              </a:defRPr>
            </a:lvl7pPr>
            <a:lvl8pPr>
              <a:buNone/>
              <a:defRPr sz="1650" b="0">
                <a:solidFill>
                  <a:srgbClr val="E2F1E8"/>
                </a:solidFill>
                <a:latin typeface="Menlo"/>
                <a:ea typeface="Menlo"/>
                <a:cs typeface="Menlo"/>
              </a:defRPr>
            </a:lvl8pPr>
            <a:lvl9pPr>
              <a:buNone/>
              <a:defRPr sz="1650" b="0">
                <a:solidFill>
                  <a:srgbClr val="E2F1E8"/>
                </a:solidFill>
                <a:latin typeface="Menlo"/>
                <a:ea typeface="Menlo"/>
                <a:cs typeface="Menlo"/>
              </a:defRPr>
            </a:lvl9pPr>
          </a:lstStyle>
          <a:p xmlns:a="http://schemas.openxmlformats.org/drawingml/2006/main">
            <a:pPr>
              <a:buNone/>
              <a:defRPr sz="1650" b="0">
                <a:solidFill>
                  <a:srgbClr val="E2F1E8"/>
                </a:solidFill>
                <a:latin typeface="Menlo"/>
                <a:ea typeface="Menlo"/>
                <a:cs typeface="Menlo"/>
              </a:defRPr>
            </a:pPr>
            <a:r>
              <a:rPr sz="1650" b="0">
                <a:solidFill>
                  <a:srgbClr val="B8ECD2"/>
                </a:solidFill>
                <a:latin typeface="Menlo"/>
                <a:ea typeface="Menlo"/>
                <a:cs typeface="Menlo"/>
              </a:rPr>
              <a:t>final</a:t>
            </a:r>
            <a:r>
              <a:rPr sz="1650" b="0">
                <a:solidFill>
                  <a:srgbClr val="E2F1E8"/>
                </a:solidFill>
                <a:latin typeface="Menlo"/>
                <a:ea typeface="Menlo"/>
                <a:cs typeface="Menlo"/>
              </a:rPr>
              <a:t> ValueChanged&lt;PurchaseLog&gt;</a:t>
            </a:r>
          </a:p>
          <a:p xmlns:a="http://schemas.openxmlformats.org/drawingml/2006/main">
            <a:pPr>
              <a:buNone/>
              <a:defRPr sz="1650" b="0">
                <a:solidFill>
                  <a:srgbClr val="E2F1E8"/>
                </a:solidFill>
                <a:latin typeface="Menlo"/>
                <a:ea typeface="Menlo"/>
                <a:cs typeface="Menlo"/>
              </a:defRPr>
            </a:pPr>
            <a:r>
              <a:rPr sz="1650" b="0">
                <a:solidFill>
                  <a:srgbClr val="E2F1E8"/>
                </a:solidFill>
                <a:latin typeface="Menlo"/>
                <a:ea typeface="Menlo"/>
                <a:cs typeface="Menlo"/>
              </a:rPr>
              <a:t>  onView, onEdit, onDelete;</a:t>
            </a:r>
          </a:p>
        </p:txBody>
      </p:sp>
      <p:sp>
        <p:nvSpPr>
          <p:cNvPr id="8" name="">
            <a:extLst xmlns:a="http://schemas.openxmlformats.org/drawingml/2006/main">
              <a:ext uri="{FF2B5EF4-FFF2-40B4-BE49-F238E27FC236}">
                <a16:creationId xmlns:a16="http://schemas.microsoft.com/office/drawing/2014/main" id="{AFA72739-36EB-4A8C-BFB3-32BBB1FBA78E}"/>
              </a:ext>
            </a:extLst>
          </p:cNvPr>
          <p:cNvSpPr>
            <a:spLocks xmlns:a="http://schemas.openxmlformats.org/drawingml/2006/main" noGrp="1"/>
          </p:cNvSpPr>
          <p:nvPr/>
        </p:nvSpPr>
        <p:spPr>
          <a:xfrm xmlns:a="http://schemas.openxmlformats.org/drawingml/2006/main">
            <a:off x="7810500" y="4286250"/>
            <a:ext cx="381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rPr>
              <a:t>History actions carry a PurchaseLog</a:t>
            </a:r>
          </a:p>
        </p:txBody>
      </p:sp>
      <p:sp>
        <p:nvSpPr>
          <p:cNvPr id="9" name="">
            <a:extLst xmlns:a="http://schemas.openxmlformats.org/drawingml/2006/main">
              <a:ext uri="{FF2B5EF4-FFF2-40B4-BE49-F238E27FC236}">
                <a16:creationId xmlns:a16="http://schemas.microsoft.com/office/drawing/2014/main" id="{02CC8C58-0E98-4CD0-9186-0977238A1F8E}"/>
              </a:ext>
            </a:extLst>
          </p:cNvPr>
          <p:cNvSpPr>
            <a:spLocks xmlns:a="http://schemas.openxmlformats.org/drawingml/2006/main" noGrp="1"/>
          </p:cNvSpPr>
          <p:nvPr/>
        </p:nvSpPr>
        <p:spPr>
          <a:xfrm xmlns:a="http://schemas.openxmlformats.org/drawingml/2006/main">
            <a:off x="7810500" y="5095875"/>
            <a:ext cx="381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4B6259"/>
                </a:solidFill>
                <a:latin typeface="Arial"/>
                <a:ea typeface="Arial"/>
                <a:cs typeface="Arial"/>
              </a:defRPr>
            </a:defPPr>
            <a:lvl1pPr>
              <a:buNone/>
              <a:defRPr sz="1800" b="0">
                <a:solidFill>
                  <a:srgbClr val="4B6259"/>
                </a:solidFill>
                <a:latin typeface="Arial"/>
                <a:ea typeface="Arial"/>
                <a:cs typeface="Arial"/>
              </a:defRPr>
            </a:lvl1pPr>
            <a:lvl2pPr>
              <a:buNone/>
              <a:defRPr sz="1800" b="0">
                <a:solidFill>
                  <a:srgbClr val="4B6259"/>
                </a:solidFill>
                <a:latin typeface="Arial"/>
                <a:ea typeface="Arial"/>
                <a:cs typeface="Arial"/>
              </a:defRPr>
            </a:lvl2pPr>
            <a:lvl3pPr>
              <a:buNone/>
              <a:defRPr sz="1800" b="0">
                <a:solidFill>
                  <a:srgbClr val="4B6259"/>
                </a:solidFill>
                <a:latin typeface="Arial"/>
                <a:ea typeface="Arial"/>
                <a:cs typeface="Arial"/>
              </a:defRPr>
            </a:lvl3pPr>
            <a:lvl4pPr>
              <a:buNone/>
              <a:defRPr sz="1800" b="0">
                <a:solidFill>
                  <a:srgbClr val="4B6259"/>
                </a:solidFill>
                <a:latin typeface="Arial"/>
                <a:ea typeface="Arial"/>
                <a:cs typeface="Arial"/>
              </a:defRPr>
            </a:lvl4pPr>
            <a:lvl5pPr>
              <a:buNone/>
              <a:defRPr sz="1800" b="0">
                <a:solidFill>
                  <a:srgbClr val="4B6259"/>
                </a:solidFill>
                <a:latin typeface="Arial"/>
                <a:ea typeface="Arial"/>
                <a:cs typeface="Arial"/>
              </a:defRPr>
            </a:lvl5pPr>
            <a:lvl6pPr>
              <a:buNone/>
              <a:defRPr sz="1800" b="0">
                <a:solidFill>
                  <a:srgbClr val="4B6259"/>
                </a:solidFill>
                <a:latin typeface="Arial"/>
                <a:ea typeface="Arial"/>
                <a:cs typeface="Arial"/>
              </a:defRPr>
            </a:lvl6pPr>
            <a:lvl7pPr>
              <a:buNone/>
              <a:defRPr sz="1800" b="0">
                <a:solidFill>
                  <a:srgbClr val="4B6259"/>
                </a:solidFill>
                <a:latin typeface="Arial"/>
                <a:ea typeface="Arial"/>
                <a:cs typeface="Arial"/>
              </a:defRPr>
            </a:lvl7pPr>
            <a:lvl8pPr>
              <a:buNone/>
              <a:defRPr sz="1800" b="0">
                <a:solidFill>
                  <a:srgbClr val="4B6259"/>
                </a:solidFill>
                <a:latin typeface="Arial"/>
                <a:ea typeface="Arial"/>
                <a:cs typeface="Arial"/>
              </a:defRPr>
            </a:lvl8pPr>
            <a:lvl9pPr>
              <a:buNone/>
              <a:defRPr sz="1800" b="0">
                <a:solidFill>
                  <a:srgbClr val="4B6259"/>
                </a:solidFill>
                <a:latin typeface="Arial"/>
                <a:ea typeface="Arial"/>
                <a:cs typeface="Arial"/>
              </a:defRPr>
            </a:lvl9pPr>
          </a:lstStyle>
          <a:p xmlns:a="http://schemas.openxmlformats.org/drawingml/2006/main">
            <a:pPr>
              <a:buNone/>
              <a:defRPr sz="1800" b="0">
                <a:solidFill>
                  <a:srgbClr val="4B6259"/>
                </a:solidFill>
                <a:latin typeface="Arial"/>
                <a:ea typeface="Arial"/>
                <a:cs typeface="Arial"/>
              </a:defRPr>
            </a:pPr>
            <a:r>
              <a:rPr sz="1800" b="0">
                <a:solidFill>
                  <a:srgbClr val="4B6259"/>
                </a:solidFill>
                <a:latin typeface="Arial"/>
                <a:ea typeface="Arial"/>
                <a:cs typeface="Arial"/>
              </a:rPr>
              <a:t>The parent handles navigation and destructive actions.</a:t>
            </a:r>
          </a:p>
        </p:txBody>
      </p:sp>
    </p:spTree>
    <p:extLst>
      <p:ext uri="{BB962C8B-B14F-4D97-AF65-F5344CB8AC3E}">
        <p14:creationId xmlns:p14="http://schemas.microsoft.com/office/powerpoint/2010/main" val="1611726632"/>
      </p:ext>
    </p:extLst>
  </p:cSld>
</p:sld>
</file>

<file path=ppt/slides/slide26.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B1174CC-D9A7-4DF8-995F-84C8B9CB7FD0}"/>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A.J. speaking: Future work</a:t>
            </a:r>
          </a:p>
        </p:txBody>
      </p:sp>
      <p:sp>
        <p:nvSpPr>
          <p:cNvPr id="2" name="">
            <a:extLst xmlns:a="http://schemas.openxmlformats.org/drawingml/2006/main">
              <a:ext uri="{FF2B5EF4-FFF2-40B4-BE49-F238E27FC236}">
                <a16:creationId xmlns:a16="http://schemas.microsoft.com/office/drawing/2014/main" id="{1E94AFBA-00C8-4B25-96B8-3220B750B0BD}"/>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vl1pPr>
              <a:buNone/>
              <a:defRPr sz="3150" b="1">
                <a:solidFill>
                  <a:srgbClr val="FFFFFF"/>
                </a:solidFill>
                <a:latin typeface="Arial"/>
                <a:ea typeface="Arial"/>
                <a:cs typeface="Arial"/>
              </a:defRPr>
            </a:lvl1pPr>
            <a:lvl2pPr>
              <a:buNone/>
              <a:defRPr sz="3150" b="1">
                <a:solidFill>
                  <a:srgbClr val="FFFFFF"/>
                </a:solidFill>
                <a:latin typeface="Arial"/>
                <a:ea typeface="Arial"/>
                <a:cs typeface="Arial"/>
              </a:defRPr>
            </a:lvl2pPr>
            <a:lvl3pPr>
              <a:buNone/>
              <a:defRPr sz="3150" b="1">
                <a:solidFill>
                  <a:srgbClr val="FFFFFF"/>
                </a:solidFill>
                <a:latin typeface="Arial"/>
                <a:ea typeface="Arial"/>
                <a:cs typeface="Arial"/>
              </a:defRPr>
            </a:lvl3pPr>
            <a:lvl4pPr>
              <a:buNone/>
              <a:defRPr sz="3150" b="1">
                <a:solidFill>
                  <a:srgbClr val="FFFFFF"/>
                </a:solidFill>
                <a:latin typeface="Arial"/>
                <a:ea typeface="Arial"/>
                <a:cs typeface="Arial"/>
              </a:defRPr>
            </a:lvl4pPr>
            <a:lvl5pPr>
              <a:buNone/>
              <a:defRPr sz="3150" b="1">
                <a:solidFill>
                  <a:srgbClr val="FFFFFF"/>
                </a:solidFill>
                <a:latin typeface="Arial"/>
                <a:ea typeface="Arial"/>
                <a:cs typeface="Arial"/>
              </a:defRPr>
            </a:lvl5pPr>
            <a:lvl6pPr>
              <a:buNone/>
              <a:defRPr sz="3150" b="1">
                <a:solidFill>
                  <a:srgbClr val="FFFFFF"/>
                </a:solidFill>
                <a:latin typeface="Arial"/>
                <a:ea typeface="Arial"/>
                <a:cs typeface="Arial"/>
              </a:defRPr>
            </a:lvl6pPr>
            <a:lvl7pPr>
              <a:buNone/>
              <a:defRPr sz="3150" b="1">
                <a:solidFill>
                  <a:srgbClr val="FFFFFF"/>
                </a:solidFill>
                <a:latin typeface="Arial"/>
                <a:ea typeface="Arial"/>
                <a:cs typeface="Arial"/>
              </a:defRPr>
            </a:lvl7pPr>
            <a:lvl8pPr>
              <a:buNone/>
              <a:defRPr sz="3150" b="1">
                <a:solidFill>
                  <a:srgbClr val="FFFFFF"/>
                </a:solidFill>
                <a:latin typeface="Arial"/>
                <a:ea typeface="Arial"/>
                <a:cs typeface="Arial"/>
              </a:defRPr>
            </a:lvl8pPr>
            <a:lvl9pPr>
              <a:buNone/>
              <a:defRPr sz="3150" b="1">
                <a:solidFill>
                  <a:srgbClr val="FFFFFF"/>
                </a:solidFill>
                <a:latin typeface="Arial"/>
                <a:ea typeface="Arial"/>
                <a:cs typeface="Arial"/>
              </a:defRPr>
            </a:lvl9pPr>
          </a:lstStyle>
          <a:p xmlns:a="http://schemas.openxmlformats.org/drawingml/2006/main">
            <a:pPr>
              <a:buNone/>
              <a:defRPr sz="3150" b="1">
                <a:solidFill>
                  <a:srgbClr val="FFFFFF"/>
                </a:solidFill>
                <a:latin typeface="Arial"/>
                <a:ea typeface="Arial"/>
                <a:cs typeface="Arial"/>
              </a:defRPr>
            </a:pPr>
            <a:r>
              <a:rPr sz="3150" b="1">
                <a:solidFill>
                  <a:srgbClr val="FFFFFF"/>
                </a:solidFill>
                <a:latin typeface="Arial"/>
                <a:ea typeface="Arial"/>
                <a:cs typeface="Arial"/>
              </a:rPr>
              <a:t>Future work</a:t>
            </a:r>
          </a:p>
        </p:txBody>
      </p:sp>
      <p:sp>
        <p:nvSpPr>
          <p:cNvPr id="3" name="">
            <a:extLst xmlns:a="http://schemas.openxmlformats.org/drawingml/2006/main">
              <a:ext uri="{FF2B5EF4-FFF2-40B4-BE49-F238E27FC236}">
                <a16:creationId xmlns:a16="http://schemas.microsoft.com/office/drawing/2014/main" id="{1B9F436A-2355-4704-AEB3-43C13FBE8FDE}"/>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F6B66C2E-BDA5-4309-809C-00C1CCFF70BB}"/>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4A05466E-DE20-4A75-BC0B-6FAC8ECD4AD7}"/>
              </a:ext>
            </a:extLst>
          </p:cNvPr>
          <p:cNvSpPr>
            <a:spLocks xmlns:a="http://schemas.openxmlformats.org/drawingml/2006/main" noGrp="1"/>
          </p:cNvSpPr>
          <p:nvPr/>
        </p:nvSpPr>
        <p:spPr>
          <a:xfrm xmlns:a="http://schemas.openxmlformats.org/drawingml/2006/main">
            <a:off x="666750" y="171450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Our first improvement would be a more robust cost comparison. We would test a median against the current mean and last-price baseline on new chronological cases. That would help us decide whether a change handles unusual purchases more usefully without hiding how the suggestion works.</a:t>
            </a:r>
          </a:p>
        </p:txBody>
      </p:sp>
      <p:sp>
        <p:nvSpPr>
          <p:cNvPr id="6" name="">
            <a:extLst xmlns:a="http://schemas.openxmlformats.org/drawingml/2006/main">
              <a:ext uri="{FF2B5EF4-FFF2-40B4-BE49-F238E27FC236}">
                <a16:creationId xmlns:a16="http://schemas.microsoft.com/office/drawing/2014/main" id="{566E82E9-2A1A-441C-9A1F-EB9C8D92C987}"/>
              </a:ext>
            </a:extLst>
          </p:cNvPr>
          <p:cNvSpPr>
            <a:spLocks xmlns:a="http://schemas.openxmlformats.org/drawingml/2006/main" noGrp="1"/>
          </p:cNvSpPr>
          <p:nvPr/>
        </p:nvSpPr>
        <p:spPr>
          <a:xfrm xmlns:a="http://schemas.openxmlformats.org/drawingml/2006/main">
            <a:off x="666750" y="3190875"/>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We would also test on physical devices and more Android versions and arrange independent peer tasks. Those observations could reveal navigation problems, unclear messages or accessibility issues that our current emulator checks do not cover. We would record the feedback and verify any resulting revision.</a:t>
            </a:r>
          </a:p>
        </p:txBody>
      </p:sp>
      <p:sp>
        <p:nvSpPr>
          <p:cNvPr id="7" name="">
            <a:extLst xmlns:a="http://schemas.openxmlformats.org/drawingml/2006/main">
              <a:ext uri="{FF2B5EF4-FFF2-40B4-BE49-F238E27FC236}">
                <a16:creationId xmlns:a16="http://schemas.microsoft.com/office/drawing/2014/main" id="{4E7F73D6-9983-44BA-9F13-B6781C6F182B}"/>
              </a:ext>
            </a:extLst>
          </p:cNvPr>
          <p:cNvSpPr>
            <a:spLocks xmlns:a="http://schemas.openxmlformats.org/drawingml/2006/main" noGrp="1"/>
          </p:cNvSpPr>
          <p:nvPr/>
        </p:nvSpPr>
        <p:spPr>
          <a:xfrm xmlns:a="http://schemas.openxmlformats.org/drawingml/2006/main">
            <a:off x="666750" y="4667250"/>
            <a:ext cx="10858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Arial"/>
                <a:ea typeface="Arial"/>
                <a:cs typeface="Arial"/>
              </a:defRPr>
            </a:defPPr>
            <a:lvl1pPr>
              <a:buNone/>
              <a:defRPr sz="1950" b="0">
                <a:solidFill>
                  <a:srgbClr val="FFFFFF"/>
                </a:solidFill>
                <a:latin typeface="Arial"/>
                <a:ea typeface="Arial"/>
                <a:cs typeface="Arial"/>
              </a:defRPr>
            </a:lvl1pPr>
            <a:lvl2pPr>
              <a:buNone/>
              <a:defRPr sz="1950" b="0">
                <a:solidFill>
                  <a:srgbClr val="FFFFFF"/>
                </a:solidFill>
                <a:latin typeface="Arial"/>
                <a:ea typeface="Arial"/>
                <a:cs typeface="Arial"/>
              </a:defRPr>
            </a:lvl2pPr>
            <a:lvl3pPr>
              <a:buNone/>
              <a:defRPr sz="1950" b="0">
                <a:solidFill>
                  <a:srgbClr val="FFFFFF"/>
                </a:solidFill>
                <a:latin typeface="Arial"/>
                <a:ea typeface="Arial"/>
                <a:cs typeface="Arial"/>
              </a:defRPr>
            </a:lvl3pPr>
            <a:lvl4pPr>
              <a:buNone/>
              <a:defRPr sz="1950" b="0">
                <a:solidFill>
                  <a:srgbClr val="FFFFFF"/>
                </a:solidFill>
                <a:latin typeface="Arial"/>
                <a:ea typeface="Arial"/>
                <a:cs typeface="Arial"/>
              </a:defRPr>
            </a:lvl4pPr>
            <a:lvl5pPr>
              <a:buNone/>
              <a:defRPr sz="1950" b="0">
                <a:solidFill>
                  <a:srgbClr val="FFFFFF"/>
                </a:solidFill>
                <a:latin typeface="Arial"/>
                <a:ea typeface="Arial"/>
                <a:cs typeface="Arial"/>
              </a:defRPr>
            </a:lvl5pPr>
            <a:lvl6pPr>
              <a:buNone/>
              <a:defRPr sz="1950" b="0">
                <a:solidFill>
                  <a:srgbClr val="FFFFFF"/>
                </a:solidFill>
                <a:latin typeface="Arial"/>
                <a:ea typeface="Arial"/>
                <a:cs typeface="Arial"/>
              </a:defRPr>
            </a:lvl6pPr>
            <a:lvl7pPr>
              <a:buNone/>
              <a:defRPr sz="1950" b="0">
                <a:solidFill>
                  <a:srgbClr val="FFFFFF"/>
                </a:solidFill>
                <a:latin typeface="Arial"/>
                <a:ea typeface="Arial"/>
                <a:cs typeface="Arial"/>
              </a:defRPr>
            </a:lvl7pPr>
            <a:lvl8pPr>
              <a:buNone/>
              <a:defRPr sz="1950" b="0">
                <a:solidFill>
                  <a:srgbClr val="FFFFFF"/>
                </a:solidFill>
                <a:latin typeface="Arial"/>
                <a:ea typeface="Arial"/>
                <a:cs typeface="Arial"/>
              </a:defRPr>
            </a:lvl8pPr>
            <a:lvl9pPr>
              <a:buNone/>
              <a:defRPr sz="1950" b="0">
                <a:solidFill>
                  <a:srgbClr val="FFFFFF"/>
                </a:solidFill>
                <a:latin typeface="Arial"/>
                <a:ea typeface="Arial"/>
                <a:cs typeface="Arial"/>
              </a:defRPr>
            </a:lvl9pPr>
          </a:lstStyle>
          <a:p xmlns:a="http://schemas.openxmlformats.org/drawingml/2006/main">
            <a:pPr>
              <a:buNone/>
              <a:defRPr sz="1950" b="0">
                <a:solidFill>
                  <a:srgbClr val="FFFFFF"/>
                </a:solidFill>
                <a:latin typeface="Arial"/>
                <a:ea typeface="Arial"/>
                <a:cs typeface="Arial"/>
              </a:defRPr>
            </a:pPr>
            <a:r>
              <a:rPr sz="1950" b="0">
                <a:solidFill>
                  <a:srgbClr val="FFFFFF"/>
                </a:solidFill>
                <a:latin typeface="Arial"/>
                <a:ea typeface="Arial"/>
                <a:cs typeface="Arial"/>
              </a:rPr>
              <a:t>Weekly summaries and a local CSV export could make personal spending easier to review while preserving offline use. These are proposed improvements beyond the current release.</a:t>
            </a:r>
          </a:p>
        </p:txBody>
      </p:sp>
    </p:spTree>
    <p:extLst>
      <p:ext uri="{BB962C8B-B14F-4D97-AF65-F5344CB8AC3E}">
        <p14:creationId xmlns:p14="http://schemas.microsoft.com/office/powerpoint/2010/main" val="594272098"/>
      </p:ext>
    </p:extLst>
  </p:cSld>
</p:sld>
</file>

<file path=ppt/slides/slide27.xml><?xml version="1.0" encoding="utf-8"?>
<p:sld xmlns:p="http://schemas.openxmlformats.org/presentationml/2006/main">
  <p:cSld>
    <p:bg>
      <p:bgPr>
        <a:solidFill xmlns:a="http://schemas.openxmlformats.org/drawingml/2006/main">
          <a:srgbClr val="F6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9D105E-8C92-4DB4-9304-AF0C1BB3C96E}"/>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176452"/>
                </a:solidFill>
                <a:latin typeface="Arial"/>
                <a:ea typeface="Arial"/>
                <a:cs typeface="Arial"/>
              </a:defRPr>
            </a:defPPr>
            <a:lvl1pPr>
              <a:buNone/>
              <a:defRPr sz="1500" b="1">
                <a:solidFill>
                  <a:srgbClr val="176452"/>
                </a:solidFill>
                <a:latin typeface="Arial"/>
                <a:ea typeface="Arial"/>
                <a:cs typeface="Arial"/>
              </a:defRPr>
            </a:lvl1pPr>
            <a:lvl2pPr>
              <a:buNone/>
              <a:defRPr sz="1500" b="1">
                <a:solidFill>
                  <a:srgbClr val="176452"/>
                </a:solidFill>
                <a:latin typeface="Arial"/>
                <a:ea typeface="Arial"/>
                <a:cs typeface="Arial"/>
              </a:defRPr>
            </a:lvl2pPr>
            <a:lvl3pPr>
              <a:buNone/>
              <a:defRPr sz="1500" b="1">
                <a:solidFill>
                  <a:srgbClr val="176452"/>
                </a:solidFill>
                <a:latin typeface="Arial"/>
                <a:ea typeface="Arial"/>
                <a:cs typeface="Arial"/>
              </a:defRPr>
            </a:lvl3pPr>
            <a:lvl4pPr>
              <a:buNone/>
              <a:defRPr sz="1500" b="1">
                <a:solidFill>
                  <a:srgbClr val="176452"/>
                </a:solidFill>
                <a:latin typeface="Arial"/>
                <a:ea typeface="Arial"/>
                <a:cs typeface="Arial"/>
              </a:defRPr>
            </a:lvl4pPr>
            <a:lvl5pPr>
              <a:buNone/>
              <a:defRPr sz="1500" b="1">
                <a:solidFill>
                  <a:srgbClr val="176452"/>
                </a:solidFill>
                <a:latin typeface="Arial"/>
                <a:ea typeface="Arial"/>
                <a:cs typeface="Arial"/>
              </a:defRPr>
            </a:lvl5pPr>
            <a:lvl6pPr>
              <a:buNone/>
              <a:defRPr sz="1500" b="1">
                <a:solidFill>
                  <a:srgbClr val="176452"/>
                </a:solidFill>
                <a:latin typeface="Arial"/>
                <a:ea typeface="Arial"/>
                <a:cs typeface="Arial"/>
              </a:defRPr>
            </a:lvl6pPr>
            <a:lvl7pPr>
              <a:buNone/>
              <a:defRPr sz="1500" b="1">
                <a:solidFill>
                  <a:srgbClr val="176452"/>
                </a:solidFill>
                <a:latin typeface="Arial"/>
                <a:ea typeface="Arial"/>
                <a:cs typeface="Arial"/>
              </a:defRPr>
            </a:lvl7pPr>
            <a:lvl8pPr>
              <a:buNone/>
              <a:defRPr sz="1500" b="1">
                <a:solidFill>
                  <a:srgbClr val="176452"/>
                </a:solidFill>
                <a:latin typeface="Arial"/>
                <a:ea typeface="Arial"/>
                <a:cs typeface="Arial"/>
              </a:defRPr>
            </a:lvl8pPr>
            <a:lvl9pPr>
              <a:buNone/>
              <a:defRPr sz="1500" b="1">
                <a:solidFill>
                  <a:srgbClr val="176452"/>
                </a:solidFill>
                <a:latin typeface="Arial"/>
                <a:ea typeface="Arial"/>
                <a:cs typeface="Arial"/>
              </a:defRPr>
            </a:lvl9pPr>
          </a:lstStyle>
          <a:p xmlns:a="http://schemas.openxmlformats.org/drawingml/2006/main">
            <a:pPr>
              <a:buNone/>
              <a:defRPr sz="1500" b="1">
                <a:solidFill>
                  <a:srgbClr val="176452"/>
                </a:solidFill>
                <a:latin typeface="Arial"/>
                <a:ea typeface="Arial"/>
                <a:cs typeface="Arial"/>
              </a:defRPr>
            </a:pPr>
            <a:r>
              <a:rPr sz="1500" b="1">
                <a:solidFill>
                  <a:srgbClr val="176452"/>
                </a:solidFill>
                <a:latin typeface="Arial"/>
                <a:ea typeface="Arial"/>
                <a:cs typeface="Arial"/>
              </a:rPr>
              <a:t>A.J. speaking: Repository and release</a:t>
            </a:r>
          </a:p>
        </p:txBody>
      </p:sp>
      <p:sp>
        <p:nvSpPr>
          <p:cNvPr id="2" name="">
            <a:extLst xmlns:a="http://schemas.openxmlformats.org/drawingml/2006/main">
              <a:ext uri="{FF2B5EF4-FFF2-40B4-BE49-F238E27FC236}">
                <a16:creationId xmlns:a16="http://schemas.microsoft.com/office/drawing/2014/main" id="{34B2571A-56E8-4011-BDFC-3E806A73EC99}"/>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52B25"/>
                </a:solidFill>
                <a:latin typeface="Arial"/>
                <a:ea typeface="Arial"/>
                <a:cs typeface="Arial"/>
              </a:defRPr>
            </a:defPPr>
            <a:lvl1pPr>
              <a:buNone/>
              <a:defRPr sz="3150" b="1">
                <a:solidFill>
                  <a:srgbClr val="152B25"/>
                </a:solidFill>
                <a:latin typeface="Arial"/>
                <a:ea typeface="Arial"/>
                <a:cs typeface="Arial"/>
              </a:defRPr>
            </a:lvl1pPr>
            <a:lvl2pPr>
              <a:buNone/>
              <a:defRPr sz="3150" b="1">
                <a:solidFill>
                  <a:srgbClr val="152B25"/>
                </a:solidFill>
                <a:latin typeface="Arial"/>
                <a:ea typeface="Arial"/>
                <a:cs typeface="Arial"/>
              </a:defRPr>
            </a:lvl2pPr>
            <a:lvl3pPr>
              <a:buNone/>
              <a:defRPr sz="3150" b="1">
                <a:solidFill>
                  <a:srgbClr val="152B25"/>
                </a:solidFill>
                <a:latin typeface="Arial"/>
                <a:ea typeface="Arial"/>
                <a:cs typeface="Arial"/>
              </a:defRPr>
            </a:lvl3pPr>
            <a:lvl4pPr>
              <a:buNone/>
              <a:defRPr sz="3150" b="1">
                <a:solidFill>
                  <a:srgbClr val="152B25"/>
                </a:solidFill>
                <a:latin typeface="Arial"/>
                <a:ea typeface="Arial"/>
                <a:cs typeface="Arial"/>
              </a:defRPr>
            </a:lvl4pPr>
            <a:lvl5pPr>
              <a:buNone/>
              <a:defRPr sz="3150" b="1">
                <a:solidFill>
                  <a:srgbClr val="152B25"/>
                </a:solidFill>
                <a:latin typeface="Arial"/>
                <a:ea typeface="Arial"/>
                <a:cs typeface="Arial"/>
              </a:defRPr>
            </a:lvl5pPr>
            <a:lvl6pPr>
              <a:buNone/>
              <a:defRPr sz="3150" b="1">
                <a:solidFill>
                  <a:srgbClr val="152B25"/>
                </a:solidFill>
                <a:latin typeface="Arial"/>
                <a:ea typeface="Arial"/>
                <a:cs typeface="Arial"/>
              </a:defRPr>
            </a:lvl6pPr>
            <a:lvl7pPr>
              <a:buNone/>
              <a:defRPr sz="3150" b="1">
                <a:solidFill>
                  <a:srgbClr val="152B25"/>
                </a:solidFill>
                <a:latin typeface="Arial"/>
                <a:ea typeface="Arial"/>
                <a:cs typeface="Arial"/>
              </a:defRPr>
            </a:lvl7pPr>
            <a:lvl8pPr>
              <a:buNone/>
              <a:defRPr sz="3150" b="1">
                <a:solidFill>
                  <a:srgbClr val="152B25"/>
                </a:solidFill>
                <a:latin typeface="Arial"/>
                <a:ea typeface="Arial"/>
                <a:cs typeface="Arial"/>
              </a:defRPr>
            </a:lvl8pPr>
            <a:lvl9pPr>
              <a:buNone/>
              <a:defRPr sz="3150" b="1">
                <a:solidFill>
                  <a:srgbClr val="152B25"/>
                </a:solidFill>
                <a:latin typeface="Arial"/>
                <a:ea typeface="Arial"/>
                <a:cs typeface="Arial"/>
              </a:defRPr>
            </a:lvl9pPr>
          </a:lstStyle>
          <a:p xmlns:a="http://schemas.openxmlformats.org/drawingml/2006/main">
            <a:pPr>
              <a:buNone/>
              <a:defRPr sz="3150" b="1">
                <a:solidFill>
                  <a:srgbClr val="152B25"/>
                </a:solidFill>
                <a:latin typeface="Arial"/>
                <a:ea typeface="Arial"/>
                <a:cs typeface="Arial"/>
              </a:defRPr>
            </a:pPr>
            <a:r>
              <a:rPr sz="3150" b="1">
                <a:solidFill>
                  <a:srgbClr val="152B25"/>
                </a:solidFill>
                <a:latin typeface="Arial"/>
                <a:ea typeface="Arial"/>
                <a:cs typeface="Arial"/>
              </a:rPr>
              <a:t>GitHub repository and release</a:t>
            </a:r>
          </a:p>
        </p:txBody>
      </p:sp>
      <p:sp>
        <p:nvSpPr>
          <p:cNvPr id="3" name="">
            <a:extLst xmlns:a="http://schemas.openxmlformats.org/drawingml/2006/main">
              <a:ext uri="{FF2B5EF4-FFF2-40B4-BE49-F238E27FC236}">
                <a16:creationId xmlns:a16="http://schemas.microsoft.com/office/drawing/2014/main" id="{342AE45E-EE3D-4CE4-907A-2BF06542BCB5}"/>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250B11A3-C29D-46CA-98CE-0AAF3FEB6EEA}"/>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B6259"/>
                </a:solidFill>
                <a:latin typeface="Arial"/>
                <a:ea typeface="Arial"/>
                <a:cs typeface="Arial"/>
              </a:defRPr>
            </a:defPPr>
            <a:lvl1pPr>
              <a:buNone/>
              <a:defRPr sz="1125" b="0">
                <a:solidFill>
                  <a:srgbClr val="4B6259"/>
                </a:solidFill>
                <a:latin typeface="Arial"/>
                <a:ea typeface="Arial"/>
                <a:cs typeface="Arial"/>
              </a:defRPr>
            </a:lvl1pPr>
            <a:lvl2pPr>
              <a:buNone/>
              <a:defRPr sz="1125" b="0">
                <a:solidFill>
                  <a:srgbClr val="4B6259"/>
                </a:solidFill>
                <a:latin typeface="Arial"/>
                <a:ea typeface="Arial"/>
                <a:cs typeface="Arial"/>
              </a:defRPr>
            </a:lvl2pPr>
            <a:lvl3pPr>
              <a:buNone/>
              <a:defRPr sz="1125" b="0">
                <a:solidFill>
                  <a:srgbClr val="4B6259"/>
                </a:solidFill>
                <a:latin typeface="Arial"/>
                <a:ea typeface="Arial"/>
                <a:cs typeface="Arial"/>
              </a:defRPr>
            </a:lvl3pPr>
            <a:lvl4pPr>
              <a:buNone/>
              <a:defRPr sz="1125" b="0">
                <a:solidFill>
                  <a:srgbClr val="4B6259"/>
                </a:solidFill>
                <a:latin typeface="Arial"/>
                <a:ea typeface="Arial"/>
                <a:cs typeface="Arial"/>
              </a:defRPr>
            </a:lvl4pPr>
            <a:lvl5pPr>
              <a:buNone/>
              <a:defRPr sz="1125" b="0">
                <a:solidFill>
                  <a:srgbClr val="4B6259"/>
                </a:solidFill>
                <a:latin typeface="Arial"/>
                <a:ea typeface="Arial"/>
                <a:cs typeface="Arial"/>
              </a:defRPr>
            </a:lvl5pPr>
            <a:lvl6pPr>
              <a:buNone/>
              <a:defRPr sz="1125" b="0">
                <a:solidFill>
                  <a:srgbClr val="4B6259"/>
                </a:solidFill>
                <a:latin typeface="Arial"/>
                <a:ea typeface="Arial"/>
                <a:cs typeface="Arial"/>
              </a:defRPr>
            </a:lvl6pPr>
            <a:lvl7pPr>
              <a:buNone/>
              <a:defRPr sz="1125" b="0">
                <a:solidFill>
                  <a:srgbClr val="4B6259"/>
                </a:solidFill>
                <a:latin typeface="Arial"/>
                <a:ea typeface="Arial"/>
                <a:cs typeface="Arial"/>
              </a:defRPr>
            </a:lvl7pPr>
            <a:lvl8pPr>
              <a:buNone/>
              <a:defRPr sz="1125" b="0">
                <a:solidFill>
                  <a:srgbClr val="4B6259"/>
                </a:solidFill>
                <a:latin typeface="Arial"/>
                <a:ea typeface="Arial"/>
                <a:cs typeface="Arial"/>
              </a:defRPr>
            </a:lvl8pPr>
            <a:lvl9pPr>
              <a:buNone/>
              <a:defRPr sz="1125" b="0">
                <a:solidFill>
                  <a:srgbClr val="4B6259"/>
                </a:solidFill>
                <a:latin typeface="Arial"/>
                <a:ea typeface="Arial"/>
                <a:cs typeface="Arial"/>
              </a:defRPr>
            </a:lvl9pPr>
          </a:lstStyle>
          <a:p xmlns:a="http://schemas.openxmlformats.org/drawingml/2006/main">
            <a:pPr>
              <a:buNone/>
              <a:defRPr sz="1125" b="0">
                <a:solidFill>
                  <a:srgbClr val="4B6259"/>
                </a:solidFill>
                <a:latin typeface="Arial"/>
                <a:ea typeface="Arial"/>
                <a:cs typeface="Arial"/>
              </a:defRPr>
            </a:pPr>
            <a:r>
              <a:rPr sz="1125" b="0">
                <a:solidFill>
                  <a:srgbClr val="4B6259"/>
                </a:solidFill>
                <a:latin typeface="Arial"/>
                <a:ea typeface="Arial"/>
                <a:cs typeface="Arial"/>
              </a:rPr>
              <a:t>27</a:t>
            </a:r>
          </a:p>
        </p:txBody>
      </p:sp>
      <p:sp>
        <p:nvSpPr>
          <p:cNvPr id="5" name="">
            <a:extLst xmlns:a="http://schemas.openxmlformats.org/drawingml/2006/main">
              <a:ext uri="{FF2B5EF4-FFF2-40B4-BE49-F238E27FC236}">
                <a16:creationId xmlns:a16="http://schemas.microsoft.com/office/drawing/2014/main" id="{C260EEE9-4378-4501-9CA3-425ED23D9181}"/>
              </a:ext>
            </a:extLst>
          </p:cNvPr>
          <p:cNvSpPr>
            <a:spLocks xmlns:a="http://schemas.openxmlformats.org/drawingml/2006/main" noGrp="1"/>
          </p:cNvSpPr>
          <p:nvPr/>
        </p:nvSpPr>
        <p:spPr>
          <a:xfrm xmlns:a="http://schemas.openxmlformats.org/drawingml/2006/main">
            <a:off x="609600" y="2190750"/>
            <a:ext cx="7000875"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63" b="0">
                <a:solidFill>
                  <a:srgbClr val="152B25"/>
                </a:solidFill>
                <a:latin typeface="Arial"/>
                <a:ea typeface="Arial"/>
                <a:cs typeface="Arial"/>
              </a:defRPr>
            </a:defPPr>
            <a:lvl1pPr>
              <a:buNone/>
              <a:defRPr sz="1763" b="0">
                <a:solidFill>
                  <a:srgbClr val="152B25"/>
                </a:solidFill>
                <a:latin typeface="Arial"/>
                <a:ea typeface="Arial"/>
                <a:cs typeface="Arial"/>
              </a:defRPr>
            </a:lvl1pPr>
            <a:lvl2pPr>
              <a:buNone/>
              <a:defRPr sz="1763" b="0">
                <a:solidFill>
                  <a:srgbClr val="152B25"/>
                </a:solidFill>
                <a:latin typeface="Arial"/>
                <a:ea typeface="Arial"/>
                <a:cs typeface="Arial"/>
              </a:defRPr>
            </a:lvl2pPr>
            <a:lvl3pPr>
              <a:buNone/>
              <a:defRPr sz="1763" b="0">
                <a:solidFill>
                  <a:srgbClr val="152B25"/>
                </a:solidFill>
                <a:latin typeface="Arial"/>
                <a:ea typeface="Arial"/>
                <a:cs typeface="Arial"/>
              </a:defRPr>
            </a:lvl3pPr>
            <a:lvl4pPr>
              <a:buNone/>
              <a:defRPr sz="1763" b="0">
                <a:solidFill>
                  <a:srgbClr val="152B25"/>
                </a:solidFill>
                <a:latin typeface="Arial"/>
                <a:ea typeface="Arial"/>
                <a:cs typeface="Arial"/>
              </a:defRPr>
            </a:lvl4pPr>
            <a:lvl5pPr>
              <a:buNone/>
              <a:defRPr sz="1763" b="0">
                <a:solidFill>
                  <a:srgbClr val="152B25"/>
                </a:solidFill>
                <a:latin typeface="Arial"/>
                <a:ea typeface="Arial"/>
                <a:cs typeface="Arial"/>
              </a:defRPr>
            </a:lvl5pPr>
            <a:lvl6pPr>
              <a:buNone/>
              <a:defRPr sz="1763" b="0">
                <a:solidFill>
                  <a:srgbClr val="152B25"/>
                </a:solidFill>
                <a:latin typeface="Arial"/>
                <a:ea typeface="Arial"/>
                <a:cs typeface="Arial"/>
              </a:defRPr>
            </a:lvl6pPr>
            <a:lvl7pPr>
              <a:buNone/>
              <a:defRPr sz="1763" b="0">
                <a:solidFill>
                  <a:srgbClr val="152B25"/>
                </a:solidFill>
                <a:latin typeface="Arial"/>
                <a:ea typeface="Arial"/>
                <a:cs typeface="Arial"/>
              </a:defRPr>
            </a:lvl7pPr>
            <a:lvl8pPr>
              <a:buNone/>
              <a:defRPr sz="1763" b="0">
                <a:solidFill>
                  <a:srgbClr val="152B25"/>
                </a:solidFill>
                <a:latin typeface="Arial"/>
                <a:ea typeface="Arial"/>
                <a:cs typeface="Arial"/>
              </a:defRPr>
            </a:lvl8pPr>
            <a:lvl9pPr>
              <a:buNone/>
              <a:defRPr sz="1763" b="0">
                <a:solidFill>
                  <a:srgbClr val="152B25"/>
                </a:solidFill>
                <a:latin typeface="Arial"/>
                <a:ea typeface="Arial"/>
                <a:cs typeface="Arial"/>
              </a:defRPr>
            </a:lvl9pPr>
          </a:lstStyle>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Our public GitHub repository contains the source and the evidence behind the application. The lib folder holds the screens, AppStore, SQLite boundary and domain rules. The test and integration_test folders contain checks at different levels, while docs and evidence explain the architecture and record actual results.</a:t>
            </a:r>
          </a:p>
          <a:p xmlns:a="http://schemas.openxmlformats.org/drawingml/2006/main">
            <a:r>
              <a:t/>
            </a:r>
          </a:p>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The commit history preserves my original database and History contributions and Om's integration work. The release page provides the Android APK for direct installation. GitHub supports development and delivery, while the application itself reads its records from local device storage.</a:t>
            </a:r>
          </a:p>
          <a:p xmlns:a="http://schemas.openxmlformats.org/drawingml/2006/main">
            <a:r>
              <a:t/>
            </a:r>
          </a:p>
          <a:p xmlns:a="http://schemas.openxmlformats.org/drawingml/2006/main">
            <a:pPr>
              <a:buNone/>
              <a:defRPr sz="1763" b="0">
                <a:solidFill>
                  <a:srgbClr val="152B25"/>
                </a:solidFill>
                <a:latin typeface="Arial"/>
                <a:ea typeface="Arial"/>
                <a:cs typeface="Arial"/>
              </a:defRPr>
            </a:pPr>
            <a:r>
              <a:rPr sz="1763" b="0">
                <a:solidFill>
                  <a:srgbClr val="152B25"/>
                </a:solidFill>
                <a:latin typeface="Arial"/>
                <a:ea typeface="Arial"/>
                <a:cs typeface="Arial"/>
              </a:rPr>
              <a:t>The README links setup instructions and project resources. The architecture and helper documents explain the decisions and evaluation, allowing reviewers to connect application behavior with the supporting evidence.</a:t>
            </a:r>
          </a:p>
        </p:txBody>
      </p:sp>
      <p:sp>
        <p:nvSpPr>
          <p:cNvPr id="6" name="">
            <a:extLst xmlns:a="http://schemas.openxmlformats.org/drawingml/2006/main">
              <a:ext uri="{FF2B5EF4-FFF2-40B4-BE49-F238E27FC236}">
                <a16:creationId xmlns:a16="http://schemas.microsoft.com/office/drawing/2014/main" id="{7A7513A0-7935-49AF-8706-93929701BAAE}"/>
              </a:ext>
            </a:extLst>
          </p:cNvPr>
          <p:cNvSpPr>
            <a:spLocks xmlns:a="http://schemas.openxmlformats.org/drawingml/2006/main" noGrp="1"/>
          </p:cNvSpPr>
          <p:nvPr/>
        </p:nvSpPr>
        <p:spPr>
          <a:xfrm xmlns:a="http://schemas.openxmlformats.org/drawingml/2006/main">
            <a:off x="666750" y="15525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76452"/>
                </a:solidFill>
                <a:latin typeface="Arial"/>
                <a:ea typeface="Arial"/>
                <a:cs typeface="Arial"/>
              </a:defRPr>
            </a:defPPr>
            <a:lvl1pPr>
              <a:buNone/>
              <a:defRPr sz="1800" b="1">
                <a:solidFill>
                  <a:srgbClr val="176452"/>
                </a:solidFill>
                <a:latin typeface="Arial"/>
                <a:ea typeface="Arial"/>
                <a:cs typeface="Arial"/>
              </a:defRPr>
            </a:lvl1pPr>
            <a:lvl2pPr>
              <a:buNone/>
              <a:defRPr sz="1800" b="1">
                <a:solidFill>
                  <a:srgbClr val="176452"/>
                </a:solidFill>
                <a:latin typeface="Arial"/>
                <a:ea typeface="Arial"/>
                <a:cs typeface="Arial"/>
              </a:defRPr>
            </a:lvl2pPr>
            <a:lvl3pPr>
              <a:buNone/>
              <a:defRPr sz="1800" b="1">
                <a:solidFill>
                  <a:srgbClr val="176452"/>
                </a:solidFill>
                <a:latin typeface="Arial"/>
                <a:ea typeface="Arial"/>
                <a:cs typeface="Arial"/>
              </a:defRPr>
            </a:lvl3pPr>
            <a:lvl4pPr>
              <a:buNone/>
              <a:defRPr sz="1800" b="1">
                <a:solidFill>
                  <a:srgbClr val="176452"/>
                </a:solidFill>
                <a:latin typeface="Arial"/>
                <a:ea typeface="Arial"/>
                <a:cs typeface="Arial"/>
              </a:defRPr>
            </a:lvl4pPr>
            <a:lvl5pPr>
              <a:buNone/>
              <a:defRPr sz="1800" b="1">
                <a:solidFill>
                  <a:srgbClr val="176452"/>
                </a:solidFill>
                <a:latin typeface="Arial"/>
                <a:ea typeface="Arial"/>
                <a:cs typeface="Arial"/>
              </a:defRPr>
            </a:lvl5pPr>
            <a:lvl6pPr>
              <a:buNone/>
              <a:defRPr sz="1800" b="1">
                <a:solidFill>
                  <a:srgbClr val="176452"/>
                </a:solidFill>
                <a:latin typeface="Arial"/>
                <a:ea typeface="Arial"/>
                <a:cs typeface="Arial"/>
              </a:defRPr>
            </a:lvl6pPr>
            <a:lvl7pPr>
              <a:buNone/>
              <a:defRPr sz="1800" b="1">
                <a:solidFill>
                  <a:srgbClr val="176452"/>
                </a:solidFill>
                <a:latin typeface="Arial"/>
                <a:ea typeface="Arial"/>
                <a:cs typeface="Arial"/>
              </a:defRPr>
            </a:lvl7pPr>
            <a:lvl8pPr>
              <a:buNone/>
              <a:defRPr sz="1800" b="1">
                <a:solidFill>
                  <a:srgbClr val="176452"/>
                </a:solidFill>
                <a:latin typeface="Arial"/>
                <a:ea typeface="Arial"/>
                <a:cs typeface="Arial"/>
              </a:defRPr>
            </a:lvl8pPr>
            <a:lvl9pPr>
              <a:buNone/>
              <a:defRPr sz="1800" b="1">
                <a:solidFill>
                  <a:srgbClr val="176452"/>
                </a:solidFill>
                <a:latin typeface="Arial"/>
                <a:ea typeface="Arial"/>
                <a:cs typeface="Arial"/>
              </a:defRPr>
            </a:lvl9pPr>
          </a:lstStyle>
          <a:p xmlns:a="http://schemas.openxmlformats.org/drawingml/2006/main">
            <a:pPr>
              <a:buNone/>
              <a:defRPr sz="1800" b="1">
                <a:solidFill>
                  <a:srgbClr val="176452"/>
                </a:solidFill>
                <a:latin typeface="Arial"/>
                <a:ea typeface="Arial"/>
                <a:cs typeface="Arial"/>
              </a:defRPr>
            </a:pPr>
            <a:r>
              <a:rPr sz="1800" b="1">
                <a:solidFill>
                  <a:srgbClr val="176452"/>
                </a:solidFill>
                <a:latin typeface="Arial"/>
                <a:ea typeface="Arial"/>
                <a:cs typeface="Arial"/>
                <a:hlinkClick xmlns:r="http://schemas.openxmlformats.org/officeDocument/2006/relationships" r:id="R87f70dd3ea75477e"/>
              </a:rPr>
              <a:t>https://github.com/Omswaroopreddyudumula/ajxom-budget-bites</a:t>
            </a:r>
          </a:p>
        </p:txBody>
      </p:sp>
      <p:sp>
        <p:nvSpPr>
          <p:cNvPr id="7" name="">
            <a:extLst xmlns:a="http://schemas.openxmlformats.org/drawingml/2006/main">
              <a:ext uri="{FF2B5EF4-FFF2-40B4-BE49-F238E27FC236}">
                <a16:creationId xmlns:a16="http://schemas.microsoft.com/office/drawing/2014/main" id="{2EEAF680-424E-4B24-B239-7A68E3AD213B}"/>
              </a:ext>
            </a:extLst>
          </p:cNvPr>
          <p:cNvSpPr>
            <a:spLocks xmlns:a="http://schemas.openxmlformats.org/drawingml/2006/main" noGrp="1"/>
          </p:cNvSpPr>
          <p:nvPr/>
        </p:nvSpPr>
        <p:spPr>
          <a:xfrm xmlns:a="http://schemas.openxmlformats.org/drawingml/2006/main">
            <a:off x="8143875" y="2028825"/>
            <a:ext cx="3381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4B6259"/>
                </a:solidFill>
                <a:latin typeface="Arial"/>
                <a:ea typeface="Arial"/>
                <a:cs typeface="Arial"/>
              </a:defRPr>
            </a:defPPr>
            <a:lvl1pPr>
              <a:buNone/>
              <a:defRPr sz="1425" b="1">
                <a:solidFill>
                  <a:srgbClr val="4B6259"/>
                </a:solidFill>
                <a:latin typeface="Arial"/>
                <a:ea typeface="Arial"/>
                <a:cs typeface="Arial"/>
              </a:defRPr>
            </a:lvl1pPr>
            <a:lvl2pPr>
              <a:buNone/>
              <a:defRPr sz="1425" b="1">
                <a:solidFill>
                  <a:srgbClr val="4B6259"/>
                </a:solidFill>
                <a:latin typeface="Arial"/>
                <a:ea typeface="Arial"/>
                <a:cs typeface="Arial"/>
              </a:defRPr>
            </a:lvl2pPr>
            <a:lvl3pPr>
              <a:buNone/>
              <a:defRPr sz="1425" b="1">
                <a:solidFill>
                  <a:srgbClr val="4B6259"/>
                </a:solidFill>
                <a:latin typeface="Arial"/>
                <a:ea typeface="Arial"/>
                <a:cs typeface="Arial"/>
              </a:defRPr>
            </a:lvl3pPr>
            <a:lvl4pPr>
              <a:buNone/>
              <a:defRPr sz="1425" b="1">
                <a:solidFill>
                  <a:srgbClr val="4B6259"/>
                </a:solidFill>
                <a:latin typeface="Arial"/>
                <a:ea typeface="Arial"/>
                <a:cs typeface="Arial"/>
              </a:defRPr>
            </a:lvl4pPr>
            <a:lvl5pPr>
              <a:buNone/>
              <a:defRPr sz="1425" b="1">
                <a:solidFill>
                  <a:srgbClr val="4B6259"/>
                </a:solidFill>
                <a:latin typeface="Arial"/>
                <a:ea typeface="Arial"/>
                <a:cs typeface="Arial"/>
              </a:defRPr>
            </a:lvl5pPr>
            <a:lvl6pPr>
              <a:buNone/>
              <a:defRPr sz="1425" b="1">
                <a:solidFill>
                  <a:srgbClr val="4B6259"/>
                </a:solidFill>
                <a:latin typeface="Arial"/>
                <a:ea typeface="Arial"/>
                <a:cs typeface="Arial"/>
              </a:defRPr>
            </a:lvl6pPr>
            <a:lvl7pPr>
              <a:buNone/>
              <a:defRPr sz="1425" b="1">
                <a:solidFill>
                  <a:srgbClr val="4B6259"/>
                </a:solidFill>
                <a:latin typeface="Arial"/>
                <a:ea typeface="Arial"/>
                <a:cs typeface="Arial"/>
              </a:defRPr>
            </a:lvl7pPr>
            <a:lvl8pPr>
              <a:buNone/>
              <a:defRPr sz="1425" b="1">
                <a:solidFill>
                  <a:srgbClr val="4B6259"/>
                </a:solidFill>
                <a:latin typeface="Arial"/>
                <a:ea typeface="Arial"/>
                <a:cs typeface="Arial"/>
              </a:defRPr>
            </a:lvl8pPr>
            <a:lvl9pPr>
              <a:buNone/>
              <a:defRPr sz="1425" b="1">
                <a:solidFill>
                  <a:srgbClr val="4B6259"/>
                </a:solidFill>
                <a:latin typeface="Arial"/>
                <a:ea typeface="Arial"/>
                <a:cs typeface="Arial"/>
              </a:defRPr>
            </a:lvl9pPr>
          </a:lstStyle>
          <a:p xmlns:a="http://schemas.openxmlformats.org/drawingml/2006/main">
            <a:pPr>
              <a:buNone/>
              <a:defRPr sz="1425" b="1">
                <a:solidFill>
                  <a:srgbClr val="4B6259"/>
                </a:solidFill>
                <a:latin typeface="Arial"/>
                <a:ea typeface="Arial"/>
                <a:cs typeface="Arial"/>
              </a:defRPr>
            </a:pPr>
            <a:r>
              <a:rPr sz="1425" b="1">
                <a:solidFill>
                  <a:srgbClr val="4B6259"/>
                </a:solidFill>
                <a:latin typeface="Arial"/>
                <a:ea typeface="Arial"/>
                <a:cs typeface="Arial"/>
              </a:rPr>
              <a:t>Repository map</a:t>
            </a:r>
          </a:p>
        </p:txBody>
      </p:sp>
      <p:sp>
        <p:nvSpPr>
          <p:cNvPr id="8" name="">
            <a:extLst xmlns:a="http://schemas.openxmlformats.org/drawingml/2006/main">
              <a:ext uri="{FF2B5EF4-FFF2-40B4-BE49-F238E27FC236}">
                <a16:creationId xmlns:a16="http://schemas.microsoft.com/office/drawing/2014/main" id="{8BC5C265-8225-4B56-B93C-3D3306071B3C}"/>
              </a:ext>
            </a:extLst>
          </p:cNvPr>
          <p:cNvSpPr>
            <a:spLocks xmlns:a="http://schemas.openxmlformats.org/drawingml/2006/main" noGrp="1"/>
          </p:cNvSpPr>
          <p:nvPr/>
        </p:nvSpPr>
        <p:spPr>
          <a:xfrm xmlns:a="http://schemas.openxmlformats.org/drawingml/2006/main">
            <a:off x="8143875" y="2619375"/>
            <a:ext cx="3381375" cy="3238500"/>
          </a:xfrm>
          <a:prstGeom xmlns:a="http://schemas.openxmlformats.org/drawingml/2006/main" prst="rect">
            <a:avLst/>
          </a:prstGeom>
          <a:solidFill xmlns:a="http://schemas.openxmlformats.org/drawingml/2006/main">
            <a:srgbClr val="12392F"/>
          </a:solidFill>
          <a:ln xmlns:a="http://schemas.openxmlformats.org/drawingml/2006/main" w="0">
            <a:noFill/>
          </a:ln>
        </p:spPr>
        <p:txBody>
          <a:bodyPr xmlns:a="http://schemas.openxmlformats.org/drawingml/2006/main" lIns="171450" tIns="171450" rIns="171450" bIns="171450"/>
          <a:lstStyle xmlns:a="http://schemas.openxmlformats.org/drawingml/2006/main">
            <a:defPPr>
              <a:defRPr sz="1800" b="0">
                <a:solidFill>
                  <a:srgbClr val="E2F1E8"/>
                </a:solidFill>
                <a:latin typeface="Menlo"/>
                <a:ea typeface="Menlo"/>
                <a:cs typeface="Menlo"/>
              </a:defRPr>
            </a:defPPr>
            <a:lvl1pPr>
              <a:buNone/>
              <a:defRPr sz="1800" b="0">
                <a:solidFill>
                  <a:srgbClr val="E2F1E8"/>
                </a:solidFill>
                <a:latin typeface="Menlo"/>
                <a:ea typeface="Menlo"/>
                <a:cs typeface="Menlo"/>
              </a:defRPr>
            </a:lvl1pPr>
            <a:lvl2pPr>
              <a:buNone/>
              <a:defRPr sz="1800" b="0">
                <a:solidFill>
                  <a:srgbClr val="E2F1E8"/>
                </a:solidFill>
                <a:latin typeface="Menlo"/>
                <a:ea typeface="Menlo"/>
                <a:cs typeface="Menlo"/>
              </a:defRPr>
            </a:lvl2pPr>
            <a:lvl3pPr>
              <a:buNone/>
              <a:defRPr sz="1800" b="0">
                <a:solidFill>
                  <a:srgbClr val="E2F1E8"/>
                </a:solidFill>
                <a:latin typeface="Menlo"/>
                <a:ea typeface="Menlo"/>
                <a:cs typeface="Menlo"/>
              </a:defRPr>
            </a:lvl3pPr>
            <a:lvl4pPr>
              <a:buNone/>
              <a:defRPr sz="1800" b="0">
                <a:solidFill>
                  <a:srgbClr val="E2F1E8"/>
                </a:solidFill>
                <a:latin typeface="Menlo"/>
                <a:ea typeface="Menlo"/>
                <a:cs typeface="Menlo"/>
              </a:defRPr>
            </a:lvl4pPr>
            <a:lvl5pPr>
              <a:buNone/>
              <a:defRPr sz="1800" b="0">
                <a:solidFill>
                  <a:srgbClr val="E2F1E8"/>
                </a:solidFill>
                <a:latin typeface="Menlo"/>
                <a:ea typeface="Menlo"/>
                <a:cs typeface="Menlo"/>
              </a:defRPr>
            </a:lvl5pPr>
            <a:lvl6pPr>
              <a:buNone/>
              <a:defRPr sz="1800" b="0">
                <a:solidFill>
                  <a:srgbClr val="E2F1E8"/>
                </a:solidFill>
                <a:latin typeface="Menlo"/>
                <a:ea typeface="Menlo"/>
                <a:cs typeface="Menlo"/>
              </a:defRPr>
            </a:lvl6pPr>
            <a:lvl7pPr>
              <a:buNone/>
              <a:defRPr sz="1800" b="0">
                <a:solidFill>
                  <a:srgbClr val="E2F1E8"/>
                </a:solidFill>
                <a:latin typeface="Menlo"/>
                <a:ea typeface="Menlo"/>
                <a:cs typeface="Menlo"/>
              </a:defRPr>
            </a:lvl7pPr>
            <a:lvl8pPr>
              <a:buNone/>
              <a:defRPr sz="1800" b="0">
                <a:solidFill>
                  <a:srgbClr val="E2F1E8"/>
                </a:solidFill>
                <a:latin typeface="Menlo"/>
                <a:ea typeface="Menlo"/>
                <a:cs typeface="Menlo"/>
              </a:defRPr>
            </a:lvl8pPr>
            <a:lvl9pPr>
              <a:buNone/>
              <a:defRPr sz="1800" b="0">
                <a:solidFill>
                  <a:srgbClr val="E2F1E8"/>
                </a:solidFill>
                <a:latin typeface="Menlo"/>
                <a:ea typeface="Menlo"/>
                <a:cs typeface="Menlo"/>
              </a:defRPr>
            </a:lvl9pPr>
          </a:lstStyle>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lib/</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screens/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state/</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data/</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  domain/</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test/</a:t>
            </a:r>
          </a:p>
          <a:p xmlns:a="http://schemas.openxmlformats.org/drawingml/2006/main">
            <a:pPr>
              <a:buNone/>
              <a:defRPr sz="1800" b="0">
                <a:solidFill>
                  <a:srgbClr val="E2F1E8"/>
                </a:solidFill>
                <a:latin typeface="Menlo"/>
                <a:ea typeface="Menlo"/>
                <a:cs typeface="Menlo"/>
              </a:defRPr>
            </a:pPr>
            <a:r>
              <a:rPr sz="1800" b="0">
                <a:solidFill>
                  <a:srgbClr val="B8ECD2"/>
                </a:solidFill>
                <a:latin typeface="Menlo"/>
                <a:ea typeface="Menlo"/>
                <a:cs typeface="Menlo"/>
              </a:rPr>
              <a:t>int</a:t>
            </a:r>
            <a:r>
              <a:rPr sz="1800" b="0">
                <a:solidFill>
                  <a:srgbClr val="E2F1E8"/>
                </a:solidFill>
                <a:latin typeface="Menlo"/>
                <a:ea typeface="Menlo"/>
                <a:cs typeface="Menlo"/>
              </a:rPr>
              <a:t>egration_test/</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docs/</a:t>
            </a:r>
          </a:p>
          <a:p xmlns:a="http://schemas.openxmlformats.org/drawingml/2006/main">
            <a:pPr>
              <a:buNone/>
              <a:defRPr sz="1800" b="0">
                <a:solidFill>
                  <a:srgbClr val="E2F1E8"/>
                </a:solidFill>
                <a:latin typeface="Menlo"/>
                <a:ea typeface="Menlo"/>
                <a:cs typeface="Menlo"/>
              </a:defRPr>
            </a:pPr>
            <a:r>
              <a:rPr sz="1800" b="0">
                <a:solidFill>
                  <a:srgbClr val="E2F1E8"/>
                </a:solidFill>
                <a:latin typeface="Menlo"/>
                <a:ea typeface="Menlo"/>
                <a:cs typeface="Menlo"/>
              </a:rPr>
              <a:t>evidence/</a:t>
            </a:r>
          </a:p>
        </p:txBody>
      </p:sp>
    </p:spTree>
    <p:extLst>
      <p:ext uri="{BB962C8B-B14F-4D97-AF65-F5344CB8AC3E}">
        <p14:creationId xmlns:p14="http://schemas.microsoft.com/office/powerpoint/2010/main" val="371652266"/>
      </p:ext>
    </p:extLst>
  </p:cSld>
</p:sld>
</file>

<file path=ppt/slides/slide28.xml><?xml version="1.0" encoding="utf-8"?>
<p:sld xmlns:p="http://schemas.openxmlformats.org/presentationml/2006/main">
  <p:cSld>
    <p:bg>
      <p:bgPr>
        <a:solidFill xmlns:a="http://schemas.openxmlformats.org/drawingml/2006/main">
          <a:srgbClr val="12392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1F1206-D8B9-4F25-9CA0-811767221948}"/>
              </a:ext>
            </a:extLst>
          </p:cNvPr>
          <p:cNvSpPr>
            <a:spLocks xmlns:a="http://schemas.openxmlformats.org/drawingml/2006/main" noGrp="1"/>
          </p:cNvSpPr>
          <p:nvPr/>
        </p:nvSpPr>
        <p:spPr>
          <a:xfrm xmlns:a="http://schemas.openxmlformats.org/drawingml/2006/main">
            <a:off x="666750" y="238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8ECD2"/>
                </a:solidFill>
                <a:latin typeface="Arial"/>
                <a:ea typeface="Arial"/>
                <a:cs typeface="Arial"/>
              </a:defRPr>
            </a:defPPr>
            <a:lvl1pPr>
              <a:buNone/>
              <a:defRPr sz="1500" b="1">
                <a:solidFill>
                  <a:srgbClr val="B8ECD2"/>
                </a:solidFill>
                <a:latin typeface="Arial"/>
                <a:ea typeface="Arial"/>
                <a:cs typeface="Arial"/>
              </a:defRPr>
            </a:lvl1pPr>
            <a:lvl2pPr>
              <a:buNone/>
              <a:defRPr sz="1500" b="1">
                <a:solidFill>
                  <a:srgbClr val="B8ECD2"/>
                </a:solidFill>
                <a:latin typeface="Arial"/>
                <a:ea typeface="Arial"/>
                <a:cs typeface="Arial"/>
              </a:defRPr>
            </a:lvl2pPr>
            <a:lvl3pPr>
              <a:buNone/>
              <a:defRPr sz="1500" b="1">
                <a:solidFill>
                  <a:srgbClr val="B8ECD2"/>
                </a:solidFill>
                <a:latin typeface="Arial"/>
                <a:ea typeface="Arial"/>
                <a:cs typeface="Arial"/>
              </a:defRPr>
            </a:lvl3pPr>
            <a:lvl4pPr>
              <a:buNone/>
              <a:defRPr sz="1500" b="1">
                <a:solidFill>
                  <a:srgbClr val="B8ECD2"/>
                </a:solidFill>
                <a:latin typeface="Arial"/>
                <a:ea typeface="Arial"/>
                <a:cs typeface="Arial"/>
              </a:defRPr>
            </a:lvl4pPr>
            <a:lvl5pPr>
              <a:buNone/>
              <a:defRPr sz="1500" b="1">
                <a:solidFill>
                  <a:srgbClr val="B8ECD2"/>
                </a:solidFill>
                <a:latin typeface="Arial"/>
                <a:ea typeface="Arial"/>
                <a:cs typeface="Arial"/>
              </a:defRPr>
            </a:lvl5pPr>
            <a:lvl6pPr>
              <a:buNone/>
              <a:defRPr sz="1500" b="1">
                <a:solidFill>
                  <a:srgbClr val="B8ECD2"/>
                </a:solidFill>
                <a:latin typeface="Arial"/>
                <a:ea typeface="Arial"/>
                <a:cs typeface="Arial"/>
              </a:defRPr>
            </a:lvl6pPr>
            <a:lvl7pPr>
              <a:buNone/>
              <a:defRPr sz="1500" b="1">
                <a:solidFill>
                  <a:srgbClr val="B8ECD2"/>
                </a:solidFill>
                <a:latin typeface="Arial"/>
                <a:ea typeface="Arial"/>
                <a:cs typeface="Arial"/>
              </a:defRPr>
            </a:lvl7pPr>
            <a:lvl8pPr>
              <a:buNone/>
              <a:defRPr sz="1500" b="1">
                <a:solidFill>
                  <a:srgbClr val="B8ECD2"/>
                </a:solidFill>
                <a:latin typeface="Arial"/>
                <a:ea typeface="Arial"/>
                <a:cs typeface="Arial"/>
              </a:defRPr>
            </a:lvl8pPr>
            <a:lvl9pPr>
              <a:buNone/>
              <a:defRPr sz="1500" b="1">
                <a:solidFill>
                  <a:srgbClr val="B8ECD2"/>
                </a:solidFill>
                <a:latin typeface="Arial"/>
                <a:ea typeface="Arial"/>
                <a:cs typeface="Arial"/>
              </a:defRPr>
            </a:lvl9pPr>
          </a:lstStyle>
          <a:p xmlns:a="http://schemas.openxmlformats.org/drawingml/2006/main">
            <a:pPr>
              <a:buNone/>
              <a:defRPr sz="1500" b="1">
                <a:solidFill>
                  <a:srgbClr val="B8ECD2"/>
                </a:solidFill>
                <a:latin typeface="Arial"/>
                <a:ea typeface="Arial"/>
                <a:cs typeface="Arial"/>
              </a:defRPr>
            </a:pPr>
            <a:r>
              <a:rPr sz="1500" b="1">
                <a:solidFill>
                  <a:srgbClr val="B8ECD2"/>
                </a:solidFill>
                <a:latin typeface="Arial"/>
                <a:ea typeface="Arial"/>
                <a:cs typeface="Arial"/>
              </a:rPr>
              <a:t>A.J. speaking: Live demo transition</a:t>
            </a:r>
          </a:p>
        </p:txBody>
      </p:sp>
      <p:sp>
        <p:nvSpPr>
          <p:cNvPr id="2" name="">
            <a:extLst xmlns:a="http://schemas.openxmlformats.org/drawingml/2006/main">
              <a:ext uri="{FF2B5EF4-FFF2-40B4-BE49-F238E27FC236}">
                <a16:creationId xmlns:a16="http://schemas.microsoft.com/office/drawing/2014/main" id="{9FBC0110-D400-459B-A5DC-A518F551F1D6}"/>
              </a:ext>
            </a:extLst>
          </p:cNvPr>
          <p:cNvSpPr>
            <a:spLocks xmlns:a="http://schemas.openxmlformats.org/drawingml/2006/main" noGrp="1"/>
          </p:cNvSpPr>
          <p:nvPr/>
        </p:nvSpPr>
        <p:spPr>
          <a:xfrm xmlns:a="http://schemas.openxmlformats.org/drawingml/2006/main">
            <a:off x="609600" y="6667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vl1pPr>
              <a:buNone/>
              <a:defRPr sz="3150" b="1">
                <a:solidFill>
                  <a:srgbClr val="FFFFFF"/>
                </a:solidFill>
                <a:latin typeface="Arial"/>
                <a:ea typeface="Arial"/>
                <a:cs typeface="Arial"/>
              </a:defRPr>
            </a:lvl1pPr>
            <a:lvl2pPr>
              <a:buNone/>
              <a:defRPr sz="3150" b="1">
                <a:solidFill>
                  <a:srgbClr val="FFFFFF"/>
                </a:solidFill>
                <a:latin typeface="Arial"/>
                <a:ea typeface="Arial"/>
                <a:cs typeface="Arial"/>
              </a:defRPr>
            </a:lvl2pPr>
            <a:lvl3pPr>
              <a:buNone/>
              <a:defRPr sz="3150" b="1">
                <a:solidFill>
                  <a:srgbClr val="FFFFFF"/>
                </a:solidFill>
                <a:latin typeface="Arial"/>
                <a:ea typeface="Arial"/>
                <a:cs typeface="Arial"/>
              </a:defRPr>
            </a:lvl3pPr>
            <a:lvl4pPr>
              <a:buNone/>
              <a:defRPr sz="3150" b="1">
                <a:solidFill>
                  <a:srgbClr val="FFFFFF"/>
                </a:solidFill>
                <a:latin typeface="Arial"/>
                <a:ea typeface="Arial"/>
                <a:cs typeface="Arial"/>
              </a:defRPr>
            </a:lvl4pPr>
            <a:lvl5pPr>
              <a:buNone/>
              <a:defRPr sz="3150" b="1">
                <a:solidFill>
                  <a:srgbClr val="FFFFFF"/>
                </a:solidFill>
                <a:latin typeface="Arial"/>
                <a:ea typeface="Arial"/>
                <a:cs typeface="Arial"/>
              </a:defRPr>
            </a:lvl5pPr>
            <a:lvl6pPr>
              <a:buNone/>
              <a:defRPr sz="3150" b="1">
                <a:solidFill>
                  <a:srgbClr val="FFFFFF"/>
                </a:solidFill>
                <a:latin typeface="Arial"/>
                <a:ea typeface="Arial"/>
                <a:cs typeface="Arial"/>
              </a:defRPr>
            </a:lvl6pPr>
            <a:lvl7pPr>
              <a:buNone/>
              <a:defRPr sz="3150" b="1">
                <a:solidFill>
                  <a:srgbClr val="FFFFFF"/>
                </a:solidFill>
                <a:latin typeface="Arial"/>
                <a:ea typeface="Arial"/>
                <a:cs typeface="Arial"/>
              </a:defRPr>
            </a:lvl7pPr>
            <a:lvl8pPr>
              <a:buNone/>
              <a:defRPr sz="3150" b="1">
                <a:solidFill>
                  <a:srgbClr val="FFFFFF"/>
                </a:solidFill>
                <a:latin typeface="Arial"/>
                <a:ea typeface="Arial"/>
                <a:cs typeface="Arial"/>
              </a:defRPr>
            </a:lvl8pPr>
            <a:lvl9pPr>
              <a:buNone/>
              <a:defRPr sz="3150" b="1">
                <a:solidFill>
                  <a:srgbClr val="FFFFFF"/>
                </a:solidFill>
                <a:latin typeface="Arial"/>
                <a:ea typeface="Arial"/>
                <a:cs typeface="Arial"/>
              </a:defRPr>
            </a:lvl9pPr>
          </a:lstStyle>
          <a:p xmlns:a="http://schemas.openxmlformats.org/drawingml/2006/main">
            <a:pPr>
              <a:buNone/>
              <a:defRPr sz="3150" b="1">
                <a:solidFill>
                  <a:srgbClr val="FFFFFF"/>
                </a:solidFill>
                <a:latin typeface="Arial"/>
                <a:ea typeface="Arial"/>
                <a:cs typeface="Arial"/>
              </a:defRPr>
            </a:pPr>
            <a:r>
              <a:rPr sz="3150" b="1">
                <a:solidFill>
                  <a:srgbClr val="FFFFFF"/>
                </a:solidFill>
                <a:latin typeface="Arial"/>
                <a:ea typeface="Arial"/>
                <a:cs typeface="Arial"/>
              </a:rPr>
              <a:t>Application demo with A.J.</a:t>
            </a:r>
          </a:p>
        </p:txBody>
      </p:sp>
      <p:sp>
        <p:nvSpPr>
          <p:cNvPr id="3" name="">
            <a:extLst xmlns:a="http://schemas.openxmlformats.org/drawingml/2006/main">
              <a:ext uri="{FF2B5EF4-FFF2-40B4-BE49-F238E27FC236}">
                <a16:creationId xmlns:a16="http://schemas.microsoft.com/office/drawing/2014/main" id="{AF76EBC4-D49A-43A6-9A5B-395D8D65AF93}"/>
              </a:ext>
            </a:extLst>
          </p:cNvPr>
          <p:cNvSpPr>
            <a:spLocks xmlns:a="http://schemas.openxmlformats.org/drawingml/2006/main" noGrp="1"/>
          </p:cNvSpPr>
          <p:nvPr/>
        </p:nvSpPr>
        <p:spPr>
          <a:xfrm xmlns:a="http://schemas.openxmlformats.org/drawingml/2006/main">
            <a:off x="609600" y="6438900"/>
            <a:ext cx="9048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Budget Bites   /   AjxOm</a:t>
            </a:r>
          </a:p>
        </p:txBody>
      </p:sp>
      <p:sp>
        <p:nvSpPr>
          <p:cNvPr id="4" name="">
            <a:extLst xmlns:a="http://schemas.openxmlformats.org/drawingml/2006/main">
              <a:ext uri="{FF2B5EF4-FFF2-40B4-BE49-F238E27FC236}">
                <a16:creationId xmlns:a16="http://schemas.microsoft.com/office/drawing/2014/main" id="{8C2CD349-140E-40E0-AB48-5BABB280BBC7}"/>
              </a:ext>
            </a:extLst>
          </p:cNvPr>
          <p:cNvSpPr>
            <a:spLocks xmlns:a="http://schemas.openxmlformats.org/drawingml/2006/main" noGrp="1"/>
          </p:cNvSpPr>
          <p:nvPr/>
        </p:nvSpPr>
        <p:spPr>
          <a:xfrm xmlns:a="http://schemas.openxmlformats.org/drawingml/2006/main">
            <a:off x="10953750" y="64389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C6DDD0"/>
                </a:solidFill>
                <a:latin typeface="Arial"/>
                <a:ea typeface="Arial"/>
                <a:cs typeface="Arial"/>
              </a:defRPr>
            </a:defPPr>
            <a:lvl1pPr>
              <a:buNone/>
              <a:defRPr sz="1125" b="0">
                <a:solidFill>
                  <a:srgbClr val="C6DDD0"/>
                </a:solidFill>
                <a:latin typeface="Arial"/>
                <a:ea typeface="Arial"/>
                <a:cs typeface="Arial"/>
              </a:defRPr>
            </a:lvl1pPr>
            <a:lvl2pPr>
              <a:buNone/>
              <a:defRPr sz="1125" b="0">
                <a:solidFill>
                  <a:srgbClr val="C6DDD0"/>
                </a:solidFill>
                <a:latin typeface="Arial"/>
                <a:ea typeface="Arial"/>
                <a:cs typeface="Arial"/>
              </a:defRPr>
            </a:lvl2pPr>
            <a:lvl3pPr>
              <a:buNone/>
              <a:defRPr sz="1125" b="0">
                <a:solidFill>
                  <a:srgbClr val="C6DDD0"/>
                </a:solidFill>
                <a:latin typeface="Arial"/>
                <a:ea typeface="Arial"/>
                <a:cs typeface="Arial"/>
              </a:defRPr>
            </a:lvl3pPr>
            <a:lvl4pPr>
              <a:buNone/>
              <a:defRPr sz="1125" b="0">
                <a:solidFill>
                  <a:srgbClr val="C6DDD0"/>
                </a:solidFill>
                <a:latin typeface="Arial"/>
                <a:ea typeface="Arial"/>
                <a:cs typeface="Arial"/>
              </a:defRPr>
            </a:lvl4pPr>
            <a:lvl5pPr>
              <a:buNone/>
              <a:defRPr sz="1125" b="0">
                <a:solidFill>
                  <a:srgbClr val="C6DDD0"/>
                </a:solidFill>
                <a:latin typeface="Arial"/>
                <a:ea typeface="Arial"/>
                <a:cs typeface="Arial"/>
              </a:defRPr>
            </a:lvl5pPr>
            <a:lvl6pPr>
              <a:buNone/>
              <a:defRPr sz="1125" b="0">
                <a:solidFill>
                  <a:srgbClr val="C6DDD0"/>
                </a:solidFill>
                <a:latin typeface="Arial"/>
                <a:ea typeface="Arial"/>
                <a:cs typeface="Arial"/>
              </a:defRPr>
            </a:lvl6pPr>
            <a:lvl7pPr>
              <a:buNone/>
              <a:defRPr sz="1125" b="0">
                <a:solidFill>
                  <a:srgbClr val="C6DDD0"/>
                </a:solidFill>
                <a:latin typeface="Arial"/>
                <a:ea typeface="Arial"/>
                <a:cs typeface="Arial"/>
              </a:defRPr>
            </a:lvl7pPr>
            <a:lvl8pPr>
              <a:buNone/>
              <a:defRPr sz="1125" b="0">
                <a:solidFill>
                  <a:srgbClr val="C6DDD0"/>
                </a:solidFill>
                <a:latin typeface="Arial"/>
                <a:ea typeface="Arial"/>
                <a:cs typeface="Arial"/>
              </a:defRPr>
            </a:lvl8pPr>
            <a:lvl9pPr>
              <a:buNone/>
              <a:defRPr sz="1125" b="0">
                <a:solidFill>
                  <a:srgbClr val="C6DDD0"/>
                </a:solidFill>
                <a:latin typeface="Arial"/>
                <a:ea typeface="Arial"/>
                <a:cs typeface="Arial"/>
              </a:defRPr>
            </a:lvl9pPr>
          </a:lstStyle>
          <a:p xmlns:a="http://schemas.openxmlformats.org/drawingml/2006/main">
            <a:pPr>
              <a:buNone/>
              <a:defRPr sz="1125" b="0">
                <a:solidFill>
                  <a:srgbClr val="C6DDD0"/>
                </a:solidFill>
                <a:latin typeface="Arial"/>
                <a:ea typeface="Arial"/>
                <a:cs typeface="Arial"/>
              </a:defRPr>
            </a:pPr>
            <a:r>
              <a:rPr sz="1125" b="0">
                <a:solidFill>
                  <a:srgbClr val="C6DDD0"/>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E08A7B29-C52C-4902-B1D3-840BF6B6B939}"/>
              </a:ext>
            </a:extLst>
          </p:cNvPr>
          <p:cNvSpPr>
            <a:spLocks xmlns:a="http://schemas.openxmlformats.org/drawingml/2006/main" noGrp="1"/>
          </p:cNvSpPr>
          <p:nvPr/>
        </p:nvSpPr>
        <p:spPr>
          <a:xfrm xmlns:a="http://schemas.openxmlformats.org/drawingml/2006/main">
            <a:off x="609600" y="1743075"/>
            <a:ext cx="7239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buNone/>
              <a:defRPr sz="1875" b="0">
                <a:solidFill>
                  <a:srgbClr val="FFFFFF"/>
                </a:solidFill>
                <a:latin typeface="Arial"/>
                <a:ea typeface="Arial"/>
                <a:cs typeface="Arial"/>
              </a:defRPr>
            </a:lvl1pPr>
            <a:lvl2pPr>
              <a:buNone/>
              <a:defRPr sz="1875" b="0">
                <a:solidFill>
                  <a:srgbClr val="FFFFFF"/>
                </a:solidFill>
                <a:latin typeface="Arial"/>
                <a:ea typeface="Arial"/>
                <a:cs typeface="Arial"/>
              </a:defRPr>
            </a:lvl2pPr>
            <a:lvl3pPr>
              <a:buNone/>
              <a:defRPr sz="1875" b="0">
                <a:solidFill>
                  <a:srgbClr val="FFFFFF"/>
                </a:solidFill>
                <a:latin typeface="Arial"/>
                <a:ea typeface="Arial"/>
                <a:cs typeface="Arial"/>
              </a:defRPr>
            </a:lvl3pPr>
            <a:lvl4pPr>
              <a:buNone/>
              <a:defRPr sz="1875" b="0">
                <a:solidFill>
                  <a:srgbClr val="FFFFFF"/>
                </a:solidFill>
                <a:latin typeface="Arial"/>
                <a:ea typeface="Arial"/>
                <a:cs typeface="Arial"/>
              </a:defRPr>
            </a:lvl4pPr>
            <a:lvl5pPr>
              <a:buNone/>
              <a:defRPr sz="1875" b="0">
                <a:solidFill>
                  <a:srgbClr val="FFFFFF"/>
                </a:solidFill>
                <a:latin typeface="Arial"/>
                <a:ea typeface="Arial"/>
                <a:cs typeface="Arial"/>
              </a:defRPr>
            </a:lvl5pPr>
            <a:lvl6pPr>
              <a:buNone/>
              <a:defRPr sz="1875" b="0">
                <a:solidFill>
                  <a:srgbClr val="FFFFFF"/>
                </a:solidFill>
                <a:latin typeface="Arial"/>
                <a:ea typeface="Arial"/>
                <a:cs typeface="Arial"/>
              </a:defRPr>
            </a:lvl6pPr>
            <a:lvl7pPr>
              <a:buNone/>
              <a:defRPr sz="1875" b="0">
                <a:solidFill>
                  <a:srgbClr val="FFFFFF"/>
                </a:solidFill>
                <a:latin typeface="Arial"/>
                <a:ea typeface="Arial"/>
                <a:cs typeface="Arial"/>
              </a:defRPr>
            </a:lvl7pPr>
            <a:lvl8pPr>
              <a:buNone/>
              <a:defRPr sz="1875" b="0">
                <a:solidFill>
                  <a:srgbClr val="FFFFFF"/>
                </a:solidFill>
                <a:latin typeface="Arial"/>
                <a:ea typeface="Arial"/>
                <a:cs typeface="Arial"/>
              </a:defRPr>
            </a:lvl8pPr>
            <a:lvl9pPr>
              <a:buNone/>
              <a:defRPr sz="1875" b="0">
                <a:solidFill>
                  <a:srgbClr val="FFFFFF"/>
                </a:solidFill>
                <a:latin typeface="Arial"/>
                <a:ea typeface="Arial"/>
                <a:cs typeface="Arial"/>
              </a:defRPr>
            </a:lvl9pPr>
          </a:lstStyle>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That completes our explanation of the project, the backend foundation and the frontend integration. I will now switch from the slides to the running Android application and narrate the demonstration. Om will assist with the on-screen actions when needed.</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The demo follows a fictional meal through catalog entry, purchase and correction. It then shows Lunch Lens and verifies saved preferences and records after an offline restart.</a:t>
            </a:r>
          </a:p>
          <a:p xmlns:a="http://schemas.openxmlformats.org/drawingml/2006/main">
            <a:r>
              <a:t/>
            </a:r>
          </a:p>
          <a:p xmlns:a="http://schemas.openxmlformats.org/drawingml/2006/main">
            <a:pPr>
              <a:buNone/>
              <a:defRPr sz="1875" b="0">
                <a:solidFill>
                  <a:srgbClr val="FFFFFF"/>
                </a:solidFill>
                <a:latin typeface="Arial"/>
                <a:ea typeface="Arial"/>
                <a:cs typeface="Arial"/>
              </a:defRPr>
            </a:pPr>
            <a:r>
              <a:rPr sz="1875" b="0">
                <a:solidFill>
                  <a:srgbClr val="FFFFFF"/>
                </a:solidFill>
                <a:latin typeface="Arial"/>
                <a:ea typeface="Arial"/>
                <a:cs typeface="Arial"/>
              </a:rPr>
              <a:t>Thank you for following our presentation. I will now demonstrate Budget Bites, and we will take questions after the application walkthrough.</a:t>
            </a:r>
          </a:p>
        </p:txBody>
      </p:sp>
      <p:pic>
        <p:nvPicPr>
          <p:cNvPr id="6" name="">
            <a:extLst xmlns:a="http://schemas.openxmlformats.org/drawingml/2006/main">
              <a:ext uri="{FF2B5EF4-FFF2-40B4-BE49-F238E27FC236}">
                <a16:creationId xmlns:a16="http://schemas.microsoft.com/office/drawing/2014/main" id="{9552368F-A83C-441B-8006-691E25B6877C}"/>
              </a:ext>
            </a:extLst>
          </p:cNvPr>
          <p:cNvPicPr>
            <a:picLocks xmlns:a="http://schemas.openxmlformats.org/drawingml/2006/main" noChangeAspect="1"/>
          </p:cNvPicPr>
          <p:nvPr/>
        </p:nvPicPr>
        <p:blipFill>
          <a:blip xmlns:r="http://schemas.openxmlformats.org/officeDocument/2006/relationships" xmlns:a="http://schemas.openxmlformats.org/drawingml/2006/main" r:embed="R032339773a6c435b"/>
          <a:stretch xmlns:a="http://schemas.openxmlformats.org/drawingml/2006/main"/>
        </p:blipFill>
        <p:spPr>
          <a:xfrm xmlns:a="http://schemas.openxmlformats.org/drawingml/2006/main">
            <a:off x="8668226" y="1685925"/>
            <a:ext cx="1980248" cy="4400550"/>
          </a:xfrm>
          <a:prstGeom xmlns:a="http://schemas.openxmlformats.org/drawingml/2006/main" prst="rect">
            <a:avLst/>
          </a:prstGeom>
        </p:spPr>
      </p:pic>
    </p:spTree>
    <p:extLst>
      <p:ext uri="{BB962C8B-B14F-4D97-AF65-F5344CB8AC3E}">
        <p14:creationId xmlns:p14="http://schemas.microsoft.com/office/powerpoint/2010/main" val="609639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2026-10-31T13:27:37.2110000Z</dcterms:created>
  <dcterms:modified xsi:type="dcterms:W3CDTF">2026-10-31T13:27:37.2110000Z</dcterms:modified>
</coreProperties>
</file>
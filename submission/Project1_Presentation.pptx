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charts/chart1.xml" ContentType="application/vnd.openxmlformats-officedocument.drawingml.chart+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26597311fa24abb" /><Relationship Type="http://schemas.openxmlformats.org/officeDocument/2006/relationships/extended-properties" Target="/docProps/app.xml" Id="R2bacaa145e264607" /><Relationship Type="http://schemas.openxmlformats.org/officeDocument/2006/relationships/officeDocument" Target="/ppt/presentation.xml" Id="R8f772e3b7d564e93" /></Relationships>
</file>

<file path=ppt/presentation.xml><?xml version="1.0" encoding="utf-8"?>
<p:presentation xmlns:p="http://schemas.openxmlformats.org/presentationml/2006/main">
  <p:sldMasterIdLst>
    <p:sldMasterId xmlns:r="http://schemas.openxmlformats.org/officeDocument/2006/relationships" id="2147483648" r:id="R27b1f9f77d3640a8"/>
  </p:sldMasterIdLst>
  <p:notesMasterIdLst>
    <p:notesMasterId xmlns:r="http://schemas.openxmlformats.org/officeDocument/2006/relationships" r:id="Re970bcdf63ed4927"/>
  </p:notesMasterIdLst>
  <p:sldIdLst>
    <p:sldId xmlns:r="http://schemas.openxmlformats.org/officeDocument/2006/relationships" id="256" r:id="Reaf884436a00433e"/>
    <p:sldId xmlns:r="http://schemas.openxmlformats.org/officeDocument/2006/relationships" id="257" r:id="Rbd1c03e1b3b942cc"/>
    <p:sldId xmlns:r="http://schemas.openxmlformats.org/officeDocument/2006/relationships" id="258" r:id="R828f8209a82b4ede"/>
    <p:sldId xmlns:r="http://schemas.openxmlformats.org/officeDocument/2006/relationships" id="259" r:id="Rf0c1a4c2539a4eed"/>
    <p:sldId xmlns:r="http://schemas.openxmlformats.org/officeDocument/2006/relationships" id="260" r:id="Rf37cd7a1840d4453"/>
    <p:sldId xmlns:r="http://schemas.openxmlformats.org/officeDocument/2006/relationships" id="261" r:id="R15d08fe5ab4b460c"/>
    <p:sldId xmlns:r="http://schemas.openxmlformats.org/officeDocument/2006/relationships" id="262" r:id="R7e7f068e7ef54312"/>
    <p:sldId xmlns:r="http://schemas.openxmlformats.org/officeDocument/2006/relationships" id="263" r:id="Rb95276fe7b7643d5"/>
    <p:sldId xmlns:r="http://schemas.openxmlformats.org/officeDocument/2006/relationships" id="264" r:id="R0607750556694d1a"/>
    <p:sldId xmlns:r="http://schemas.openxmlformats.org/officeDocument/2006/relationships" id="265" r:id="R8a34929163264985"/>
    <p:sldId xmlns:r="http://schemas.openxmlformats.org/officeDocument/2006/relationships" id="266" r:id="R65a8052f569142b4"/>
    <p:sldId xmlns:r="http://schemas.openxmlformats.org/officeDocument/2006/relationships" id="267" r:id="Rdac1ed9dc0484f30"/>
    <p:sldId xmlns:r="http://schemas.openxmlformats.org/officeDocument/2006/relationships" id="268" r:id="R55b741328a334375"/>
    <p:sldId xmlns:r="http://schemas.openxmlformats.org/officeDocument/2006/relationships" id="269" r:id="R0f70f4407506419b"/>
    <p:sldId xmlns:r="http://schemas.openxmlformats.org/officeDocument/2006/relationships" id="270" r:id="R8b11e2c68e7d4129"/>
    <p:sldId xmlns:r="http://schemas.openxmlformats.org/officeDocument/2006/relationships" id="271" r:id="R9ae2171adcf0459b"/>
    <p:sldId xmlns:r="http://schemas.openxmlformats.org/officeDocument/2006/relationships" id="272" r:id="R11e38fb337f7443c"/>
    <p:sldId xmlns:r="http://schemas.openxmlformats.org/officeDocument/2006/relationships" id="273" r:id="R28b60dd93ec44e5b"/>
    <p:sldId xmlns:r="http://schemas.openxmlformats.org/officeDocument/2006/relationships" id="274" r:id="R03faaf529d48459d"/>
    <p:sldId xmlns:r="http://schemas.openxmlformats.org/officeDocument/2006/relationships" id="275" r:id="R30577046b3bc4943"/>
    <p:sldId xmlns:r="http://schemas.openxmlformats.org/officeDocument/2006/relationships" id="276" r:id="Rb913421084bf483d"/>
    <p:sldId xmlns:r="http://schemas.openxmlformats.org/officeDocument/2006/relationships" id="277" r:id="R827655237f0b496e"/>
    <p:sldId xmlns:r="http://schemas.openxmlformats.org/officeDocument/2006/relationships" id="278" r:id="R742d2be834fd4e16"/>
    <p:sldId xmlns:r="http://schemas.openxmlformats.org/officeDocument/2006/relationships" id="279" r:id="R89920b5c30474951"/>
    <p:sldId xmlns:r="http://schemas.openxmlformats.org/officeDocument/2006/relationships" id="280" r:id="R9276ee5eb0a84667"/>
    <p:sldId xmlns:r="http://schemas.openxmlformats.org/officeDocument/2006/relationships" id="281" r:id="R98bb503bfbe442a3"/>
    <p:sldId xmlns:r="http://schemas.openxmlformats.org/officeDocument/2006/relationships" id="282" r:id="Re2891fb0363b4442"/>
    <p:sldId xmlns:r="http://schemas.openxmlformats.org/officeDocument/2006/relationships" id="283" r:id="R35afab8f5a1e4b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938d10bd0a4c30" /><Relationship Type="http://schemas.openxmlformats.org/officeDocument/2006/relationships/slideMaster" Target="/ppt/slideMasters/slideMaster1.xml" Id="R27b1f9f77d3640a8" /><Relationship Type="http://schemas.openxmlformats.org/officeDocument/2006/relationships/notesMaster" Target="/ppt/notesMasters/notesMaster1.xml" Id="Re970bcdf63ed4927" /><Relationship Type="http://schemas.openxmlformats.org/officeDocument/2006/relationships/presProps" Target="/ppt/presProps.xml" Id="R49f29fc642d04cfe" /><Relationship Type="http://schemas.openxmlformats.org/officeDocument/2006/relationships/tableStyles" Target="/ppt/tableStyles.xml" Id="R3bc5014eef794b48" /><Relationship Type="http://schemas.openxmlformats.org/officeDocument/2006/relationships/slide" Target="/ppt/slides/slide1.xml" Id="Reaf884436a00433e" /><Relationship Type="http://schemas.openxmlformats.org/officeDocument/2006/relationships/slide" Target="/ppt/slides/slide2.xml" Id="Rbd1c03e1b3b942cc" /><Relationship Type="http://schemas.openxmlformats.org/officeDocument/2006/relationships/slide" Target="/ppt/slides/slide3.xml" Id="R828f8209a82b4ede" /><Relationship Type="http://schemas.openxmlformats.org/officeDocument/2006/relationships/slide" Target="/ppt/slides/slide4.xml" Id="Rf0c1a4c2539a4eed" /><Relationship Type="http://schemas.openxmlformats.org/officeDocument/2006/relationships/slide" Target="/ppt/slides/slide5.xml" Id="Rf37cd7a1840d4453" /><Relationship Type="http://schemas.openxmlformats.org/officeDocument/2006/relationships/slide" Target="/ppt/slides/slide6.xml" Id="R15d08fe5ab4b460c" /><Relationship Type="http://schemas.openxmlformats.org/officeDocument/2006/relationships/slide" Target="/ppt/slides/slide7.xml" Id="R7e7f068e7ef54312" /><Relationship Type="http://schemas.openxmlformats.org/officeDocument/2006/relationships/slide" Target="/ppt/slides/slide8.xml" Id="Rb95276fe7b7643d5" /><Relationship Type="http://schemas.openxmlformats.org/officeDocument/2006/relationships/slide" Target="/ppt/slides/slide9.xml" Id="R0607750556694d1a" /><Relationship Type="http://schemas.openxmlformats.org/officeDocument/2006/relationships/slide" Target="/ppt/slides/slide10.xml" Id="R8a34929163264985" /><Relationship Type="http://schemas.openxmlformats.org/officeDocument/2006/relationships/slide" Target="/ppt/slides/slide11.xml" Id="R65a8052f569142b4" /><Relationship Type="http://schemas.openxmlformats.org/officeDocument/2006/relationships/slide" Target="/ppt/slides/slide12.xml" Id="Rdac1ed9dc0484f30" /><Relationship Type="http://schemas.openxmlformats.org/officeDocument/2006/relationships/slide" Target="/ppt/slides/slide13.xml" Id="R55b741328a334375" /><Relationship Type="http://schemas.openxmlformats.org/officeDocument/2006/relationships/slide" Target="/ppt/slides/slide14.xml" Id="R0f70f4407506419b" /><Relationship Type="http://schemas.openxmlformats.org/officeDocument/2006/relationships/slide" Target="/ppt/slides/slide15.xml" Id="R8b11e2c68e7d4129" /><Relationship Type="http://schemas.openxmlformats.org/officeDocument/2006/relationships/slide" Target="/ppt/slides/slide16.xml" Id="R9ae2171adcf0459b" /><Relationship Type="http://schemas.openxmlformats.org/officeDocument/2006/relationships/slide" Target="/ppt/slides/slide17.xml" Id="R11e38fb337f7443c" /><Relationship Type="http://schemas.openxmlformats.org/officeDocument/2006/relationships/slide" Target="/ppt/slides/slide18.xml" Id="R28b60dd93ec44e5b" /><Relationship Type="http://schemas.openxmlformats.org/officeDocument/2006/relationships/slide" Target="/ppt/slides/slide19.xml" Id="R03faaf529d48459d" /><Relationship Type="http://schemas.openxmlformats.org/officeDocument/2006/relationships/slide" Target="/ppt/slides/slide20.xml" Id="R30577046b3bc4943" /><Relationship Type="http://schemas.openxmlformats.org/officeDocument/2006/relationships/slide" Target="/ppt/slides/slide21.xml" Id="Rb913421084bf483d" /><Relationship Type="http://schemas.openxmlformats.org/officeDocument/2006/relationships/slide" Target="/ppt/slides/slide22.xml" Id="R827655237f0b496e" /><Relationship Type="http://schemas.openxmlformats.org/officeDocument/2006/relationships/slide" Target="/ppt/slides/slide23.xml" Id="R742d2be834fd4e16" /><Relationship Type="http://schemas.openxmlformats.org/officeDocument/2006/relationships/slide" Target="/ppt/slides/slide24.xml" Id="R89920b5c30474951" /><Relationship Type="http://schemas.openxmlformats.org/officeDocument/2006/relationships/slide" Target="/ppt/slides/slide25.xml" Id="R9276ee5eb0a84667" /><Relationship Type="http://schemas.openxmlformats.org/officeDocument/2006/relationships/slide" Target="/ppt/slides/slide26.xml" Id="R98bb503bfbe442a3" /><Relationship Type="http://schemas.openxmlformats.org/officeDocument/2006/relationships/slide" Target="/ppt/slides/slide27.xml" Id="Re2891fb0363b4442" /><Relationship Type="http://schemas.openxmlformats.org/officeDocument/2006/relationships/slide" Target="/ppt/slides/slide28.xml" Id="R35afab8f5a1e4b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b8afc9bd324b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18ec19d629489f" /><Relationship Type="http://schemas.openxmlformats.org/officeDocument/2006/relationships/notesMaster" Target="/ppt/notesMasters/notesMaster1.xml" Id="R341b013d19aa47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d6e0f10bc14edd" /><Relationship Type="http://schemas.openxmlformats.org/officeDocument/2006/relationships/notesMaster" Target="/ppt/notesMasters/notesMaster1.xml" Id="R99201cf9cc3e4e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0cf2ad3dcf455d" /><Relationship Type="http://schemas.openxmlformats.org/officeDocument/2006/relationships/notesMaster" Target="/ppt/notesMasters/notesMaster1.xml" Id="R48cc75ec93ef4a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7e805de9cf4704" /><Relationship Type="http://schemas.openxmlformats.org/officeDocument/2006/relationships/notesMaster" Target="/ppt/notesMasters/notesMaster1.xml" Id="R7832f59d7e994b8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ec158d9e2e742b9" /><Relationship Type="http://schemas.openxmlformats.org/officeDocument/2006/relationships/notesMaster" Target="/ppt/notesMasters/notesMaster1.xml" Id="Rc99bb79b8cdb45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7d89b74a2749a5" /><Relationship Type="http://schemas.openxmlformats.org/officeDocument/2006/relationships/notesMaster" Target="/ppt/notesMasters/notesMaster1.xml" Id="Rce66b8f3f2414c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961311cd1f4e51" /><Relationship Type="http://schemas.openxmlformats.org/officeDocument/2006/relationships/notesMaster" Target="/ppt/notesMasters/notesMaster1.xml" Id="R6278c5b9dd8e43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5af85eafd74652" /><Relationship Type="http://schemas.openxmlformats.org/officeDocument/2006/relationships/notesMaster" Target="/ppt/notesMasters/notesMaster1.xml" Id="Rf32c2f7a43fd47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23fb6a8de9498c" /><Relationship Type="http://schemas.openxmlformats.org/officeDocument/2006/relationships/notesMaster" Target="/ppt/notesMasters/notesMaster1.xml" Id="Rabbb499200bd45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1fff652b13462d" /><Relationship Type="http://schemas.openxmlformats.org/officeDocument/2006/relationships/notesMaster" Target="/ppt/notesMasters/notesMaster1.xml" Id="Rebc4e4c7f19341d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76d32caff54741" /><Relationship Type="http://schemas.openxmlformats.org/officeDocument/2006/relationships/notesMaster" Target="/ppt/notesMasters/notesMaster1.xml" Id="R8740a418ed9548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af5d9e796d4a01" /><Relationship Type="http://schemas.openxmlformats.org/officeDocument/2006/relationships/notesMaster" Target="/ppt/notesMasters/notesMaster1.xml" Id="Ra1447726c9dc40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d9a36f2d4444cee" /><Relationship Type="http://schemas.openxmlformats.org/officeDocument/2006/relationships/notesMaster" Target="/ppt/notesMasters/notesMaster1.xml" Id="R941e76c65d2845d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8274db41a84aea" /><Relationship Type="http://schemas.openxmlformats.org/officeDocument/2006/relationships/notesMaster" Target="/ppt/notesMasters/notesMaster1.xml" Id="R2a80dcdc6e1748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6be7ebe08e4f8a" /><Relationship Type="http://schemas.openxmlformats.org/officeDocument/2006/relationships/notesMaster" Target="/ppt/notesMasters/notesMaster1.xml" Id="R3de5e83aae8b4f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c8eb29e9e642b3" /><Relationship Type="http://schemas.openxmlformats.org/officeDocument/2006/relationships/notesMaster" Target="/ppt/notesMasters/notesMaster1.xml" Id="R36badc08a77f4e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301a211e55c4ee5" /><Relationship Type="http://schemas.openxmlformats.org/officeDocument/2006/relationships/notesMaster" Target="/ppt/notesMasters/notesMaster1.xml" Id="R6888156961104d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b520d895827459c" /><Relationship Type="http://schemas.openxmlformats.org/officeDocument/2006/relationships/notesMaster" Target="/ppt/notesMasters/notesMaster1.xml" Id="Ra8b6b0e453fe490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3107b18aae64f73" /><Relationship Type="http://schemas.openxmlformats.org/officeDocument/2006/relationships/notesMaster" Target="/ppt/notesMasters/notesMaster1.xml" Id="R6ef77d1e14c44aa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e6eac5bfb2247c1" /><Relationship Type="http://schemas.openxmlformats.org/officeDocument/2006/relationships/notesMaster" Target="/ppt/notesMasters/notesMaster1.xml" Id="R6e1e16d3fa3041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14b7fa38b09414a" /><Relationship Type="http://schemas.openxmlformats.org/officeDocument/2006/relationships/notesMaster" Target="/ppt/notesMasters/notesMaster1.xml" Id="Rae0cf043ebc34ff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11f03184da4673" /><Relationship Type="http://schemas.openxmlformats.org/officeDocument/2006/relationships/notesMaster" Target="/ppt/notesMasters/notesMaster1.xml" Id="Rd3d7ce17d236488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ed6727f04d64b49" /><Relationship Type="http://schemas.openxmlformats.org/officeDocument/2006/relationships/notesMaster" Target="/ppt/notesMasters/notesMaster1.xml" Id="R1d80a1d5ebf2420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34b510801a46e2" /><Relationship Type="http://schemas.openxmlformats.org/officeDocument/2006/relationships/notesMaster" Target="/ppt/notesMasters/notesMaster1.xml" Id="Rdb8d1e6326104d3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d39cf472f54ad6" /><Relationship Type="http://schemas.openxmlformats.org/officeDocument/2006/relationships/notesMaster" Target="/ppt/notesMasters/notesMaster1.xml" Id="R71400ba5e09f402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fd82334a8984f99" /><Relationship Type="http://schemas.openxmlformats.org/officeDocument/2006/relationships/notesMaster" Target="/ppt/notesMasters/notesMaster1.xml" Id="R58abcdfd4b1e43e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69051f391be4ccb" /><Relationship Type="http://schemas.openxmlformats.org/officeDocument/2006/relationships/notesMaster" Target="/ppt/notesMasters/notesMaster1.xml" Id="R035480fd6dfe406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b3dd1bee9094368" /><Relationship Type="http://schemas.openxmlformats.org/officeDocument/2006/relationships/notesMaster" Target="/ppt/notesMasters/notesMaster1.xml" Id="R3291299c7d444d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r>
              <a:t>Our goal connects a planned lunch cost with an actual purchase, allowing students to compare their expectations with what they paid.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/Users/omswaroopudumula/Documents/Codex/2026-10-14/referenced-chatgpt-conversation-this-is-an/work/visual-presentation/assets/meal-save.png; /Users/omswaroopudumula/Documents/Codex/2026-10-14/referenced-chatgpt-conversation-this-is-an/work/visual-presentation/assets/dark-settings.png.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r>
              <a:t>The application uses locally entered information and fictional starter meals. Venue notes and prices come from the user, and live restaurant price verification is outside our scope.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Introduction.</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/Users/omswaroopudumula/Documents/Codex/2026-10-14/referenced-chatgpt-conversation-this-is-an/work/visual-presentation/assets/history650.png.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a:p xmlns:a="http://schemas.openxmlformats.org/drawingml/2006/main">
            <a:r>
              <a:t/>
            </a:r>
          </a:p>
          <a:p xmlns:a="http://schemas.openxmlformats.org/drawingml/2006/main">
            <a: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a:p xmlns:a="http://schemas.openxmlformats.org/drawingml/2006/main">
            <a:r>
              <a:t/>
            </a:r>
          </a:p>
          <a:p xmlns:a="http://schemas.openxmlformats.org/drawingml/2006/main">
            <a:r>
              <a:t>Lunch Lens estimates a possible next cost from earlier purchases. It explains its inputs, allows dismissal and compares the estimate with the last observed price.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These are actual screens from the release app. The catalog, reusable editor, activity, purchase log and settings form one connected offline workflow. A.J. will now explain the architecture and backend.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/Users/omswaroopudumula/Documents/Codex/2026-10-14/referenced-chatgpt-conversation-this-is-an/work/visual-presentation/assets/activity.png; /Users/omswaroopudumula/Documents/Codex/2026-10-14/referenced-chatgpt-conversation-this-is-an/work/visual-presentation/assets/new-meal-complete.png; /Users/omswaroopudumula/Documents/Codex/2026-10-14/referenced-chatgpt-conversation-this-is-an/work/visual-presentation/assets/purchase-form.png; /Users/omswaroopudumula/Documents/Codex/2026-10-14/referenced-chatgpt-conversation-this-is-an/work/visual-presentation/assets/two-receipts.png; /Users/omswaroopudumula/Documents/Codex/2026-10-14/referenced-chatgpt-conversation-this-is-an/work/visual-presentation/assets/settings.png.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Architecture and backend.</a:t>
            </a:r>
          </a:p>
          <a:p xmlns:a="http://schemas.openxmlformats.org/drawingml/2006/main">
            <a:r>
              <a:t>Read aloud:</a:t>
            </a:r>
          </a:p>
          <a:p xmlns:a="http://schemas.openxmlformats.org/drawingml/2006/main">
            <a: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r>
              <a:t>This separation helped us combine both parts of the project without putting SQL inside every screen. We preserved my original branch history during integration. I will now explain the backend foundation and how the final application stores and protects its records.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r>
              <a:t>MealDatabase provides one boundary for local SQLite access. The interface requests operations through it, while validation and database tests focus on the same boundary.</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r>
              <a:t>The toMap method prepares values for SQLite, and fromMap reconstructs the Meal. A stable ID lets the interface update the correct record even after its name or position changes.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lib/models/meal.dart.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r>
              <a:t>Editing a catalog estimate leaves earlier actual amounts unchanged. Preferences use SharedPreferences, and favorites remain a Meal field, keeping the relational model to two entities.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/Users/omswaroopudumula/Documents/Codex/2026-10-14/referenced-chatgpt-conversation-this-is-an/work/visual-presentation/assets/correction.png.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Meal is the parent catalog entry. PurchaseLog stores each actual receipt. Its foreign key and restricted parent deletion preserve that relationship.</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r>
              <a:t>Queries use bound arguments for IDs. Refreshing the saved lists after a successful change keeps the catalog, purchase log and totals aligned with current database rows.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r>
              <a:t>My original History page supplied the Card and ListTile foundation. The integrated version now displays child purchase records and passes their IDs to the appropriate actions.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 lib/screens/purchase_editor.dart.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transaction checks the draft token before inserting. Retrying the same draft returns its existing receipt ID. A new purchase receives a new token.</a:t>
            </a:r>
          </a:p>
          <a:p xmlns:a="http://schemas.openxmlformats.org/drawingml/2006/main">
            <a:r>
              <a:t/>
            </a:r>
          </a:p>
          <a:p xmlns:a="http://schemas.openxmlformats.org/drawingml/2006/main">
            <a:r>
              <a:t>Om will now explain how the frontend connects these backend operations to the student's workflow.</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r>
              <a:t>Stateless MealCard and EmptyView render supplied values and callbacks. Reusing them keeps presentation consistent when saved records change or a filter returns no results.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/Users/omswaroopudumula/Documents/Codex/2026-10-14/referenced-chatgpt-conversation-this-is-an/work/visual-presentation/assets/persisted-settings.png.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r>
              <a:t>We dispose controllers and check mounted after asynchronous operations. The application owns database lifetime, and AppStore suppresses notifications after disposal, reducing stale updates.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A1, A2.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lib/state/app_store.dart.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a:p xmlns:a="http://schemas.openxmlformats.org/drawingml/2006/main">
            <a:r>
              <a:t/>
            </a:r>
          </a:p>
          <a:p xmlns:a="http://schemas.openxmlformats.org/drawingml/2006/main">
            <a:r>
              <a:t>A.J. will continue from here.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I2,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/Users/omswaroopudumula/Documents/Codex/2026-10-14/referenced-chatgpt-conversation-this-is-an/work/visual-presentation/assets/edit-price.png; /Users/omswaroopudumula/Documents/Codex/2026-10-14/referenced-chatgpt-conversation-this-is-an/work/visual-presentation/assets/new-meal-complete.png.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D1,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/Users/omswaroopudumula/Documents/Codex/2026-10-14/referenced-chatgpt-conversation-this-is-an/work/visual-presentation/assets/reset-confirm.png.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same receipt changes from $6.50 to $6.00. The spending total refreshes while the catalog estimate remains separate.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/Users/omswaroopudumula/Documents/Codex/2026-10-14/referenced-chatgpt-conversation-this-is-an/work/visual-presentation/assets/receipt.png; /Users/omswaroopudumula/Documents/Codex/2026-10-14/referenced-chatgpt-conversation-this-is-an/work/visual-presentation/assets/after-delete600.png.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/Users/omswaroopudumula/Documents/Codex/2026-10-14/referenced-chatgpt-conversation-this-is-an/work/visual-presentation/assets/lens.png.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pure function takes three earlier amounts and calculates their rounded mean in cents. In this recorded example, $7.50, $4.50 and $6.00 produce $6.00.</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lib/domain/lunch_lens.dart.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We checked five fictional case types. The table shows chronological input amounts in cents and the actual outputs from the passing checks.</a:t>
            </a:r>
          </a:p>
          <a:p xmlns:a="http://schemas.openxmlformats.org/drawingml/2006/main">
            <a:r>
              <a:t/>
            </a:r>
          </a:p>
          <a:p xmlns:a="http://schemas.openxmlformats.org/drawingml/2006/main">
            <a:r>
              <a:t>Normal, insufficient, invalid, boundary and counterexample cases test different behaviors. Empty and invalid cases assess feedback. They do not receive invented numeric error scores.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r>
              <a:t>The baseline wins on this tiny designed set. We retain the recipe's transparent mean and disclose its outlier sensitivity. A future median comparison needs new cases before any improvement claim.</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r>
              <a:t>The emulators have different display settings but share one Android API image. Physical-device testing and independent peer revision remain incomplete. Genuine logs identify the checks we actually performed.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T1, T2,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final-unit-widget-tests.txt; final-phone-integration.txt</a:t>
            </a:r>
          </a:p>
          <a:p xmlns:a="http://schemas.openxmlformats.org/drawingml/2006/main">
            <a:r>
              <a:t>final-large-integration.txt.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These genuine final release captures show the same saved $4.50 receipt on two display configurations. Three integration checks passed on each profile. Both use the same Android API image.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D2,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/Users/omswaroopudumula/Documents/Codex/2026-10-14/referenced-chatgpt-conversation-this-is-an/work/ajxom-budget-bites/evidence/final-emulator-5554-history.png; /Users/omswaroopudumula/Documents/Codex/2026-10-14/referenced-chatgpt-conversation-this-is-an/work/ajxom-budget-bites/evidence/final-emulator-5556-history.png.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r>
              <a:t>I hold our ClickUp evidence, and the instructor’s revised final deadline is October 31. Our team recording is complete. The preserved branch history, integration and actual test logs are available for review. In a future project, we would collect board evidence throughout development.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lib/screens/meal_history.dart.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Future work.</a:t>
            </a:r>
          </a:p>
          <a:p xmlns:a="http://schemas.openxmlformats.org/drawingml/2006/main">
            <a:r>
              <a:t>Read aloud:</a:t>
            </a:r>
          </a:p>
          <a:p xmlns:a="http://schemas.openxmlformats.org/drawingml/2006/main">
            <a: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a:p xmlns:a="http://schemas.openxmlformats.org/drawingml/2006/main">
            <a:r>
              <a:t/>
            </a:r>
          </a:p>
          <a:p xmlns:a="http://schemas.openxmlformats.org/drawingml/2006/main">
            <a: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a:p xmlns:a="http://schemas.openxmlformats.org/drawingml/2006/main">
            <a:r>
              <a:t/>
            </a:r>
          </a:p>
          <a:p xmlns:a="http://schemas.openxmlformats.org/drawingml/2006/main">
            <a:r>
              <a:t>Weekly summaries and a local CSV export could make personal spending easier to review while preserving offline use. These are proposed improvements beyond the current release.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Repository and release.</a:t>
            </a:r>
          </a:p>
          <a:p xmlns:a="http://schemas.openxmlformats.org/drawingml/2006/main">
            <a:r>
              <a:t>Read aloud:</a:t>
            </a:r>
          </a:p>
          <a:p xmlns:a="http://schemas.openxmlformats.org/drawingml/2006/main">
            <a: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r>
              <a:t>The README links setup instructions and project resources. The architecture and helper documents explain the decisions and evaluation, allowing reviewers to connect application behavior with the supporting evidence.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Repository map.</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Live demo transition.</a:t>
            </a:r>
          </a:p>
          <a:p xmlns:a="http://schemas.openxmlformats.org/drawingml/2006/main">
            <a:r>
              <a:t>Read aloud:</a:t>
            </a:r>
          </a:p>
          <a:p xmlns:a="http://schemas.openxmlformats.org/drawingml/2006/main">
            <a: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r>
              <a:t>Thank you for following our presentation. I will now demonstrate Budget Bites, and we will take questions after the application walkthrough.</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/Users/omswaroopudumula/Documents/Codex/2026-10-14/referenced-chatgpt-conversation-this-is-an/work/visual-presentation/assets/offline-receipts.png.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A.J. live demo script after the slides:</a:t>
            </a:r>
          </a:p>
          <a:p xmlns:a="http://schemas.openxmlformats.org/drawingml/2006/main">
            <a:r>
              <a:t># A.J.'s live Budget Bites demo script</a:t>
            </a:r>
          </a:p>
          <a:p xmlns:a="http://schemas.openxmlformats.org/drawingml/2006/main">
            <a:r>
              <a:t/>
            </a:r>
          </a:p>
          <a:p xmlns:a="http://schemas.openxmlformats.org/drawingml/2006/main">
            <a:r>
              <a:t>**Speaker:** A.J. throughout the application demo. Om can operate the emulator while A.J. reads.</a:t>
            </a:r>
          </a:p>
          <a:p xmlns:a="http://schemas.openxmlformats.org/drawingml/2006/main">
            <a:r>
              <a:t/>
            </a:r>
          </a:p>
          <a:p xmlns:a="http://schemas.openxmlformats.org/drawingml/2006/main">
            <a:r>
              <a:t>**Presentation split:** Om speaks on slides 1–4 and 14–16, about 4–5 minutes in total. A.J. leads slides 5–13 and 17–28, then narrates the full app demo. Presenter assignment does not change authorship: A.J. credits Om for frontend and integration work.</a:t>
            </a:r>
          </a:p>
          <a:p xmlns:a="http://schemas.openxmlformats.org/drawingml/2006/main">
            <a:r>
              <a:t/>
            </a:r>
          </a:p>
          <a:p xmlns:a="http://schemas.openxmlformats.org/drawingml/2006/main">
            <a:r>
              <a:t>**Order:** Present all 28 slides first, then switch to the installed Android release app. Aim for about 5–6 minutes for this walkthrough, speaking while performing the actions. Rehearse the combined presentation at a comfortable pace and keep the full recording within the course's 20–25 minutes.</a:t>
            </a:r>
          </a:p>
          <a:p xmlns:a="http://schemas.openxmlformats.org/drawingml/2006/main">
            <a:r>
              <a:t/>
            </a:r>
          </a:p>
          <a:p xmlns:a="http://schemas.openxmlformats.org/drawingml/2006/main">
            <a:r>
              <a:t>Read the quoted paragraphs. The **Show** lines are operator instructions and are not spoken. These are fictional demonstration amounts, not actual purchases. Keep existing records. Use a new unique demo meal name if “Showcase Lunch” already exists. Do not delete unrelated records.</a:t>
            </a:r>
          </a:p>
          <a:p xmlns:a="http://schemas.openxmlformats.org/drawingml/2006/main">
            <a:r>
              <a:t/>
            </a:r>
          </a:p>
          <a:p xmlns:a="http://schemas.openxmlformats.org/drawingml/2006/main">
            <a:r>
              <a:t>## 1. Home and the purpose of the app</a:t>
            </a:r>
          </a:p>
          <a:p xmlns:a="http://schemas.openxmlformats.org/drawingml/2006/main">
            <a:r>
              <a:t/>
            </a:r>
          </a:p>
          <a:p xmlns:a="http://schemas.openxmlformats.org/drawingml/2006/main">
            <a:r>
              <a:t>**Show:** Open Budget Bites. Show Home, the budget value, search, cuisine filter and favorites. Set the budget to $10.00 and light mode before this walkthrough if necessary.</a:t>
            </a:r>
          </a:p>
          <a:p xmlns:a="http://schemas.openxmlformats.org/drawingml/2006/main">
            <a:r>
              <a:t/>
            </a:r>
          </a:p>
          <a:p xmlns:a="http://schemas.openxmlformats.org/drawingml/2006/main">
            <a:r>
              <a:t>&gt; I will now demonstrate the team's integrated application. Home shows the meal catalog and the current lunch budget. A student can search their own meal notes, choose a cuisine or use the favorites filter. These are local records, and the starter meals are fictional examples. I will use a separate fictional meal so the demonstration does not change unrelated records.</a:t>
            </a:r>
          </a:p>
          <a:p xmlns:a="http://schemas.openxmlformats.org/drawingml/2006/main">
            <a:r>
              <a:t/>
            </a:r>
          </a:p>
          <a:p xmlns:a="http://schemas.openxmlformats.org/drawingml/2006/main">
            <a:r>
              <a:t>## 2. Create, read and edit a meal</a:t>
            </a:r>
          </a:p>
          <a:p xmlns:a="http://schemas.openxmlformats.org/drawingml/2006/main">
            <a:r>
              <a:t/>
            </a:r>
          </a:p>
          <a:p xmlns:a="http://schemas.openxmlformats.org/drawingml/2006/main">
            <a:r>
              <a:t>**Show:** Select **Add meal**. Enter **Showcase Lunch**, venue **Fictional demo cafe**, entree **Wrap** at **5.50**, and side **Fruit** at **1.00**. Leave the other price at zero and save. Search for the meal. Open **Edit meal**, change the venue note to **Fictional demo cafe, student menu**, and save.</a:t>
            </a:r>
          </a:p>
          <a:p xmlns:a="http://schemas.openxmlformats.org/drawingml/2006/main">
            <a:r>
              <a:t/>
            </a:r>
          </a:p>
          <a:p xmlns:a="http://schemas.openxmlformats.org/drawingml/2006/main">
            <a:r>
              <a:t>&gt; This is the reusable meal editor from Om's frontend work. I am entering a name, venue note and estimated item prices. Saving creates a Meal with its own database ID. The two prices produce a six-dollar-fifty-cent catalog estimate. Editing the venue updates the same record rather than creating another meal. This demonstrates the connection between the form and our database CRUD boundary.</a:t>
            </a:r>
          </a:p>
          <a:p xmlns:a="http://schemas.openxmlformats.org/drawingml/2006/main">
            <a:r>
              <a:t/>
            </a:r>
          </a:p>
          <a:p xmlns:a="http://schemas.openxmlformats.org/drawingml/2006/main">
            <a:r>
              <a:t>## 3. Validate and save an actual purchase</a:t>
            </a:r>
          </a:p>
          <a:p xmlns:a="http://schemas.openxmlformats.org/drawingml/2006/main">
            <a:r>
              <a:t/>
            </a:r>
          </a:p>
          <a:p xmlns:a="http://schemas.openxmlformats.org/drawingml/2006/main">
            <a:r>
              <a:t>**Show:** Open **View meal**, then **Start plan**. Enter **6.999** in **Actual amount (USD)** and attempt Save to show the decimal-place validation. Correct it to **6.50**, then choose **Save purchase and finish**. Open **History** and select this meal using the meal filter.</a:t>
            </a:r>
          </a:p>
          <a:p xmlns:a="http://schemas.openxmlformats.org/drawingml/2006/main">
            <a:r>
              <a:t/>
            </a:r>
          </a:p>
          <a:p xmlns:a="http://schemas.openxmlformats.org/drawingml/2006/main">
            <a:r>
              <a:t>&gt; A planned estimate and an actual purchase are separate values. This amount has too many decimal places, so the form asks me to correct it before saving. After I enter six dollars and fifty cents and explicitly save, the app creates a purchase record linked to this meal. History is our purchase log, and its total reflects the selected meal and date filters.</a:t>
            </a:r>
          </a:p>
          <a:p xmlns:a="http://schemas.openxmlformats.org/drawingml/2006/main">
            <a:r>
              <a:t/>
            </a:r>
          </a:p>
          <a:p xmlns:a="http://schemas.openxmlformats.org/drawingml/2006/main">
            <a:r>
              <a:t>## 4. Read and correct history</a:t>
            </a:r>
          </a:p>
          <a:p xmlns:a="http://schemas.openxmlformats.org/drawingml/2006/main">
            <a:r>
              <a:t/>
            </a:r>
          </a:p>
          <a:p xmlns:a="http://schemas.openxmlformats.org/drawingml/2006/main">
            <a:r>
              <a:t>**Show:** Select **View receipt**, close it, then **Edit purchase**. Change **6.50** to **6.00** and choose **Save correction**. From History use **Add purchase**, select the same meal and save **4.50**. Add a second purchase of **7.50**. Reselect the meal filter if necessary. The three receipts now total **18.00**.</a:t>
            </a:r>
          </a:p>
          <a:p xmlns:a="http://schemas.openxmlformats.org/drawingml/2006/main">
            <a:r>
              <a:t/>
            </a:r>
          </a:p>
          <a:p xmlns:a="http://schemas.openxmlformats.org/drawingml/2006/main">
            <a:r>
              <a:t>&gt; The receipt shows the amount saved for a particular purchase. I can correct that amount to six dollars without changing the meal's current estimate. The spending total refreshes after the correction. I have now added two more fictional purchases, four dollars fifty and seven dollars fifty, which gives this meal three receipts totaling eighteen dollars.</a:t>
            </a:r>
          </a:p>
          <a:p xmlns:a="http://schemas.openxmlformats.org/drawingml/2006/main">
            <a:r>
              <a:t/>
            </a:r>
          </a:p>
          <a:p xmlns:a="http://schemas.openxmlformats.org/drawingml/2006/main">
            <a:r>
              <a:t>## 5. Delete safely and protect relationships</a:t>
            </a:r>
          </a:p>
          <a:p xmlns:a="http://schemas.openxmlformats.org/drawingml/2006/main">
            <a:r>
              <a:t/>
            </a:r>
          </a:p>
          <a:p xmlns:a="http://schemas.openxmlformats.org/drawingml/2006/main">
            <a:r>
              <a:t>**Show:** Add an extra **1.00** purchase for the same meal. The total becomes **19.00**. Delete that $1.00 receipt and confirm. The total returns to **18.00**. From Home attempt **Delete meal** on Showcase Lunch to show the linked-purchase restriction. Keep the three existing receipts.</a:t>
            </a:r>
          </a:p>
          <a:p xmlns:a="http://schemas.openxmlformats.org/drawingml/2006/main">
            <a:r>
              <a:t/>
            </a:r>
          </a:p>
          <a:p xmlns:a="http://schemas.openxmlformats.org/drawingml/2006/main">
            <a:r>
              <a:t>&gt; A purchase can also be deleted independently. This confirmation removes only the temporary one-dollar receipt and refreshes the total. The meal still has three linked purchases, so deleting the parent meal produces a restriction message. This protects the relationship between the catalog entry and its receipts. The original backend foundation and the integrated constraints work together here.</a:t>
            </a:r>
          </a:p>
          <a:p xmlns:a="http://schemas.openxmlformats.org/drawingml/2006/main">
            <a:r>
              <a:t/>
            </a:r>
          </a:p>
          <a:p xmlns:a="http://schemas.openxmlformats.org/drawingml/2006/main">
            <a:r>
              <a:t>## 6. Explain Lunch Lens and reset a draft</a:t>
            </a:r>
          </a:p>
          <a:p xmlns:a="http://schemas.openxmlformats.org/drawingml/2006/main">
            <a:r>
              <a:t/>
            </a:r>
          </a:p>
          <a:p xmlns:a="http://schemas.openxmlformats.org/drawingml/2006/main">
            <a:r>
              <a:t>**Show:** Open the meal's activity. Show Lunch Lens: earlier amounts **7.50, 4.50, 6.00**, mean **6.00**, last-price baseline **7.50**. Choose **Not now**, then **Show Lunch Lens**. Select **Start plan**, scroll to **Reset draft**, and confirm Reset. Do not save another receipt. Return to History to verify $18.00 remains.</a:t>
            </a:r>
          </a:p>
          <a:p xmlns:a="http://schemas.openxmlformats.org/drawingml/2006/main">
            <a:r>
              <a:t/>
            </a:r>
          </a:p>
          <a:p xmlns:a="http://schemas.openxmlformats.org/drawingml/2006/main">
            <a:r>
              <a:t>&gt; Lunch Lens now has enough earlier history. Its three amounts average six dollars, while the last-price baseline is seven dollars fifty. The card explains this calculation, and I can dismiss or reopen it. The helper does not enter the actual amount for me. Resetting this unsaved plan also leaves our three saved receipts and eighteen-dollar total unchanged.</a:t>
            </a:r>
          </a:p>
          <a:p xmlns:a="http://schemas.openxmlformats.org/drawingml/2006/main">
            <a:r>
              <a:t/>
            </a:r>
          </a:p>
          <a:p xmlns:a="http://schemas.openxmlformats.org/drawingml/2006/main">
            <a:r>
              <a:t>## 7. Preferences and an offline restart</a:t>
            </a:r>
          </a:p>
          <a:p xmlns:a="http://schemas.openxmlformats.org/drawingml/2006/main">
            <a:r>
              <a:t/>
            </a:r>
          </a:p>
          <a:p xmlns:a="http://schemas.openxmlformats.org/drawingml/2006/main">
            <a:r>
              <a:t>**Show:** In Settings move the budget slider from **10.00** to **13.50**, then enable dark mode. Turn on the emulator's airplane mode and explicitly turn Wi-Fi off. Open Android App info for Budget Bites, choose **Force stop** and confirm. Relaunch the app. Show $13.50 and dark mode in Settings. Open History and reselect Showcase Lunch to show three receipts and $18.00.</a:t>
            </a:r>
          </a:p>
          <a:p xmlns:a="http://schemas.openxmlformats.org/drawingml/2006/main">
            <a:r>
              <a:t/>
            </a:r>
          </a:p>
          <a:p xmlns:a="http://schemas.openxmlformats.org/drawingml/2006/main">
            <a:r>
              <a:t>&gt; Settings saves the budget and display preference locally. I am now turning off networking and restarting the app's process. After relaunch, the budget and dark mode remain saved. The three purchase records and their total are also still available. This demonstrates persistence through the running release app, with SQLite storing the records and SharedPreferences storing the simple settings.</a:t>
            </a:r>
          </a:p>
          <a:p xmlns:a="http://schemas.openxmlformats.org/drawingml/2006/main">
            <a:r>
              <a:t/>
            </a:r>
          </a:p>
          <a:p xmlns:a="http://schemas.openxmlformats.org/drawingml/2006/main">
            <a:r>
              <a:t>## 8. Close and invite questions</a:t>
            </a:r>
          </a:p>
          <a:p xmlns:a="http://schemas.openxmlformats.org/drawingml/2006/main">
            <a:r>
              <a:t/>
            </a:r>
          </a:p>
          <a:p xmlns:a="http://schemas.openxmlformats.org/drawingml/2006/main">
            <a:r>
              <a:t>**Show:** Keep History or the helper card visible, then return to the call or recording view.</a:t>
            </a:r>
          </a:p>
          <a:p xmlns:a="http://schemas.openxmlformats.org/drawingml/2006/main">
            <a:r>
              <a:t/>
            </a:r>
          </a:p>
          <a:p xmlns:a="http://schemas.openxmlformats.org/drawingml/2006/main">
            <a:r>
              <a:t>&gt; This completes the walkthrough of meal management, actual purchase history, the local helper and offline persistence. Thank you for watching. We are ready to answer questions about our individual work and the implementation.</a:t>
            </a:r>
          </a:p>
          <a:p xmlns:a="http://schemas.openxmlformats.org/drawingml/2006/main">
            <a:r>
              <a:t/>
            </a:r>
          </a:p>
          <a:p xmlns:a="http://schemas.openxmlformats.org/drawingml/2006/main">
            <a:r>
              <a:t>---</a:t>
            </a:r>
          </a:p>
          <a:p xmlns:a="http://schemas.openxmlformats.org/drawingml/2006/main">
            <a:r>
              <a:t/>
            </a:r>
          </a:p>
          <a:p xmlns:a="http://schemas.openxmlformats.org/drawingml/2006/main">
            <a:r>
              <a:t>## Rehearsal checks, not spoken</a:t>
            </a:r>
          </a:p>
          <a:p xmlns:a="http://schemas.openxmlformats.org/drawingml/2006/main">
            <a:r>
              <a:t/>
            </a:r>
          </a:p>
          <a:p xmlns:a="http://schemas.openxmlformats.org/drawingml/2006/main">
            <a:r>
              <a:t>- Verify the three receipts really are $6.00, $4.50 and $7.50 before showing the helper. Keep their timestamps earlier than the activity's selected time. Do not promise a fixed receipt ID.</a:t>
            </a:r>
          </a:p>
          <a:p xmlns:a="http://schemas.openxmlformats.org/drawingml/2006/main">
            <a:r>
              <a:t>- If other data exists, use the meal filter before citing the $18.00 total. A new installation intentionally has no purchase history.</a:t>
            </a:r>
          </a:p>
          <a:p xmlns:a="http://schemas.openxmlformats.org/drawingml/2006/main">
            <a:r>
              <a:t>- On an insufficient-history card, create the three demonstration receipts rather than claiming that an estimate is present.</a:t>
            </a:r>
          </a:p>
          <a:p xmlns:a="http://schemas.openxmlformats.org/drawingml/2006/main">
            <a:r>
              <a:t>- For an unlinked meal-delete example, create a separate temporary meal with no receipts, delete it and confirm. Do not remove the meal used for the persistence demonstration.</a:t>
            </a:r>
          </a:p>
          <a:p xmlns:a="http://schemas.openxmlformats.org/drawingml/2006/main">
            <a:r>
              <a:t>- If a control needs more time, continue describing the visible state. The steps are a rehearsal plan, not a claim that a new recording has already been completed.</a:t>
            </a:r>
          </a:p>
          <a:p xmlns:a="http://schemas.openxmlformats.org/drawingml/2006/main">
            <a:r>
              <a:t>- The earlier three silent emulator clips remain available as backups. This revision uses a live app demo after the slides.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a5ae36c6314e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2d7e1b93fd745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3866cbe92e45b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3b1399649d48c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9fa35aae14640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435f428d33644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f485f5a9994622" /><Relationship Type="http://schemas.openxmlformats.org/officeDocument/2006/relationships/slideLayout" Target="/ppt/slideLayouts/slideLayout1.xml" Id="R5be862c5885c4b85" /><Relationship Type="http://schemas.openxmlformats.org/officeDocument/2006/relationships/slideLayout" Target="/ppt/slideLayouts/slideLayout2.xml" Id="R2386279bae074e4a" /><Relationship Type="http://schemas.openxmlformats.org/officeDocument/2006/relationships/slideLayout" Target="/ppt/slideLayouts/slideLayout3.xml" Id="R84853fd1534848f4" /><Relationship Type="http://schemas.openxmlformats.org/officeDocument/2006/relationships/slideLayout" Target="/ppt/slideLayouts/slideLayout4.xml" Id="R426f19b080cc44a8" /><Relationship Type="http://schemas.openxmlformats.org/officeDocument/2006/relationships/slideLayout" Target="/ppt/slideLayouts/slideLayout5.xml" Id="R0cf20d769f994d08" /><Relationship Type="http://schemas.openxmlformats.org/officeDocument/2006/relationships/slideLayout" Target="/ppt/slideLayouts/slideLayout6.xml" Id="Rbd4bb788191948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e862c5885c4b85"/>
    <p:sldLayoutId xmlns:r="http://schemas.openxmlformats.org/officeDocument/2006/relationships" id="2147483650" r:id="R2386279bae074e4a"/>
    <p:sldLayoutId xmlns:r="http://schemas.openxmlformats.org/officeDocument/2006/relationships" id="2147483651" r:id="R84853fd1534848f4"/>
    <p:sldLayoutId xmlns:r="http://schemas.openxmlformats.org/officeDocument/2006/relationships" id="2147483652" r:id="R426f19b080cc44a8"/>
    <p:sldLayoutId xmlns:r="http://schemas.openxmlformats.org/officeDocument/2006/relationships" id="2147483653" r:id="R0cf20d769f994d08"/>
    <p:sldLayoutId xmlns:r="http://schemas.openxmlformats.org/officeDocument/2006/relationships" id="2147483654" r:id="Rbd4bb788191948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1066086e9a24636" /><Relationship Type="http://schemas.openxmlformats.org/officeDocument/2006/relationships/image" Target="/ppt/media/image.png" Id="R2d0dc4cb723e4f11" /><Relationship Type="http://schemas.openxmlformats.org/officeDocument/2006/relationships/image" Target="/ppt/media/image2.png" Id="Ra60d1400efdd463a" /><Relationship Type="http://schemas.openxmlformats.org/officeDocument/2006/relationships/notesSlide" Target="/ppt/notesSlides/notesSlide1.xml" Id="Rd11a7ec189b746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583e12d597a4bbf" /><Relationship Type="http://schemas.openxmlformats.org/officeDocument/2006/relationships/image" Target="/ppt/media/image3.png" Id="R95e1563983004836" /><Relationship Type="http://schemas.openxmlformats.org/officeDocument/2006/relationships/notesSlide" Target="/ppt/notesSlides/notesSlide2.xml" Id="R6cce6a63634241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e304cf0ea6744c6" /><Relationship Type="http://schemas.openxmlformats.org/officeDocument/2006/relationships/notesSlide" Target="/ppt/notesSlides/notesSlide3.xml" Id="Rced5fb593f664f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abaebc048e4da5" /><Relationship Type="http://schemas.openxmlformats.org/officeDocument/2006/relationships/image" Target="/ppt/media/image4.png" Id="R20f54b06f3594ade" /><Relationship Type="http://schemas.openxmlformats.org/officeDocument/2006/relationships/image" Target="/ppt/media/image5.png" Id="R511f047e1874418e" /><Relationship Type="http://schemas.openxmlformats.org/officeDocument/2006/relationships/image" Target="/ppt/media/image6.png" Id="R8fdfaed146c74edb" /><Relationship Type="http://schemas.openxmlformats.org/officeDocument/2006/relationships/image" Target="/ppt/media/image7.png" Id="R6afbce61c86d4b9f" /><Relationship Type="http://schemas.openxmlformats.org/officeDocument/2006/relationships/image" Target="/ppt/media/image8.png" Id="R9ffd963a9a944a22" /><Relationship Type="http://schemas.openxmlformats.org/officeDocument/2006/relationships/notesSlide" Target="/ppt/notesSlides/notesSlide4.xml" Id="R4a9b1f0ab8ab45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eb96398fa241ee" /><Relationship Type="http://schemas.openxmlformats.org/officeDocument/2006/relationships/notesSlide" Target="/ppt/notesSlides/notesSlide5.xml" Id="R66cc0243b09646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934894b0644466" /><Relationship Type="http://schemas.openxmlformats.org/officeDocument/2006/relationships/notesSlide" Target="/ppt/notesSlides/notesSlide6.xml" Id="R399c0ec1d5124a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6dff980808942e9" /><Relationship Type="http://schemas.openxmlformats.org/officeDocument/2006/relationships/notesSlide" Target="/ppt/notesSlides/notesSlide7.xml" Id="Rd0271128b98e48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fd28180926149d2" /><Relationship Type="http://schemas.openxmlformats.org/officeDocument/2006/relationships/image" Target="/ppt/media/image9.png" Id="R7769198ae4f94d88" /><Relationship Type="http://schemas.openxmlformats.org/officeDocument/2006/relationships/notesSlide" Target="/ppt/notesSlides/notesSlide8.xml" Id="Re24a858afeac46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4b37156a4bc4eba" /><Relationship Type="http://schemas.openxmlformats.org/officeDocument/2006/relationships/notesSlide" Target="/ppt/notesSlides/notesSlide9.xml" Id="R0d4c45d7469a4c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a2a22b702144295" /><Relationship Type="http://schemas.openxmlformats.org/officeDocument/2006/relationships/notesSlide" Target="/ppt/notesSlides/notesSlide10.xml" Id="R0c58cc9800f247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429eedd13774677" /><Relationship Type="http://schemas.openxmlformats.org/officeDocument/2006/relationships/notesSlide" Target="/ppt/notesSlides/notesSlide11.xml" Id="Re310fb35a3d14ac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d39e986e0284a54" /><Relationship Type="http://schemas.openxmlformats.org/officeDocument/2006/relationships/notesSlide" Target="/ppt/notesSlides/notesSlide12.xml" Id="Rb669556106074c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5ec3e63c4a24de7" /><Relationship Type="http://schemas.openxmlformats.org/officeDocument/2006/relationships/notesSlide" Target="/ppt/notesSlides/notesSlide13.xml" Id="Rdb095e115eea497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cb83c1d9050492f" /><Relationship Type="http://schemas.openxmlformats.org/officeDocument/2006/relationships/image" Target="/ppt/media/image10.png" Id="R9efefb12df8b4c09" /><Relationship Type="http://schemas.openxmlformats.org/officeDocument/2006/relationships/notesSlide" Target="/ppt/notesSlides/notesSlide14.xml" Id="Rf1775cd51bc848e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af021b26dd244e3" /><Relationship Type="http://schemas.openxmlformats.org/officeDocument/2006/relationships/notesSlide" Target="/ppt/notesSlides/notesSlide15.xml" Id="R3b541b4ee98147f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1b59b08fd09494c" /><Relationship Type="http://schemas.openxmlformats.org/officeDocument/2006/relationships/image" Target="/ppt/media/image11.png" Id="R175001f6bd384063" /><Relationship Type="http://schemas.openxmlformats.org/officeDocument/2006/relationships/image" Target="/ppt/media/image12.png" Id="R1301c351d6f241e1" /><Relationship Type="http://schemas.openxmlformats.org/officeDocument/2006/relationships/notesSlide" Target="/ppt/notesSlides/notesSlide16.xml" Id="Re7641c562be449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5f51f9664074815" /><Relationship Type="http://schemas.openxmlformats.org/officeDocument/2006/relationships/image" Target="/ppt/media/image13.png" Id="R63e5dd5e9a9749be" /><Relationship Type="http://schemas.openxmlformats.org/officeDocument/2006/relationships/notesSlide" Target="/ppt/notesSlides/notesSlide17.xml" Id="R3a2fa756d35949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430cca360974e90" /><Relationship Type="http://schemas.openxmlformats.org/officeDocument/2006/relationships/image" Target="/ppt/media/image14.png" Id="Re037737aa2cd4907" /><Relationship Type="http://schemas.openxmlformats.org/officeDocument/2006/relationships/image" Target="/ppt/media/image15.png" Id="Rf77e5282818f4f7e" /><Relationship Type="http://schemas.openxmlformats.org/officeDocument/2006/relationships/notesSlide" Target="/ppt/notesSlides/notesSlide18.xml" Id="R1726ab2c60b945a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130fef7646b4a8b" /><Relationship Type="http://schemas.openxmlformats.org/officeDocument/2006/relationships/image" Target="/ppt/media/image16.png" Id="R50a1dddac0144e60" /><Relationship Type="http://schemas.openxmlformats.org/officeDocument/2006/relationships/notesSlide" Target="/ppt/notesSlides/notesSlide19.xml" Id="R72781a2ab81c41f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a61cfebcfcd46e8" /><Relationship Type="http://schemas.openxmlformats.org/officeDocument/2006/relationships/notesSlide" Target="/ppt/notesSlides/notesSlide20.xml" Id="R0dd333f4f57647b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52ac6368211485a" /><Relationship Type="http://schemas.openxmlformats.org/officeDocument/2006/relationships/notesSlide" Target="/ppt/notesSlides/notesSlide21.xml" Id="R9c740417133e44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e22404471b44637" /><Relationship Type="http://schemas.openxmlformats.org/officeDocument/2006/relationships/chart" Target="/ppt/slides/charts/chart1.xml" Id="R1c8a1cf7f4454d06" /><Relationship Type="http://schemas.openxmlformats.org/officeDocument/2006/relationships/notesSlide" Target="/ppt/notesSlides/notesSlide22.xml" Id="Ra187261d00da41a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7066b5f651b45f9" /><Relationship Type="http://schemas.openxmlformats.org/officeDocument/2006/relationships/notesSlide" Target="/ppt/notesSlides/notesSlide23.xml" Id="Rd483433a10d6422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b8a757352b444cf" /><Relationship Type="http://schemas.openxmlformats.org/officeDocument/2006/relationships/image" Target="/ppt/media/image17.png" Id="R145d925432ef4dfc" /><Relationship Type="http://schemas.openxmlformats.org/officeDocument/2006/relationships/image" Target="/ppt/media/image18.png" Id="R05df3c945c654d9b" /><Relationship Type="http://schemas.openxmlformats.org/officeDocument/2006/relationships/notesSlide" Target="/ppt/notesSlides/notesSlide24.xml" Id="R0497ab6e303548a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160917e06394e22" /><Relationship Type="http://schemas.openxmlformats.org/officeDocument/2006/relationships/notesSlide" Target="/ppt/notesSlides/notesSlide25.xml" Id="Reec52da904594e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8d23a35ced04b70" /><Relationship Type="http://schemas.openxmlformats.org/officeDocument/2006/relationships/notesSlide" Target="/ppt/notesSlides/notesSlide26.xml" Id="R1370c390d03f4e6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84bd9ec00c24ebc" /><Relationship Type="http://schemas.openxmlformats.org/officeDocument/2006/relationships/hyperlink" Target="https://github.com/Omswaroopreddyudumula/ajxom-budget-bites" TargetMode="External" Id="R0cbf5c73a925481b" /><Relationship Type="http://schemas.openxmlformats.org/officeDocument/2006/relationships/notesSlide" Target="/ppt/notesSlides/notesSlide27.xml" Id="Rdbb24a8562ed4ac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146ddbb0e9a4ccd" /><Relationship Type="http://schemas.openxmlformats.org/officeDocument/2006/relationships/image" Target="/ppt/media/image19.png" Id="R92a8b56c04514485" /><Relationship Type="http://schemas.openxmlformats.org/officeDocument/2006/relationships/notesSlide" Target="/ppt/notesSlides/notesSlide28.xml" Id="Rb78dcf7ade53479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52B25"/>
                </a:solidFill>
                <a:latin typeface="Arial"/>
                <a:ea typeface="Arial"/>
                <a:cs typeface="Arial"/>
              </a:rPr>
              <a:t>Mean absolute error (cents)</a:t>
            </a:r>
          </a:p>
        </c:rich>
      </c:tx>
      <c:overlay val="0"/>
      <c:txPr>
        <a:bodyPr xmlns:a="http://schemas.openxmlformats.org/drawingml/2006/main" anchorCtr="1"/>
        <a:lstStyle xmlns:a="http://schemas.openxmlformats.org/drawingml/2006/main"/>
        <a:p xmlns:a="http://schemas.openxmlformats.org/drawingml/2006/main">
          <a:pPr>
            <a:defRPr sz="1725" b="1">
              <a:solidFill>
                <a:srgbClr val="152B25"/>
              </a:solidFill>
              <a:latin typeface="Arial"/>
              <a:ea typeface="Arial"/>
              <a:cs typeface="Arial"/>
            </a:defRPr>
          </a:pPr>
        </a:p>
      </c:txPr>
    </c:title>
    <c:plotArea>
      <c:barChart>
        <c:barDir val="col"/>
        <c:grouping val="clustered"/>
        <c:varyColors val="0"/>
        <c:ser>
          <c:idx val="0"/>
          <c:order val="0"/>
          <c:tx>
            <c:v>Error in cents</c:v>
          </c:tx>
          <c:spPr>
            <a:solidFill xmlns:a="http://schemas.openxmlformats.org/drawingml/2006/main">
              <a:srgbClr val="176452"/>
            </a:solidFill>
          </c:spPr>
          <c:invertIfNegative val="0"/>
          <c:dPt>
            <c:idx val="0"/>
            <c:invertIfNegative val="0"/>
            <c:spPr>
              <a:solidFill xmlns:a="http://schemas.openxmlformats.org/drawingml/2006/main">
                <a:srgbClr val="C77C34"/>
              </a:solidFill>
            </c:spPr>
          </c:dPt>
          <c:dPt>
            <c:idx val="1"/>
            <c:invertIfNegative val="0"/>
            <c:spPr>
              <a:solidFill xmlns:a="http://schemas.openxmlformats.org/drawingml/2006/main">
                <a:srgbClr val="176452"/>
              </a:solidFill>
            </c:spPr>
          </c:dPt>
          <c:cat>
            <c:strRef>
              <c:f>'Chart Data'!$A$2:$A$3</c:f>
              <c:strCache>
                <c:ptCount val="2"/>
                <c:pt idx="0">
                  <c:v>Mean</c:v>
                </c:pt>
                <c:pt idx="1">
                  <c:v>Last price</c:v>
                </c:pt>
              </c:strCache>
            </c:strRef>
          </c:cat>
          <c:val>
            <c:numRef>
              <c:f>'Chart Data'!$B$2:$B$3</c:f>
              <c:numCache>
                <c:formatCode>General</c:formatCode>
                <c:ptCount val="2"/>
                <c:pt idx="0">
                  <c:v>183.33</c:v>
                </c:pt>
                <c:pt idx="1">
                  <c:v>33.67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52B25"/>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9BBB1"/>
            </a:solidFill>
          </a:ln>
        </c:spPr>
        <c:txPr>
          <a:bodyPr xmlns:a="http://schemas.openxmlformats.org/drawingml/2006/main" anchorCtr="1"/>
          <a:lstStyle xmlns:a="http://schemas.openxmlformats.org/drawingml/2006/main"/>
          <a:p xmlns:a="http://schemas.openxmlformats.org/drawingml/2006/main">
            <a:pPr>
              <a:defRPr sz="1650">
                <a:solidFill>
                  <a:srgbClr val="152B25"/>
                </a:solidFill>
                <a:latin typeface="Arial"/>
                <a:ea typeface="Arial"/>
                <a:cs typeface="Arial"/>
              </a:defRPr>
            </a:pPr>
          </a:p>
        </c:txPr>
        <c:crossAx val="48672768"/>
      </c:catAx>
      <c:valAx>
        <c:axId val="48672768"/>
        <c:scaling>
          <c:orientation val="minMax"/>
          <c:max val="220"/>
          <c:min val="0"/>
        </c:scaling>
        <c:delete val="0"/>
        <c:axPos val="l"/>
        <c:majorGridlines>
          <c:spPr>
            <a:ln xmlns:a="http://schemas.openxmlformats.org/drawingml/2006/main" w="9525">
              <a:solidFill>
                <a:srgbClr val="D2DDD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4B6259"/>
                </a:solidFill>
                <a:latin typeface="Arial"/>
                <a:ea typeface="Arial"/>
                <a:cs typeface="Arial"/>
              </a:defRPr>
            </a:pPr>
          </a:p>
        </c:txPr>
        <c:crossAx val="48650112"/>
        <c:crossBetween val="between"/>
        <c:majorUnit val="50"/>
      </c:valAx>
      <c:spPr>
        <a:solidFill xmlns:a="http://schemas.openxmlformats.org/drawingml/2006/main">
          <a:srgbClr val="F6FAF7"/>
        </a:solidFill>
      </c:spPr>
    </c:plotArea>
    <c:plotVisOnly val="1"/>
  </c:chart>
  <c:spPr>
    <a:solidFill xmlns:a="http://schemas.openxmlformats.org/drawingml/2006/main">
      <a:srgbClr val="F6FAF7"/>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F3E4DE-0F86-4CE2-A347-8CD576D76BB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8A3B4875-F0BC-4BC4-908C-E8544ED693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vl1pPr>
              <a:buNone/>
              <a:defRPr sz="3900" b="1">
                <a:solidFill>
                  <a:srgbClr val="FFFFFF"/>
                </a:solidFill>
                <a:latin typeface="Arial"/>
                <a:ea typeface="Arial"/>
                <a:cs typeface="Arial"/>
              </a:defRPr>
            </a:lvl1pPr>
            <a:lvl2pPr>
              <a:buNone/>
              <a:defRPr sz="3900" b="1">
                <a:solidFill>
                  <a:srgbClr val="FFFFFF"/>
                </a:solidFill>
                <a:latin typeface="Arial"/>
                <a:ea typeface="Arial"/>
                <a:cs typeface="Arial"/>
              </a:defRPr>
            </a:lvl2pPr>
            <a:lvl3pPr>
              <a:buNone/>
              <a:defRPr sz="3900" b="1">
                <a:solidFill>
                  <a:srgbClr val="FFFFFF"/>
                </a:solidFill>
                <a:latin typeface="Arial"/>
                <a:ea typeface="Arial"/>
                <a:cs typeface="Arial"/>
              </a:defRPr>
            </a:lvl3pPr>
            <a:lvl4pPr>
              <a:buNone/>
              <a:defRPr sz="3900" b="1">
                <a:solidFill>
                  <a:srgbClr val="FFFFFF"/>
                </a:solidFill>
                <a:latin typeface="Arial"/>
                <a:ea typeface="Arial"/>
                <a:cs typeface="Arial"/>
              </a:defRPr>
            </a:lvl4pPr>
            <a:lvl5pPr>
              <a:buNone/>
              <a:defRPr sz="3900" b="1">
                <a:solidFill>
                  <a:srgbClr val="FFFFFF"/>
                </a:solidFill>
                <a:latin typeface="Arial"/>
                <a:ea typeface="Arial"/>
                <a:cs typeface="Arial"/>
              </a:defRPr>
            </a:lvl5pPr>
            <a:lvl6pPr>
              <a:buNone/>
              <a:defRPr sz="3900" b="1">
                <a:solidFill>
                  <a:srgbClr val="FFFFFF"/>
                </a:solidFill>
                <a:latin typeface="Arial"/>
                <a:ea typeface="Arial"/>
                <a:cs typeface="Arial"/>
              </a:defRPr>
            </a:lvl6pPr>
            <a:lvl7pPr>
              <a:buNone/>
              <a:defRPr sz="3900" b="1">
                <a:solidFill>
                  <a:srgbClr val="FFFFFF"/>
                </a:solidFill>
                <a:latin typeface="Arial"/>
                <a:ea typeface="Arial"/>
                <a:cs typeface="Arial"/>
              </a:defRPr>
            </a:lvl7pPr>
            <a:lvl8pPr>
              <a:buNone/>
              <a:defRPr sz="3900" b="1">
                <a:solidFill>
                  <a:srgbClr val="FFFFFF"/>
                </a:solidFill>
                <a:latin typeface="Arial"/>
                <a:ea typeface="Arial"/>
                <a:cs typeface="Arial"/>
              </a:defRPr>
            </a:lvl8pPr>
            <a:lvl9pPr>
              <a:buNone/>
              <a:defRPr sz="3900" b="1">
                <a:solidFill>
                  <a:srgbClr val="FFFFFF"/>
                </a:solidFill>
                <a:latin typeface="Arial"/>
                <a:ea typeface="Arial"/>
                <a:cs typeface="Arial"/>
              </a:defRPr>
            </a:lvl9pPr>
          </a:lstStyle>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Budget Bites</a:t>
            </a:r>
          </a:p>
        </p:txBody>
      </p:sp>
      <p:sp>
        <p:nvSpPr>
          <p:cNvPr id="3" name="">
            <a:extLst xmlns:a="http://schemas.openxmlformats.org/drawingml/2006/main">
              <a:ext uri="{FF2B5EF4-FFF2-40B4-BE49-F238E27FC236}">
                <a16:creationId xmlns:a16="http://schemas.microsoft.com/office/drawing/2014/main" id="{B0A4BD2F-D067-4B50-82BF-E985326D4D0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61E314FA-F6A0-4635-89B8-DA562B3565C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6524366F-9764-43B4-97A7-19E22873384A}"/>
              </a:ext>
            </a:extLst>
          </p:cNvPr>
          <p:cNvSpPr>
            <a:spLocks xmlns:a="http://schemas.openxmlformats.org/drawingml/2006/main" noGrp="1"/>
          </p:cNvSpPr>
          <p:nvPr/>
        </p:nvSpPr>
        <p:spPr>
          <a:xfrm xmlns:a="http://schemas.openxmlformats.org/drawingml/2006/main">
            <a:off x="609600" y="1828800"/>
            <a:ext cx="7048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Our goal connects a planned lunch cost with an actual purchase, allowing students to compare their expectations with what they paid.</a:t>
            </a:r>
          </a:p>
        </p:txBody>
      </p:sp>
      <p:pic>
        <p:nvPicPr>
          <p:cNvPr id="6" name="">
            <a:extLst xmlns:a="http://schemas.openxmlformats.org/drawingml/2006/main">
              <a:ext uri="{FF2B5EF4-FFF2-40B4-BE49-F238E27FC236}">
                <a16:creationId xmlns:a16="http://schemas.microsoft.com/office/drawing/2014/main" id="{1D5AE7B8-C70D-4B47-ADAA-2DA938B4F28F}"/>
              </a:ext>
            </a:extLst>
          </p:cNvPr>
          <p:cNvPicPr>
            <a:picLocks xmlns:a="http://schemas.openxmlformats.org/drawingml/2006/main" noChangeAspect="1"/>
          </p:cNvPicPr>
          <p:nvPr/>
        </p:nvPicPr>
        <p:blipFill>
          <a:blip xmlns:r="http://schemas.openxmlformats.org/officeDocument/2006/relationships" xmlns:a="http://schemas.openxmlformats.org/drawingml/2006/main" r:embed="R2d0dc4cb723e4f11"/>
          <a:stretch xmlns:a="http://schemas.openxmlformats.org/drawingml/2006/main"/>
        </p:blipFill>
        <p:spPr>
          <a:xfrm xmlns:a="http://schemas.openxmlformats.org/drawingml/2006/main">
            <a:off x="8239125" y="1686983"/>
            <a:ext cx="1704975" cy="3788833"/>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B8FD0BF7-E571-418E-AABC-9ABD50F6F176}"/>
              </a:ext>
            </a:extLst>
          </p:cNvPr>
          <p:cNvPicPr>
            <a:picLocks xmlns:a="http://schemas.openxmlformats.org/drawingml/2006/main" noChangeAspect="1"/>
          </p:cNvPicPr>
          <p:nvPr/>
        </p:nvPicPr>
        <p:blipFill>
          <a:blip xmlns:r="http://schemas.openxmlformats.org/officeDocument/2006/relationships" xmlns:a="http://schemas.openxmlformats.org/drawingml/2006/main" r:embed="Ra60d1400efdd463a"/>
          <a:stretch xmlns:a="http://schemas.openxmlformats.org/drawingml/2006/main"/>
        </p:blipFill>
        <p:spPr>
          <a:xfrm xmlns:a="http://schemas.openxmlformats.org/drawingml/2006/main">
            <a:off x="9953625" y="2134658"/>
            <a:ext cx="1704975" cy="3788833"/>
          </a:xfrm>
          <a:prstGeom xmlns:a="http://schemas.openxmlformats.org/drawingml/2006/main" prst="rect">
            <a:avLst/>
          </a:prstGeom>
        </p:spPr>
      </p:pic>
    </p:spTree>
    <p:extLst>
      <p:ext uri="{BB962C8B-B14F-4D97-AF65-F5344CB8AC3E}">
        <p14:creationId xmlns:p14="http://schemas.microsoft.com/office/powerpoint/2010/main" val="1201472857"/>
      </p:ext>
    </p:extLst>
  </p:cSld>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26AB61-D879-40B3-B80F-B840F71D2E3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7E7BEBAA-401D-46D5-9714-F38270BC41B4}"/>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Chosen prompt and student problem</a:t>
            </a:r>
          </a:p>
        </p:txBody>
      </p:sp>
      <p:sp>
        <p:nvSpPr>
          <p:cNvPr id="3" name="">
            <a:extLst xmlns:a="http://schemas.openxmlformats.org/drawingml/2006/main">
              <a:ext uri="{FF2B5EF4-FFF2-40B4-BE49-F238E27FC236}">
                <a16:creationId xmlns:a16="http://schemas.microsoft.com/office/drawing/2014/main" id="{86EE442D-D4EA-4FA2-BC51-7DB13F5FD30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EA40DD1-FE7D-4356-A994-0077E475406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567F7A-37C2-4FD6-AB16-765573C5CBBE}"/>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application uses locally entered information and fictional starter meals. Venue notes and prices come from the user, and live restaurant price verification is outside our scope.</a:t>
            </a:r>
          </a:p>
        </p:txBody>
      </p:sp>
      <p:sp>
        <p:nvSpPr>
          <p:cNvPr id="6" name="">
            <a:extLst xmlns:a="http://schemas.openxmlformats.org/drawingml/2006/main">
              <a:ext uri="{FF2B5EF4-FFF2-40B4-BE49-F238E27FC236}">
                <a16:creationId xmlns:a16="http://schemas.microsoft.com/office/drawing/2014/main" id="{F1B0BF83-1A88-4BF0-ABD4-4196A848C24E}"/>
              </a:ext>
            </a:extLst>
          </p:cNvPr>
          <p:cNvSpPr>
            <a:spLocks xmlns:a="http://schemas.openxmlformats.org/drawingml/2006/main" noGrp="1"/>
          </p:cNvSpPr>
          <p:nvPr/>
        </p:nvSpPr>
        <p:spPr>
          <a:xfrm xmlns:a="http://schemas.openxmlformats.org/drawingml/2006/main">
            <a:off x="7848600" y="176212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A catalog estimate</a:t>
            </a:r>
          </a:p>
        </p:txBody>
      </p:sp>
      <p:pic>
        <p:nvPicPr>
          <p:cNvPr id="7" name="">
            <a:extLst xmlns:a="http://schemas.openxmlformats.org/drawingml/2006/main">
              <a:ext uri="{FF2B5EF4-FFF2-40B4-BE49-F238E27FC236}">
                <a16:creationId xmlns:a16="http://schemas.microsoft.com/office/drawing/2014/main" id="{CFAA675D-67C3-4257-9961-8371648C3803}"/>
              </a:ext>
            </a:extLst>
          </p:cNvPr>
          <p:cNvPicPr>
            <a:picLocks xmlns:a="http://schemas.openxmlformats.org/drawingml/2006/main" noChangeAspect="1"/>
          </p:cNvPicPr>
          <p:nvPr/>
        </p:nvPicPr>
        <p:blipFill>
          <a:blip xmlns:r="http://schemas.openxmlformats.org/officeDocument/2006/relationships" xmlns:a="http://schemas.openxmlformats.org/drawingml/2006/main" r:embed="R95e1563983004836"/>
          <a:srcRect xmlns:a="http://schemas.openxmlformats.org/drawingml/2006/main" l="4000" t="58000" r="4000" b="17000"/>
          <a:stretch xmlns:a="http://schemas.openxmlformats.org/drawingml/2006/main"/>
        </p:blipFill>
        <p:spPr>
          <a:xfrm xmlns:a="http://schemas.openxmlformats.org/drawingml/2006/main">
            <a:off x="7810500" y="2362200"/>
            <a:ext cx="3714750" cy="22479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248B101-C1EE-492C-93FC-FEE62B1C5422}"/>
              </a:ext>
            </a:extLst>
          </p:cNvPr>
          <p:cNvSpPr>
            <a:spLocks xmlns:a="http://schemas.openxmlformats.org/drawingml/2006/main" noGrp="1"/>
          </p:cNvSpPr>
          <p:nvPr/>
        </p:nvSpPr>
        <p:spPr>
          <a:xfrm xmlns:a="http://schemas.openxmlformats.org/drawingml/2006/main">
            <a:off x="7848600" y="523875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User-entered meal notes and prices</a:t>
            </a:r>
          </a:p>
        </p:txBody>
      </p:sp>
    </p:spTree>
    <p:extLst>
      <p:ext uri="{BB962C8B-B14F-4D97-AF65-F5344CB8AC3E}">
        <p14:creationId xmlns:p14="http://schemas.microsoft.com/office/powerpoint/2010/main" val="503989069"/>
      </p:ext>
    </p:extLst>
  </p:cSld>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25E89C-9F25-4835-8B6A-59E954A960C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3AB50C5C-B0AD-497C-B0B9-3926B20006A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Requirements and project scope</a:t>
            </a:r>
          </a:p>
        </p:txBody>
      </p:sp>
      <p:sp>
        <p:nvSpPr>
          <p:cNvPr id="3" name="">
            <a:extLst xmlns:a="http://schemas.openxmlformats.org/drawingml/2006/main">
              <a:ext uri="{FF2B5EF4-FFF2-40B4-BE49-F238E27FC236}">
                <a16:creationId xmlns:a16="http://schemas.microsoft.com/office/drawing/2014/main" id="{332BA7B1-5436-4F2C-8D35-F1A60E6BB814}"/>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8246A20-7AFE-402D-8D8F-6DD4AD13137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3E15398-141F-4794-9755-54B3BDD4A41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p:txBody>
      </p:sp>
      <p:sp>
        <p:nvSpPr>
          <p:cNvPr id="6" name="">
            <a:extLst xmlns:a="http://schemas.openxmlformats.org/drawingml/2006/main">
              <a:ext uri="{FF2B5EF4-FFF2-40B4-BE49-F238E27FC236}">
                <a16:creationId xmlns:a16="http://schemas.microsoft.com/office/drawing/2014/main" id="{DB661B3C-566A-4874-84C4-979EA24BD275}"/>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p:txBody>
      </p:sp>
      <p:sp>
        <p:nvSpPr>
          <p:cNvPr id="7" name="">
            <a:extLst xmlns:a="http://schemas.openxmlformats.org/drawingml/2006/main">
              <a:ext uri="{FF2B5EF4-FFF2-40B4-BE49-F238E27FC236}">
                <a16:creationId xmlns:a16="http://schemas.microsoft.com/office/drawing/2014/main" id="{32E87C37-20A2-46E4-B0E2-5CD12B39280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Lunch Lens estimates a possible next cost from earlier purchases. It explains its inputs, allows dismissal and compares the estimate with the last observed price.</a:t>
            </a:r>
          </a:p>
        </p:txBody>
      </p:sp>
    </p:spTree>
    <p:extLst>
      <p:ext uri="{BB962C8B-B14F-4D97-AF65-F5344CB8AC3E}">
        <p14:creationId xmlns:p14="http://schemas.microsoft.com/office/powerpoint/2010/main" val="1693026170"/>
      </p:ext>
    </p:extLst>
  </p:cSld>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7BFAEB-F5C2-4AD2-B97A-A357DE5B7F6A}"/>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9D9530EA-3409-40DC-96C0-5515C7F1E2A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screens, one meal journey</a:t>
            </a:r>
          </a:p>
        </p:txBody>
      </p:sp>
      <p:sp>
        <p:nvSpPr>
          <p:cNvPr id="3" name="">
            <a:extLst xmlns:a="http://schemas.openxmlformats.org/drawingml/2006/main">
              <a:ext uri="{FF2B5EF4-FFF2-40B4-BE49-F238E27FC236}">
                <a16:creationId xmlns:a16="http://schemas.microsoft.com/office/drawing/2014/main" id="{9AF4490F-A10E-4F2D-A72D-833A19F024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37BB1B3-75B5-4751-B22A-15860DA87A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E68FF4E9-A8F8-4A37-885A-39E32E672868}"/>
              </a:ext>
            </a:extLst>
          </p:cNvPr>
          <p:cNvSpPr>
            <a:spLocks xmlns:a="http://schemas.openxmlformats.org/drawingml/2006/main" noGrp="1"/>
          </p:cNvSpPr>
          <p:nvPr/>
        </p:nvSpPr>
        <p:spPr>
          <a:xfrm xmlns:a="http://schemas.openxmlformats.org/drawingml/2006/main">
            <a:off x="6667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Catalog</a:t>
            </a:r>
          </a:p>
        </p:txBody>
      </p:sp>
      <p:pic>
        <p:nvPicPr>
          <p:cNvPr id="6" name="">
            <a:extLst xmlns:a="http://schemas.openxmlformats.org/drawingml/2006/main">
              <a:ext uri="{FF2B5EF4-FFF2-40B4-BE49-F238E27FC236}">
                <a16:creationId xmlns:a16="http://schemas.microsoft.com/office/drawing/2014/main" id="{29DB429B-4A59-4773-97A2-B1CACFE64490}"/>
              </a:ext>
            </a:extLst>
          </p:cNvPr>
          <p:cNvPicPr>
            <a:picLocks xmlns:a="http://schemas.openxmlformats.org/drawingml/2006/main" noChangeAspect="1"/>
          </p:cNvPicPr>
          <p:nvPr/>
        </p:nvPicPr>
        <p:blipFill>
          <a:blip xmlns:r="http://schemas.openxmlformats.org/officeDocument/2006/relationships" xmlns:a="http://schemas.openxmlformats.org/drawingml/2006/main" r:embed="R20f54b06f3594ade"/>
          <a:stretch xmlns:a="http://schemas.openxmlformats.org/drawingml/2006/main"/>
        </p:blipFill>
        <p:spPr>
          <a:xfrm xmlns:a="http://schemas.openxmlformats.org/drawingml/2006/main">
            <a:off x="666750" y="1887008"/>
            <a:ext cx="1790700" cy="397933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2EA9F9-6892-4E03-B6AF-01CC5A2FE226}"/>
              </a:ext>
            </a:extLst>
          </p:cNvPr>
          <p:cNvSpPr>
            <a:spLocks xmlns:a="http://schemas.openxmlformats.org/drawingml/2006/main" noGrp="1"/>
          </p:cNvSpPr>
          <p:nvPr/>
        </p:nvSpPr>
        <p:spPr>
          <a:xfrm xmlns:a="http://schemas.openxmlformats.org/drawingml/2006/main">
            <a:off x="29146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Create / edit</a:t>
            </a:r>
          </a:p>
        </p:txBody>
      </p:sp>
      <p:pic>
        <p:nvPicPr>
          <p:cNvPr id="8" name="">
            <a:extLst xmlns:a="http://schemas.openxmlformats.org/drawingml/2006/main">
              <a:ext uri="{FF2B5EF4-FFF2-40B4-BE49-F238E27FC236}">
                <a16:creationId xmlns:a16="http://schemas.microsoft.com/office/drawing/2014/main" id="{A536199A-D513-4388-867A-8A1C777FA757}"/>
              </a:ext>
            </a:extLst>
          </p:cNvPr>
          <p:cNvPicPr>
            <a:picLocks xmlns:a="http://schemas.openxmlformats.org/drawingml/2006/main" noChangeAspect="1"/>
          </p:cNvPicPr>
          <p:nvPr/>
        </p:nvPicPr>
        <p:blipFill>
          <a:blip xmlns:r="http://schemas.openxmlformats.org/officeDocument/2006/relationships" xmlns:a="http://schemas.openxmlformats.org/drawingml/2006/main" r:embed="R511f047e1874418e"/>
          <a:stretch xmlns:a="http://schemas.openxmlformats.org/drawingml/2006/main"/>
        </p:blipFill>
        <p:spPr>
          <a:xfrm xmlns:a="http://schemas.openxmlformats.org/drawingml/2006/main">
            <a:off x="2914650" y="1887008"/>
            <a:ext cx="1790700" cy="397933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84060FD-4DD9-4848-A726-1A7A39736F98}"/>
              </a:ext>
            </a:extLst>
          </p:cNvPr>
          <p:cNvSpPr>
            <a:spLocks xmlns:a="http://schemas.openxmlformats.org/drawingml/2006/main" noGrp="1"/>
          </p:cNvSpPr>
          <p:nvPr/>
        </p:nvSpPr>
        <p:spPr>
          <a:xfrm xmlns:a="http://schemas.openxmlformats.org/drawingml/2006/main">
            <a:off x="51625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Meal activity</a:t>
            </a:r>
          </a:p>
        </p:txBody>
      </p:sp>
      <p:pic>
        <p:nvPicPr>
          <p:cNvPr id="10" name="">
            <a:extLst xmlns:a="http://schemas.openxmlformats.org/drawingml/2006/main">
              <a:ext uri="{FF2B5EF4-FFF2-40B4-BE49-F238E27FC236}">
                <a16:creationId xmlns:a16="http://schemas.microsoft.com/office/drawing/2014/main" id="{13126ED0-8C47-4C22-B9AB-7AFC7D93E906}"/>
              </a:ext>
            </a:extLst>
          </p:cNvPr>
          <p:cNvPicPr>
            <a:picLocks xmlns:a="http://schemas.openxmlformats.org/drawingml/2006/main" noChangeAspect="1"/>
          </p:cNvPicPr>
          <p:nvPr/>
        </p:nvPicPr>
        <p:blipFill>
          <a:blip xmlns:r="http://schemas.openxmlformats.org/officeDocument/2006/relationships" xmlns:a="http://schemas.openxmlformats.org/drawingml/2006/main" r:embed="R8fdfaed146c74edb"/>
          <a:stretch xmlns:a="http://schemas.openxmlformats.org/drawingml/2006/main"/>
        </p:blipFill>
        <p:spPr>
          <a:xfrm xmlns:a="http://schemas.openxmlformats.org/drawingml/2006/main">
            <a:off x="5162550" y="1887008"/>
            <a:ext cx="1790700" cy="397933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0CC221E-6B2D-44D5-94F5-5583ABE74AAF}"/>
              </a:ext>
            </a:extLst>
          </p:cNvPr>
          <p:cNvSpPr>
            <a:spLocks xmlns:a="http://schemas.openxmlformats.org/drawingml/2006/main" noGrp="1"/>
          </p:cNvSpPr>
          <p:nvPr/>
        </p:nvSpPr>
        <p:spPr>
          <a:xfrm xmlns:a="http://schemas.openxmlformats.org/drawingml/2006/main">
            <a:off x="74104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Purchase log</a:t>
            </a:r>
          </a:p>
        </p:txBody>
      </p:sp>
      <p:pic>
        <p:nvPicPr>
          <p:cNvPr id="12" name="">
            <a:extLst xmlns:a="http://schemas.openxmlformats.org/drawingml/2006/main">
              <a:ext uri="{FF2B5EF4-FFF2-40B4-BE49-F238E27FC236}">
                <a16:creationId xmlns:a16="http://schemas.microsoft.com/office/drawing/2014/main" id="{335141B5-461F-4500-9D0D-51BF1566312D}"/>
              </a:ext>
            </a:extLst>
          </p:cNvPr>
          <p:cNvPicPr>
            <a:picLocks xmlns:a="http://schemas.openxmlformats.org/drawingml/2006/main" noChangeAspect="1"/>
          </p:cNvPicPr>
          <p:nvPr/>
        </p:nvPicPr>
        <p:blipFill>
          <a:blip xmlns:r="http://schemas.openxmlformats.org/officeDocument/2006/relationships" xmlns:a="http://schemas.openxmlformats.org/drawingml/2006/main" r:embed="R6afbce61c86d4b9f"/>
          <a:stretch xmlns:a="http://schemas.openxmlformats.org/drawingml/2006/main"/>
        </p:blipFill>
        <p:spPr>
          <a:xfrm xmlns:a="http://schemas.openxmlformats.org/drawingml/2006/main">
            <a:off x="7410450" y="1887008"/>
            <a:ext cx="1790700" cy="397933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527B0E-E4D8-43E2-BB69-E89C84BE91B6}"/>
              </a:ext>
            </a:extLst>
          </p:cNvPr>
          <p:cNvSpPr>
            <a:spLocks xmlns:a="http://schemas.openxmlformats.org/drawingml/2006/main" noGrp="1"/>
          </p:cNvSpPr>
          <p:nvPr/>
        </p:nvSpPr>
        <p:spPr>
          <a:xfrm xmlns:a="http://schemas.openxmlformats.org/drawingml/2006/main">
            <a:off x="96583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Settings</a:t>
            </a:r>
          </a:p>
        </p:txBody>
      </p:sp>
      <p:pic>
        <p:nvPicPr>
          <p:cNvPr id="14" name="">
            <a:extLst xmlns:a="http://schemas.openxmlformats.org/drawingml/2006/main">
              <a:ext uri="{FF2B5EF4-FFF2-40B4-BE49-F238E27FC236}">
                <a16:creationId xmlns:a16="http://schemas.microsoft.com/office/drawing/2014/main" id="{25D7885C-4A4C-4510-BD18-E57602F3E931}"/>
              </a:ext>
            </a:extLst>
          </p:cNvPr>
          <p:cNvPicPr>
            <a:picLocks xmlns:a="http://schemas.openxmlformats.org/drawingml/2006/main" noChangeAspect="1"/>
          </p:cNvPicPr>
          <p:nvPr/>
        </p:nvPicPr>
        <p:blipFill>
          <a:blip xmlns:r="http://schemas.openxmlformats.org/officeDocument/2006/relationships" xmlns:a="http://schemas.openxmlformats.org/drawingml/2006/main" r:embed="R9ffd963a9a944a22"/>
          <a:stretch xmlns:a="http://schemas.openxmlformats.org/drawingml/2006/main"/>
        </p:blipFill>
        <p:spPr>
          <a:xfrm xmlns:a="http://schemas.openxmlformats.org/drawingml/2006/main">
            <a:off x="9658350" y="1887008"/>
            <a:ext cx="1790700" cy="3979333"/>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2B342850-BF5F-41F8-BC4C-97DA19AF8BED}"/>
              </a:ext>
            </a:extLst>
          </p:cNvPr>
          <p:cNvSpPr>
            <a:spLocks xmlns:a="http://schemas.openxmlformats.org/drawingml/2006/main" noGrp="1"/>
          </p:cNvSpPr>
          <p:nvPr/>
        </p:nvSpPr>
        <p:spPr>
          <a:xfrm xmlns:a="http://schemas.openxmlformats.org/drawingml/2006/main">
            <a:off x="666750" y="60007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buNone/>
              <a:defRPr sz="1500" b="0">
                <a:solidFill>
                  <a:srgbClr val="4B6259"/>
                </a:solidFill>
                <a:latin typeface="Arial"/>
                <a:ea typeface="Arial"/>
                <a:cs typeface="Arial"/>
              </a:defRPr>
            </a:lvl1pPr>
            <a:lvl2pPr>
              <a:buNone/>
              <a:defRPr sz="1500" b="0">
                <a:solidFill>
                  <a:srgbClr val="4B6259"/>
                </a:solidFill>
                <a:latin typeface="Arial"/>
                <a:ea typeface="Arial"/>
                <a:cs typeface="Arial"/>
              </a:defRPr>
            </a:lvl2pPr>
            <a:lvl3pPr>
              <a:buNone/>
              <a:defRPr sz="1500" b="0">
                <a:solidFill>
                  <a:srgbClr val="4B6259"/>
                </a:solidFill>
                <a:latin typeface="Arial"/>
                <a:ea typeface="Arial"/>
                <a:cs typeface="Arial"/>
              </a:defRPr>
            </a:lvl3pPr>
            <a:lvl4pPr>
              <a:buNone/>
              <a:defRPr sz="1500" b="0">
                <a:solidFill>
                  <a:srgbClr val="4B6259"/>
                </a:solidFill>
                <a:latin typeface="Arial"/>
                <a:ea typeface="Arial"/>
                <a:cs typeface="Arial"/>
              </a:defRPr>
            </a:lvl4pPr>
            <a:lvl5pPr>
              <a:buNone/>
              <a:defRPr sz="1500" b="0">
                <a:solidFill>
                  <a:srgbClr val="4B6259"/>
                </a:solidFill>
                <a:latin typeface="Arial"/>
                <a:ea typeface="Arial"/>
                <a:cs typeface="Arial"/>
              </a:defRPr>
            </a:lvl5pPr>
            <a:lvl6pPr>
              <a:buNone/>
              <a:defRPr sz="1500" b="0">
                <a:solidFill>
                  <a:srgbClr val="4B6259"/>
                </a:solidFill>
                <a:latin typeface="Arial"/>
                <a:ea typeface="Arial"/>
                <a:cs typeface="Arial"/>
              </a:defRPr>
            </a:lvl6pPr>
            <a:lvl7pPr>
              <a:buNone/>
              <a:defRPr sz="1500" b="0">
                <a:solidFill>
                  <a:srgbClr val="4B6259"/>
                </a:solidFill>
                <a:latin typeface="Arial"/>
                <a:ea typeface="Arial"/>
                <a:cs typeface="Arial"/>
              </a:defRPr>
            </a:lvl7pPr>
            <a:lvl8pPr>
              <a:buNone/>
              <a:defRPr sz="1500" b="0">
                <a:solidFill>
                  <a:srgbClr val="4B6259"/>
                </a:solidFill>
                <a:latin typeface="Arial"/>
                <a:ea typeface="Arial"/>
                <a:cs typeface="Arial"/>
              </a:defRPr>
            </a:lvl8pPr>
            <a:lvl9pPr>
              <a:buNone/>
              <a:defRPr sz="1500" b="0">
                <a:solidFill>
                  <a:srgbClr val="4B6259"/>
                </a:solidFill>
                <a:latin typeface="Arial"/>
                <a:ea typeface="Arial"/>
                <a:cs typeface="Arial"/>
              </a:defRPr>
            </a:lvl9pPr>
          </a:lstStyle>
          <a:p xmlns:a="http://schemas.openxmlformats.org/drawingml/2006/main">
            <a:pPr>
              <a:buNone/>
              <a:defRPr sz="1500" b="0">
                <a:solidFill>
                  <a:srgbClr val="4B6259"/>
                </a:solidFill>
                <a:latin typeface="Arial"/>
                <a:ea typeface="Arial"/>
                <a:cs typeface="Arial"/>
              </a:defRPr>
            </a:pPr>
            <a:r>
              <a:rPr sz="1500" b="0">
                <a:solidFill>
                  <a:srgbClr val="4B6259"/>
                </a:solidFill>
                <a:latin typeface="Arial"/>
                <a:ea typeface="Arial"/>
                <a:cs typeface="Arial"/>
              </a:rPr>
              <a:t>Actual release screens with fictional demo data. A.J. will now explain the architecture and backend.</a:t>
            </a:r>
          </a:p>
        </p:txBody>
      </p:sp>
    </p:spTree>
    <p:extLst>
      <p:ext uri="{BB962C8B-B14F-4D97-AF65-F5344CB8AC3E}">
        <p14:creationId xmlns:p14="http://schemas.microsoft.com/office/powerpoint/2010/main" val="584210571"/>
      </p:ext>
    </p:extLst>
  </p:cSld>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E3F2BF44-1131-40BF-9902-F20B1DCAD645}"/>
              </a:ext>
            </a:extLst>
          </p:cNvPr>
          <p:cNvCxnSpPr>
            <a:stCxn xmlns:a="http://schemas.openxmlformats.org/drawingml/2006/main" id="8" idx="2"/>
            <a:endCxn xmlns:a="http://schemas.openxmlformats.org/drawingml/2006/main" id="9" idx="0"/>
          </p:cNvCxnSpPr>
          <p:nvPr/>
        </p:nvCxnSpPr>
        <p:spPr>
          <a:xfrm xmlns:a="http://schemas.openxmlformats.org/drawingml/2006/main">
            <a:off x="9810750" y="42957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cxnSp>
        <p:nvCxnSpPr>
          <p:cNvPr id="10" name="">
            <a:extLst xmlns:a="http://schemas.openxmlformats.org/drawingml/2006/main">
              <a:ext uri="{FF2B5EF4-FFF2-40B4-BE49-F238E27FC236}">
                <a16:creationId xmlns:a16="http://schemas.microsoft.com/office/drawing/2014/main" id="{0D2BB147-3AC8-4B1B-84B8-6E99130D9D07}"/>
              </a:ext>
            </a:extLst>
          </p:cNvPr>
          <p:cNvCxnSpPr>
            <a:stCxn xmlns:a="http://schemas.openxmlformats.org/drawingml/2006/main" id="7" idx="2"/>
            <a:endCxn xmlns:a="http://schemas.openxmlformats.org/drawingml/2006/main" id="8" idx="0"/>
          </p:cNvCxnSpPr>
          <p:nvPr/>
        </p:nvCxnSpPr>
        <p:spPr>
          <a:xfrm xmlns:a="http://schemas.openxmlformats.org/drawingml/2006/main">
            <a:off x="9810750" y="30384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2" name="">
            <a:extLst xmlns:a="http://schemas.openxmlformats.org/drawingml/2006/main">
              <a:ext uri="{FF2B5EF4-FFF2-40B4-BE49-F238E27FC236}">
                <a16:creationId xmlns:a16="http://schemas.microsoft.com/office/drawing/2014/main" id="{303334A2-55BD-4841-9176-A5D8F8CE729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Architecture and backend</a:t>
            </a:r>
          </a:p>
        </p:txBody>
      </p:sp>
      <p:sp>
        <p:nvSpPr>
          <p:cNvPr id="2" name="">
            <a:extLst xmlns:a="http://schemas.openxmlformats.org/drawingml/2006/main">
              <a:ext uri="{FF2B5EF4-FFF2-40B4-BE49-F238E27FC236}">
                <a16:creationId xmlns:a16="http://schemas.microsoft.com/office/drawing/2014/main" id="{D7E3BECB-2EF8-4FF2-AC23-A749802AB242}"/>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Team approach and architecture</a:t>
            </a:r>
          </a:p>
        </p:txBody>
      </p:sp>
      <p:sp>
        <p:nvSpPr>
          <p:cNvPr id="3" name="">
            <a:extLst xmlns:a="http://schemas.openxmlformats.org/drawingml/2006/main">
              <a:ext uri="{FF2B5EF4-FFF2-40B4-BE49-F238E27FC236}">
                <a16:creationId xmlns:a16="http://schemas.microsoft.com/office/drawing/2014/main" id="{AF54437C-227F-45C3-B12B-48442E52CB7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E0CDB451-C632-4271-B3E6-2A3EB8114BD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D626FBDB-5F47-4A0F-BF3A-7A624584E76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This separation helped us combine both parts of the project without putting SQL inside every screen. We preserved my original branch history during integration. I will now explain the backend foundation and how the final application stores and protects its records.</a:t>
            </a:r>
          </a:p>
        </p:txBody>
      </p:sp>
      <p:sp>
        <p:nvSpPr>
          <p:cNvPr id="6" name="">
            <a:extLst xmlns:a="http://schemas.openxmlformats.org/drawingml/2006/main">
              <a:ext uri="{FF2B5EF4-FFF2-40B4-BE49-F238E27FC236}">
                <a16:creationId xmlns:a16="http://schemas.microsoft.com/office/drawing/2014/main" id="{43204DC1-02AF-4E20-B87B-A1AFE9DCC8D7}"/>
              </a:ext>
            </a:extLst>
          </p:cNvPr>
          <p:cNvSpPr>
            <a:spLocks xmlns:a="http://schemas.openxmlformats.org/drawingml/2006/main" noGrp="1"/>
          </p:cNvSpPr>
          <p:nvPr/>
        </p:nvSpPr>
        <p:spPr>
          <a:xfrm xmlns:a="http://schemas.openxmlformats.org/drawingml/2006/main">
            <a:off x="8096250" y="16573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Application flow</a:t>
            </a:r>
          </a:p>
        </p:txBody>
      </p:sp>
      <p:sp>
        <p:nvSpPr>
          <p:cNvPr id="7" name="">
            <a:extLst xmlns:a="http://schemas.openxmlformats.org/drawingml/2006/main">
              <a:ext uri="{FF2B5EF4-FFF2-40B4-BE49-F238E27FC236}">
                <a16:creationId xmlns:a16="http://schemas.microsoft.com/office/drawing/2014/main" id="{16CDBB88-64DC-43C5-BE33-8E30C8C6D8C9}"/>
              </a:ext>
            </a:extLst>
          </p:cNvPr>
          <p:cNvSpPr>
            <a:spLocks xmlns:a="http://schemas.openxmlformats.org/drawingml/2006/main" noGrp="1"/>
          </p:cNvSpPr>
          <p:nvPr/>
        </p:nvSpPr>
        <p:spPr>
          <a:xfrm xmlns:a="http://schemas.openxmlformats.org/drawingml/2006/main">
            <a:off x="8191500" y="22193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Screens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Drafts and interaction</a:t>
            </a:r>
          </a:p>
        </p:txBody>
      </p:sp>
      <p:sp>
        <p:nvSpPr>
          <p:cNvPr id="8" name="">
            <a:extLst xmlns:a="http://schemas.openxmlformats.org/drawingml/2006/main">
              <a:ext uri="{FF2B5EF4-FFF2-40B4-BE49-F238E27FC236}">
                <a16:creationId xmlns:a16="http://schemas.microsoft.com/office/drawing/2014/main" id="{7DC889CB-1ADA-4E99-BAE4-35CB006C8C5F}"/>
              </a:ext>
            </a:extLst>
          </p:cNvPr>
          <p:cNvSpPr>
            <a:spLocks xmlns:a="http://schemas.openxmlformats.org/drawingml/2006/main" noGrp="1"/>
          </p:cNvSpPr>
          <p:nvPr/>
        </p:nvSpPr>
        <p:spPr>
          <a:xfrm xmlns:a="http://schemas.openxmlformats.org/drawingml/2006/main">
            <a:off x="8191500" y="34766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AppStore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Saved shared values</a:t>
            </a:r>
          </a:p>
        </p:txBody>
      </p:sp>
      <p:sp>
        <p:nvSpPr>
          <p:cNvPr id="9" name="">
            <a:extLst xmlns:a="http://schemas.openxmlformats.org/drawingml/2006/main">
              <a:ext uri="{FF2B5EF4-FFF2-40B4-BE49-F238E27FC236}">
                <a16:creationId xmlns:a16="http://schemas.microsoft.com/office/drawing/2014/main" id="{5554BCFA-C147-4C1A-9C7F-4C942D2B4DF9}"/>
              </a:ext>
            </a:extLst>
          </p:cNvPr>
          <p:cNvSpPr>
            <a:spLocks xmlns:a="http://schemas.openxmlformats.org/drawingml/2006/main" noGrp="1"/>
          </p:cNvSpPr>
          <p:nvPr/>
        </p:nvSpPr>
        <p:spPr>
          <a:xfrm xmlns:a="http://schemas.openxmlformats.org/drawingml/2006/main">
            <a:off x="8191500" y="4733925"/>
            <a:ext cx="3238500" cy="9715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Local storage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SQLite and preferences</a:t>
            </a:r>
          </a:p>
        </p:txBody>
      </p:sp>
    </p:spTree>
    <p:extLst>
      <p:ext uri="{BB962C8B-B14F-4D97-AF65-F5344CB8AC3E}">
        <p14:creationId xmlns:p14="http://schemas.microsoft.com/office/powerpoint/2010/main" val="1118695760"/>
      </p:ext>
    </p:extLst>
  </p:cSld>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9AC5D3-2EBC-4962-A300-A6067995908F}"/>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480A7D82-9705-4743-9FB2-36E91CC99D4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Backend foundation and ownership</a:t>
            </a:r>
          </a:p>
        </p:txBody>
      </p:sp>
      <p:sp>
        <p:nvSpPr>
          <p:cNvPr id="3" name="">
            <a:extLst xmlns:a="http://schemas.openxmlformats.org/drawingml/2006/main">
              <a:ext uri="{FF2B5EF4-FFF2-40B4-BE49-F238E27FC236}">
                <a16:creationId xmlns:a16="http://schemas.microsoft.com/office/drawing/2014/main" id="{1C579B6B-501C-405E-97BE-479CC83103E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DE76FB7-B9C2-414A-B92F-B61BA510EC3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A4D3428-A9E2-4EA5-9059-2E36577A7BCB}"/>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MealDatabase provides one boundary for local SQLite access. The interface requests operations through it, while validation and database tests focus on the same boundary.</a:t>
            </a:r>
          </a:p>
        </p:txBody>
      </p:sp>
      <p:sp>
        <p:nvSpPr>
          <p:cNvPr id="6" name="">
            <a:extLst xmlns:a="http://schemas.openxmlformats.org/drawingml/2006/main">
              <a:ext uri="{FF2B5EF4-FFF2-40B4-BE49-F238E27FC236}">
                <a16:creationId xmlns:a16="http://schemas.microsoft.com/office/drawing/2014/main" id="{3FA7D3CA-735F-48EF-BA6D-D2DE59F8E852}"/>
              </a:ext>
            </a:extLst>
          </p:cNvPr>
          <p:cNvSpPr>
            <a:spLocks xmlns:a="http://schemas.openxmlformats.org/drawingml/2006/main" noGrp="1"/>
          </p:cNvSpPr>
          <p:nvPr/>
        </p:nvSpPr>
        <p:spPr>
          <a:xfrm xmlns:a="http://schemas.openxmlformats.org/drawingml/2006/main">
            <a:off x="7620000" y="1695450"/>
            <a:ext cx="4143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9700A078-6CB1-4B27-828B-00F01508429A}"/>
              </a:ext>
            </a:extLst>
          </p:cNvPr>
          <p:cNvSpPr>
            <a:spLocks xmlns:a="http://schemas.openxmlformats.org/drawingml/2006/main" noGrp="1"/>
          </p:cNvSpPr>
          <p:nvPr/>
        </p:nvSpPr>
        <p:spPr>
          <a:xfrm xmlns:a="http://schemas.openxmlformats.org/drawingml/2006/main">
            <a:off x="7620000" y="2286000"/>
            <a:ext cx="4143375" cy="2571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Future&lt;List&lt;Meal&gt;&gt; getMeals()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async =&gt; (await</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(await database).query(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orderBy: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'mealName COLLATE NOCASE,id',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)).map(Meal.fromMap)</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.toList();</a:t>
            </a:r>
          </a:p>
        </p:txBody>
      </p:sp>
      <p:sp>
        <p:nvSpPr>
          <p:cNvPr id="8" name="">
            <a:extLst xmlns:a="http://schemas.openxmlformats.org/drawingml/2006/main">
              <a:ext uri="{FF2B5EF4-FFF2-40B4-BE49-F238E27FC236}">
                <a16:creationId xmlns:a16="http://schemas.microsoft.com/office/drawing/2014/main" id="{32681893-CFEB-409B-9CEE-7D6DFAE54D78}"/>
              </a:ext>
            </a:extLst>
          </p:cNvPr>
          <p:cNvSpPr>
            <a:spLocks xmlns:a="http://schemas.openxmlformats.org/drawingml/2006/main" noGrp="1"/>
          </p:cNvSpPr>
          <p:nvPr/>
        </p:nvSpPr>
        <p:spPr>
          <a:xfrm xmlns:a="http://schemas.openxmlformats.org/drawingml/2006/main">
            <a:off x="7810500" y="50482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Rows become typed Meal objects.</a:t>
            </a:r>
          </a:p>
        </p:txBody>
      </p:sp>
    </p:spTree>
    <p:extLst>
      <p:ext uri="{BB962C8B-B14F-4D97-AF65-F5344CB8AC3E}">
        <p14:creationId xmlns:p14="http://schemas.microsoft.com/office/powerpoint/2010/main" val="206889965"/>
      </p:ext>
    </p:extLst>
  </p:cSld>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66532-B838-419B-A517-7E477E4E6D3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BA22B7CA-4DE5-4C54-B120-F15D5CC6E6E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model and stored values</a:t>
            </a:r>
          </a:p>
        </p:txBody>
      </p:sp>
      <p:sp>
        <p:nvSpPr>
          <p:cNvPr id="3" name="">
            <a:extLst xmlns:a="http://schemas.openxmlformats.org/drawingml/2006/main">
              <a:ext uri="{FF2B5EF4-FFF2-40B4-BE49-F238E27FC236}">
                <a16:creationId xmlns:a16="http://schemas.microsoft.com/office/drawing/2014/main" id="{6112D500-98C2-4EB6-90BA-816F77F18E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4EC22303-AE3A-4584-BD28-B2444ADFDBB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22D8D5AB-D035-4ED7-A3F7-0F3BFFDAC44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toMap method prepares values for SQLite, and fromMap reconstructs the Meal. A stable ID lets the interface update the correct record even after its name or position changes.</a:t>
            </a:r>
          </a:p>
        </p:txBody>
      </p:sp>
      <p:sp>
        <p:nvSpPr>
          <p:cNvPr id="6" name="">
            <a:extLst xmlns:a="http://schemas.openxmlformats.org/drawingml/2006/main">
              <a:ext uri="{FF2B5EF4-FFF2-40B4-BE49-F238E27FC236}">
                <a16:creationId xmlns:a16="http://schemas.microsoft.com/office/drawing/2014/main" id="{58B2A50C-05D4-4200-A780-45D20FC76529}"/>
              </a:ext>
            </a:extLst>
          </p:cNvPr>
          <p:cNvSpPr>
            <a:spLocks xmlns:a="http://schemas.openxmlformats.org/drawingml/2006/main" noGrp="1"/>
          </p:cNvSpPr>
          <p:nvPr/>
        </p:nvSpPr>
        <p:spPr>
          <a:xfrm xmlns:a="http://schemas.openxmlformats.org/drawingml/2006/main">
            <a:off x="7810500" y="17907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lib/models/meal.dart</a:t>
            </a:r>
          </a:p>
        </p:txBody>
      </p:sp>
      <p:sp>
        <p:nvSpPr>
          <p:cNvPr id="7" name="">
            <a:extLst xmlns:a="http://schemas.openxmlformats.org/drawingml/2006/main">
              <a:ext uri="{FF2B5EF4-FFF2-40B4-BE49-F238E27FC236}">
                <a16:creationId xmlns:a16="http://schemas.microsoft.com/office/drawing/2014/main" id="{0D839494-7896-4EFF-9F6D-A67763ABE549}"/>
              </a:ext>
            </a:extLst>
          </p:cNvPr>
          <p:cNvSpPr>
            <a:spLocks xmlns:a="http://schemas.openxmlformats.org/drawingml/2006/main" noGrp="1"/>
          </p:cNvSpPr>
          <p:nvPr/>
        </p:nvSpPr>
        <p:spPr>
          <a:xfrm xmlns:a="http://schemas.openxmlformats.org/drawingml/2006/main">
            <a:off x="7810500" y="2381250"/>
            <a:ext cx="3714750" cy="2095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int</a:t>
            </a:r>
            <a:r>
              <a:rPr sz="1875" b="0">
                <a:solidFill>
                  <a:srgbClr val="E2F1E8"/>
                </a:solidFill>
                <a:latin typeface="Menlo"/>
                <a:ea typeface="Menlo"/>
                <a:cs typeface="Menlo"/>
              </a:rPr>
              <a:t> get totalPrice =&gt;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entreePrice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sidesPrice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otherPrice;</a:t>
            </a:r>
          </a:p>
        </p:txBody>
      </p:sp>
      <p:sp>
        <p:nvSpPr>
          <p:cNvPr id="8" name="">
            <a:extLst xmlns:a="http://schemas.openxmlformats.org/drawingml/2006/main">
              <a:ext uri="{FF2B5EF4-FFF2-40B4-BE49-F238E27FC236}">
                <a16:creationId xmlns:a16="http://schemas.microsoft.com/office/drawing/2014/main" id="{D58703A7-1500-48CE-98DA-A291CE940FB9}"/>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One derived catalog total</a:t>
            </a:r>
          </a:p>
        </p:txBody>
      </p:sp>
    </p:spTree>
    <p:extLst>
      <p:ext uri="{BB962C8B-B14F-4D97-AF65-F5344CB8AC3E}">
        <p14:creationId xmlns:p14="http://schemas.microsoft.com/office/powerpoint/2010/main" val="2136926510"/>
      </p:ext>
    </p:extLst>
  </p:cSld>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88B70C-A045-49DD-B2FD-82148B961B2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2BF4FEFE-3A06-4C2F-A3A1-9FB179B2AD2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related SQLite tables</a:t>
            </a:r>
          </a:p>
        </p:txBody>
      </p:sp>
      <p:sp>
        <p:nvSpPr>
          <p:cNvPr id="3" name="">
            <a:extLst xmlns:a="http://schemas.openxmlformats.org/drawingml/2006/main">
              <a:ext uri="{FF2B5EF4-FFF2-40B4-BE49-F238E27FC236}">
                <a16:creationId xmlns:a16="http://schemas.microsoft.com/office/drawing/2014/main" id="{CBEE74F9-F761-43C7-8F0F-8BD5DB42DEB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4273892-2218-4D50-9567-4906F20AF10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45593D3E-C34A-4416-96F2-20EFA3AB02E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Editing a catalog estimate leaves earlier actual amounts unchanged. Preferences use SharedPreferences, and favorites remain a Meal field, keeping the relational model to two entities.</a:t>
            </a:r>
          </a:p>
        </p:txBody>
      </p:sp>
      <p:sp>
        <p:nvSpPr>
          <p:cNvPr id="6" name="">
            <a:extLst xmlns:a="http://schemas.openxmlformats.org/drawingml/2006/main">
              <a:ext uri="{FF2B5EF4-FFF2-40B4-BE49-F238E27FC236}">
                <a16:creationId xmlns:a16="http://schemas.microsoft.com/office/drawing/2014/main" id="{C8F75B3F-3302-4EC3-9584-E6BCDA50324E}"/>
              </a:ext>
            </a:extLst>
          </p:cNvPr>
          <p:cNvSpPr>
            <a:spLocks xmlns:a="http://schemas.openxmlformats.org/drawingml/2006/main" noGrp="1"/>
          </p:cNvSpPr>
          <p:nvPr/>
        </p:nvSpPr>
        <p:spPr>
          <a:xfrm xmlns:a="http://schemas.openxmlformats.org/drawingml/2006/main">
            <a:off x="7810500" y="18288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Each receipt has its own ID</a:t>
            </a:r>
          </a:p>
        </p:txBody>
      </p:sp>
      <p:pic>
        <p:nvPicPr>
          <p:cNvPr id="7" name="">
            <a:extLst xmlns:a="http://schemas.openxmlformats.org/drawingml/2006/main">
              <a:ext uri="{FF2B5EF4-FFF2-40B4-BE49-F238E27FC236}">
                <a16:creationId xmlns:a16="http://schemas.microsoft.com/office/drawing/2014/main" id="{592868B8-18A0-47C1-A2B2-FA2C4EC86847}"/>
              </a:ext>
            </a:extLst>
          </p:cNvPr>
          <p:cNvPicPr>
            <a:picLocks xmlns:a="http://schemas.openxmlformats.org/drawingml/2006/main" noChangeAspect="1"/>
          </p:cNvPicPr>
          <p:nvPr/>
        </p:nvPicPr>
        <p:blipFill>
          <a:blip xmlns:r="http://schemas.openxmlformats.org/officeDocument/2006/relationships" xmlns:a="http://schemas.openxmlformats.org/drawingml/2006/main" r:embed="R7769198ae4f94d88"/>
          <a:srcRect xmlns:a="http://schemas.openxmlformats.org/drawingml/2006/main" l="13000" t="37500" r="13000" b="33500"/>
          <a:stretch xmlns:a="http://schemas.openxmlformats.org/drawingml/2006/main"/>
        </p:blipFill>
        <p:spPr>
          <a:xfrm xmlns:a="http://schemas.openxmlformats.org/drawingml/2006/main">
            <a:off x="8001000" y="2543175"/>
            <a:ext cx="3333750" cy="2905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D8CEC9-EA0A-4009-ADB4-CAE4D0A3B2F9}"/>
              </a:ext>
            </a:extLst>
          </p:cNvPr>
          <p:cNvSpPr>
            <a:spLocks xmlns:a="http://schemas.openxmlformats.org/drawingml/2006/main" noGrp="1"/>
          </p:cNvSpPr>
          <p:nvPr/>
        </p:nvSpPr>
        <p:spPr>
          <a:xfrm xmlns:a="http://schemas.openxmlformats.org/drawingml/2006/main">
            <a:off x="7848600" y="561975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Receipt #3 records the actual amount and time.</a:t>
            </a:r>
          </a:p>
        </p:txBody>
      </p:sp>
    </p:spTree>
    <p:extLst>
      <p:ext uri="{BB962C8B-B14F-4D97-AF65-F5344CB8AC3E}">
        <p14:creationId xmlns:p14="http://schemas.microsoft.com/office/powerpoint/2010/main" val="1787517746"/>
      </p:ext>
    </p:extLst>
  </p:cSld>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B6F2FA01-6D0E-432D-812C-78BF759EFDCB}"/>
              </a:ext>
            </a:extLst>
          </p:cNvPr>
          <p:cNvCxnSpPr>
            <a:stCxn xmlns:a="http://schemas.openxmlformats.org/drawingml/2006/main" id="5" idx="3"/>
            <a:endCxn xmlns:a="http://schemas.openxmlformats.org/drawingml/2006/main" id="6" idx="1"/>
          </p:cNvCxnSpPr>
          <p:nvPr/>
        </p:nvCxnSpPr>
        <p:spPr>
          <a:xfrm xmlns:a="http://schemas.openxmlformats.org/drawingml/2006/main">
            <a:off x="5000625" y="3500438"/>
            <a:ext cx="2190750" cy="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0" name="">
            <a:extLst xmlns:a="http://schemas.openxmlformats.org/drawingml/2006/main">
              <a:ext uri="{FF2B5EF4-FFF2-40B4-BE49-F238E27FC236}">
                <a16:creationId xmlns:a16="http://schemas.microsoft.com/office/drawing/2014/main" id="{0E2182A1-D440-4B06-942D-34184B6DEF4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D2DE7EE9-B317-4C2F-AE22-F812154085F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Database relationship</a:t>
            </a:r>
          </a:p>
        </p:txBody>
      </p:sp>
      <p:sp>
        <p:nvSpPr>
          <p:cNvPr id="3" name="">
            <a:extLst xmlns:a="http://schemas.openxmlformats.org/drawingml/2006/main">
              <a:ext uri="{FF2B5EF4-FFF2-40B4-BE49-F238E27FC236}">
                <a16:creationId xmlns:a16="http://schemas.microsoft.com/office/drawing/2014/main" id="{6BB4D367-DFCA-44B9-8EB5-42BA7C135EA9}"/>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BC0E705-1AB9-4AA6-847C-F07A7DCC734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5B371BF4-04D8-4313-B068-AE2B3B454CB6}"/>
              </a:ext>
            </a:extLst>
          </p:cNvPr>
          <p:cNvSpPr>
            <a:spLocks xmlns:a="http://schemas.openxmlformats.org/drawingml/2006/main" noGrp="1"/>
          </p:cNvSpPr>
          <p:nvPr/>
        </p:nvSpPr>
        <p:spPr>
          <a:xfrm xmlns:a="http://schemas.openxmlformats.org/drawingml/2006/main">
            <a:off x="666750"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Meal</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mealName, venue, cuisine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 sides, other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entreePrice, sidesPrice, otherPrice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favorite</a:t>
            </a:r>
          </a:p>
        </p:txBody>
      </p:sp>
      <p:sp>
        <p:nvSpPr>
          <p:cNvPr id="6" name="">
            <a:extLst xmlns:a="http://schemas.openxmlformats.org/drawingml/2006/main">
              <a:ext uri="{FF2B5EF4-FFF2-40B4-BE49-F238E27FC236}">
                <a16:creationId xmlns:a16="http://schemas.microsoft.com/office/drawing/2014/main" id="{65EB1A65-042A-4AAE-95FC-E1A5F0AE1382}"/>
              </a:ext>
            </a:extLst>
          </p:cNvPr>
          <p:cNvSpPr>
            <a:spLocks xmlns:a="http://schemas.openxmlformats.org/drawingml/2006/main" noGrp="1"/>
          </p:cNvSpPr>
          <p:nvPr/>
        </p:nvSpPr>
        <p:spPr>
          <a:xfrm xmlns:a="http://schemas.openxmlformats.org/drawingml/2006/main">
            <a:off x="7191375"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PurchaseLog</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mealId (foreign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actualPriceMinor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purchasedAt, note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saveToken (unique)</a:t>
            </a:r>
          </a:p>
        </p:txBody>
      </p:sp>
      <p:sp>
        <p:nvSpPr>
          <p:cNvPr id="8" name="">
            <a:extLst xmlns:a="http://schemas.openxmlformats.org/drawingml/2006/main">
              <a:ext uri="{FF2B5EF4-FFF2-40B4-BE49-F238E27FC236}">
                <a16:creationId xmlns:a16="http://schemas.microsoft.com/office/drawing/2014/main" id="{AE8B8933-5981-4066-961B-D1C445473A75}"/>
              </a:ext>
            </a:extLst>
          </p:cNvPr>
          <p:cNvSpPr>
            <a:spLocks xmlns:a="http://schemas.openxmlformats.org/drawingml/2006/main" noGrp="1"/>
          </p:cNvSpPr>
          <p:nvPr/>
        </p:nvSpPr>
        <p:spPr>
          <a:xfrm xmlns:a="http://schemas.openxmlformats.org/drawingml/2006/main">
            <a:off x="5391150" y="2952750"/>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6452"/>
                </a:solidFill>
                <a:latin typeface="Arial"/>
                <a:ea typeface="Arial"/>
                <a:cs typeface="Arial"/>
              </a:defRPr>
            </a:defPPr>
            <a:lvl1pPr>
              <a:buNone/>
              <a:defRPr sz="2100" b="1">
                <a:solidFill>
                  <a:srgbClr val="176452"/>
                </a:solidFill>
                <a:latin typeface="Arial"/>
                <a:ea typeface="Arial"/>
                <a:cs typeface="Arial"/>
              </a:defRPr>
            </a:lvl1pPr>
            <a:lvl2pPr>
              <a:buNone/>
              <a:defRPr sz="2100" b="1">
                <a:solidFill>
                  <a:srgbClr val="176452"/>
                </a:solidFill>
                <a:latin typeface="Arial"/>
                <a:ea typeface="Arial"/>
                <a:cs typeface="Arial"/>
              </a:defRPr>
            </a:lvl2pPr>
            <a:lvl3pPr>
              <a:buNone/>
              <a:defRPr sz="2100" b="1">
                <a:solidFill>
                  <a:srgbClr val="176452"/>
                </a:solidFill>
                <a:latin typeface="Arial"/>
                <a:ea typeface="Arial"/>
                <a:cs typeface="Arial"/>
              </a:defRPr>
            </a:lvl3pPr>
            <a:lvl4pPr>
              <a:buNone/>
              <a:defRPr sz="2100" b="1">
                <a:solidFill>
                  <a:srgbClr val="176452"/>
                </a:solidFill>
                <a:latin typeface="Arial"/>
                <a:ea typeface="Arial"/>
                <a:cs typeface="Arial"/>
              </a:defRPr>
            </a:lvl4pPr>
            <a:lvl5pPr>
              <a:buNone/>
              <a:defRPr sz="2100" b="1">
                <a:solidFill>
                  <a:srgbClr val="176452"/>
                </a:solidFill>
                <a:latin typeface="Arial"/>
                <a:ea typeface="Arial"/>
                <a:cs typeface="Arial"/>
              </a:defRPr>
            </a:lvl5pPr>
            <a:lvl6pPr>
              <a:buNone/>
              <a:defRPr sz="2100" b="1">
                <a:solidFill>
                  <a:srgbClr val="176452"/>
                </a:solidFill>
                <a:latin typeface="Arial"/>
                <a:ea typeface="Arial"/>
                <a:cs typeface="Arial"/>
              </a:defRPr>
            </a:lvl6pPr>
            <a:lvl7pPr>
              <a:buNone/>
              <a:defRPr sz="2100" b="1">
                <a:solidFill>
                  <a:srgbClr val="176452"/>
                </a:solidFill>
                <a:latin typeface="Arial"/>
                <a:ea typeface="Arial"/>
                <a:cs typeface="Arial"/>
              </a:defRPr>
            </a:lvl7pPr>
            <a:lvl8pPr>
              <a:buNone/>
              <a:defRPr sz="2100" b="1">
                <a:solidFill>
                  <a:srgbClr val="176452"/>
                </a:solidFill>
                <a:latin typeface="Arial"/>
                <a:ea typeface="Arial"/>
                <a:cs typeface="Arial"/>
              </a:defRPr>
            </a:lvl8pPr>
            <a:lvl9pPr>
              <a:buNone/>
              <a:defRPr sz="2100" b="1">
                <a:solidFill>
                  <a:srgbClr val="176452"/>
                </a:solidFill>
                <a:latin typeface="Arial"/>
                <a:ea typeface="Arial"/>
                <a:cs typeface="Arial"/>
              </a:defRPr>
            </a:lvl9pPr>
          </a:lstStyle>
          <a:p xmlns:a="http://schemas.openxmlformats.org/drawingml/2006/main">
            <a:pPr>
              <a:buNone/>
              <a:defRPr sz="2100" b="1">
                <a:solidFill>
                  <a:srgbClr val="176452"/>
                </a:solidFill>
                <a:latin typeface="Arial"/>
                <a:ea typeface="Arial"/>
                <a:cs typeface="Arial"/>
              </a:defRPr>
            </a:pPr>
            <a:r>
              <a:rPr sz="2100" b="1">
                <a:solidFill>
                  <a:srgbClr val="176452"/>
                </a:solidFill>
                <a:latin typeface="Arial"/>
                <a:ea typeface="Arial"/>
                <a:cs typeface="Arial"/>
              </a:rPr>
              <a:t>1 : many</a:t>
            </a:r>
          </a:p>
        </p:txBody>
      </p:sp>
      <p:sp>
        <p:nvSpPr>
          <p:cNvPr id="9" name="">
            <a:extLst xmlns:a="http://schemas.openxmlformats.org/drawingml/2006/main">
              <a:ext uri="{FF2B5EF4-FFF2-40B4-BE49-F238E27FC236}">
                <a16:creationId xmlns:a16="http://schemas.microsoft.com/office/drawing/2014/main" id="{54ADF04D-F84E-42D2-AA8E-B2E10B03D830}"/>
              </a:ext>
            </a:extLst>
          </p:cNvPr>
          <p:cNvSpPr>
            <a:spLocks xmlns:a="http://schemas.openxmlformats.org/drawingml/2006/main" noGrp="1"/>
          </p:cNvSpPr>
          <p:nvPr/>
        </p:nvSpPr>
        <p:spPr>
          <a:xfrm xmlns:a="http://schemas.openxmlformats.org/drawingml/2006/main">
            <a:off x="666750" y="557212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Meal is the parent catalog entry. PurchaseLog stores each actual receipt. Its foreign key and restricted parent deletion preserve that relationship.</a:t>
            </a:r>
          </a:p>
        </p:txBody>
      </p:sp>
    </p:spTree>
    <p:extLst>
      <p:ext uri="{BB962C8B-B14F-4D97-AF65-F5344CB8AC3E}">
        <p14:creationId xmlns:p14="http://schemas.microsoft.com/office/powerpoint/2010/main" val="1803098972"/>
      </p:ext>
    </p:extLst>
  </p:cSld>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60865-F695-4EE1-AED7-327E3545DE9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76B21E9-9747-45A8-B70B-F60CD7A82C6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CRUD functions and database IDs</a:t>
            </a:r>
          </a:p>
        </p:txBody>
      </p:sp>
      <p:sp>
        <p:nvSpPr>
          <p:cNvPr id="3" name="">
            <a:extLst xmlns:a="http://schemas.openxmlformats.org/drawingml/2006/main">
              <a:ext uri="{FF2B5EF4-FFF2-40B4-BE49-F238E27FC236}">
                <a16:creationId xmlns:a16="http://schemas.microsoft.com/office/drawing/2014/main" id="{5A37139A-B40C-48A1-88C1-E5CC49CFB32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CECAFF-0822-4DC0-9E69-BBA433827BE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8D968B1-A492-4ACC-9CCA-27C0E5B16676}"/>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Queries use bound arguments for IDs. Refreshing the saved lists after a successful change keeps the catalog, purchase log and totals aligned with current database rows.</a:t>
            </a:r>
          </a:p>
        </p:txBody>
      </p:sp>
      <p:sp>
        <p:nvSpPr>
          <p:cNvPr id="6" name="">
            <a:extLst xmlns:a="http://schemas.openxmlformats.org/drawingml/2006/main">
              <a:ext uri="{FF2B5EF4-FFF2-40B4-BE49-F238E27FC236}">
                <a16:creationId xmlns:a16="http://schemas.microsoft.com/office/drawing/2014/main" id="{694B203A-5DE1-475D-98D8-238D2C0C5151}"/>
              </a:ext>
            </a:extLst>
          </p:cNvPr>
          <p:cNvSpPr>
            <a:spLocks xmlns:a="http://schemas.openxmlformats.org/drawingml/2006/main" noGrp="1"/>
          </p:cNvSpPr>
          <p:nvPr/>
        </p:nvSpPr>
        <p:spPr>
          <a:xfrm xmlns:a="http://schemas.openxmlformats.org/drawingml/2006/main">
            <a:off x="7667625" y="161925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8374DBCC-87E3-4AEE-BBDE-1A986DB1FAD4}"/>
              </a:ext>
            </a:extLst>
          </p:cNvPr>
          <p:cNvSpPr>
            <a:spLocks xmlns:a="http://schemas.openxmlformats.org/drawingml/2006/main" noGrp="1"/>
          </p:cNvSpPr>
          <p:nvPr/>
        </p:nvSpPr>
        <p:spPr>
          <a:xfrm xmlns:a="http://schemas.openxmlformats.org/drawingml/2006/main">
            <a:off x="7667625" y="2209800"/>
            <a:ext cx="4095750" cy="27622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return</a:t>
            </a:r>
            <a:r>
              <a:rPr sz="1650" b="0">
                <a:solidFill>
                  <a:srgbClr val="E2F1E8"/>
                </a:solidFill>
                <a:latin typeface="Menlo"/>
                <a:ea typeface="Menlo"/>
                <a:cs typeface="Menlo"/>
              </a:rPr>
              <a:t> (await database)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.update(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'meals',</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meal.toMap()..remove('id'),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 'id = ?',</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whereArgs: [meal.id],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E1D3DFC9-AC3F-4C18-89EB-16C5404BA90C}"/>
              </a:ext>
            </a:extLst>
          </p:cNvPr>
          <p:cNvSpPr>
            <a:spLocks xmlns:a="http://schemas.openxmlformats.org/drawingml/2006/main" noGrp="1"/>
          </p:cNvSpPr>
          <p:nvPr/>
        </p:nvSpPr>
        <p:spPr>
          <a:xfrm xmlns:a="http://schemas.openxmlformats.org/drawingml/2006/main">
            <a:off x="7810500" y="53340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Bound ID selects the record</a:t>
            </a:r>
          </a:p>
        </p:txBody>
      </p:sp>
    </p:spTree>
    <p:extLst>
      <p:ext uri="{BB962C8B-B14F-4D97-AF65-F5344CB8AC3E}">
        <p14:creationId xmlns:p14="http://schemas.microsoft.com/office/powerpoint/2010/main" val="2104175741"/>
      </p:ext>
    </p:extLst>
  </p:cSld>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64E0BA-0A81-4EA3-88FF-F07ACD9695A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8EA85EBE-9DF8-4C46-9B2C-DB324A3E945A}"/>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Money validation and migration</a:t>
            </a:r>
          </a:p>
        </p:txBody>
      </p:sp>
      <p:sp>
        <p:nvSpPr>
          <p:cNvPr id="3" name="">
            <a:extLst xmlns:a="http://schemas.openxmlformats.org/drawingml/2006/main">
              <a:ext uri="{FF2B5EF4-FFF2-40B4-BE49-F238E27FC236}">
                <a16:creationId xmlns:a16="http://schemas.microsoft.com/office/drawing/2014/main" id="{78102BD8-9C3C-4D7D-A9F6-5A5F33E885B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F469CE9-416F-4865-8363-01185585BC4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866EE4A-9D4B-4087-80A6-491896178287}"/>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p:txBody>
      </p:sp>
      <p:sp>
        <p:nvSpPr>
          <p:cNvPr id="6" name="">
            <a:extLst xmlns:a="http://schemas.openxmlformats.org/drawingml/2006/main">
              <a:ext uri="{FF2B5EF4-FFF2-40B4-BE49-F238E27FC236}">
                <a16:creationId xmlns:a16="http://schemas.microsoft.com/office/drawing/2014/main" id="{DAD1191C-217F-4DBE-B86B-786A18379FBC}"/>
              </a:ext>
            </a:extLst>
          </p:cNvPr>
          <p:cNvSpPr>
            <a:spLocks xmlns:a="http://schemas.openxmlformats.org/drawingml/2006/main" noGrp="1"/>
          </p:cNvSpPr>
          <p:nvPr/>
        </p:nvSpPr>
        <p:spPr>
          <a:xfrm xmlns:a="http://schemas.openxmlformats.org/drawingml/2006/main">
            <a:off x="7810500" y="17430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A3E1BBFC-7B4E-4DDA-847E-BC94728E6AC1}"/>
              </a:ext>
            </a:extLst>
          </p:cNvPr>
          <p:cNvSpPr>
            <a:spLocks xmlns:a="http://schemas.openxmlformats.org/drawingml/2006/main" noGrp="1"/>
          </p:cNvSpPr>
          <p:nvPr/>
        </p:nvSpPr>
        <p:spPr>
          <a:xfrm xmlns:a="http://schemas.openxmlformats.org/drawingml/2006/main">
            <a:off x="7810500" y="2333625"/>
            <a:ext cx="3714750" cy="20764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CAST(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ROUND(entreePrice*100)</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AS </a:t>
            </a:r>
            <a:r>
              <a:rPr sz="1875" b="0">
                <a:solidFill>
                  <a:srgbClr val="B8ECD2"/>
                </a:solidFill>
                <a:latin typeface="Menlo"/>
                <a:ea typeface="Menlo"/>
                <a:cs typeface="Menlo"/>
              </a:rPr>
              <a:t>INTEGER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F22D17B-BAAC-4481-85F7-4F7BBA865B31}"/>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$6.50 becomes 650 cents</a:t>
            </a:r>
          </a:p>
        </p:txBody>
      </p:sp>
      <p:sp>
        <p:nvSpPr>
          <p:cNvPr id="9" name="">
            <a:extLst xmlns:a="http://schemas.openxmlformats.org/drawingml/2006/main">
              <a:ext uri="{FF2B5EF4-FFF2-40B4-BE49-F238E27FC236}">
                <a16:creationId xmlns:a16="http://schemas.microsoft.com/office/drawing/2014/main" id="{63D8024E-5300-4263-A7E8-CE0303D7D1F3}"/>
              </a:ext>
            </a:extLst>
          </p:cNvPr>
          <p:cNvSpPr>
            <a:spLocks xmlns:a="http://schemas.openxmlformats.org/drawingml/2006/main" noGrp="1"/>
          </p:cNvSpPr>
          <p:nvPr/>
        </p:nvSpPr>
        <p:spPr>
          <a:xfrm xmlns:a="http://schemas.openxmlformats.org/drawingml/2006/main">
            <a:off x="7810500" y="53911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Migration preserves the row ID.</a:t>
            </a:r>
          </a:p>
        </p:txBody>
      </p:sp>
    </p:spTree>
    <p:extLst>
      <p:ext uri="{BB962C8B-B14F-4D97-AF65-F5344CB8AC3E}">
        <p14:creationId xmlns:p14="http://schemas.microsoft.com/office/powerpoint/2010/main" val="1233965292"/>
      </p:ext>
    </p:extLst>
  </p:cSld>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13AE53-AFBC-4236-B6BF-1C9EB763504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EB714503-764C-4AA0-B0EE-4D97A43C381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Reliable saves and purchase history</a:t>
            </a:r>
          </a:p>
        </p:txBody>
      </p:sp>
      <p:sp>
        <p:nvSpPr>
          <p:cNvPr id="3" name="">
            <a:extLst xmlns:a="http://schemas.openxmlformats.org/drawingml/2006/main">
              <a:ext uri="{FF2B5EF4-FFF2-40B4-BE49-F238E27FC236}">
                <a16:creationId xmlns:a16="http://schemas.microsoft.com/office/drawing/2014/main" id="{D5EFC4BA-3912-47A4-9D63-4D2CC67DF4A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8D42934-DBE9-4799-B87E-88B6A3E37E8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2B703F7-AB20-4CD1-B606-0BAE9FA7264D}"/>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History page supplied the Card and ListTile foundation. The integrated version now displays child purchase records and passes their IDs to the appropriate actions.</a:t>
            </a:r>
          </a:p>
        </p:txBody>
      </p:sp>
      <p:sp>
        <p:nvSpPr>
          <p:cNvPr id="6" name="">
            <a:extLst xmlns:a="http://schemas.openxmlformats.org/drawingml/2006/main">
              <a:ext uri="{FF2B5EF4-FFF2-40B4-BE49-F238E27FC236}">
                <a16:creationId xmlns:a16="http://schemas.microsoft.com/office/drawing/2014/main" id="{11C84B42-48DE-446E-971A-2145F24A9A78}"/>
              </a:ext>
            </a:extLst>
          </p:cNvPr>
          <p:cNvSpPr>
            <a:spLocks xmlns:a="http://schemas.openxmlformats.org/drawingml/2006/main" noGrp="1"/>
          </p:cNvSpPr>
          <p:nvPr/>
        </p:nvSpPr>
        <p:spPr>
          <a:xfrm xmlns:a="http://schemas.openxmlformats.org/drawingml/2006/main">
            <a:off x="7762875" y="1762125"/>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3CE51A6E-A248-48EE-A255-9D06359E1AFC}"/>
              </a:ext>
            </a:extLst>
          </p:cNvPr>
          <p:cNvSpPr>
            <a:spLocks xmlns:a="http://schemas.openxmlformats.org/drawingml/2006/main" noGrp="1"/>
          </p:cNvSpPr>
          <p:nvPr/>
        </p:nvSpPr>
        <p:spPr>
          <a:xfrm xmlns:a="http://schemas.openxmlformats.org/drawingml/2006/main">
            <a:off x="7762875" y="2352675"/>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saveToken TEXT NOT NULL </a:t>
            </a:r>
            <a:r>
              <a:rPr sz="1575" b="0">
                <a:solidFill>
                  <a:srgbClr val="B8ECD2"/>
                </a:solidFill>
                <a:latin typeface="Menlo"/>
                <a:ea typeface="Menlo"/>
                <a:cs typeface="Menlo"/>
              </a:rPr>
              <a:t>UNIQUE</a:t>
            </a:r>
          </a:p>
        </p:txBody>
      </p:sp>
      <p:sp>
        <p:nvSpPr>
          <p:cNvPr id="8" name="">
            <a:extLst xmlns:a="http://schemas.openxmlformats.org/drawingml/2006/main">
              <a:ext uri="{FF2B5EF4-FFF2-40B4-BE49-F238E27FC236}">
                <a16:creationId xmlns:a16="http://schemas.microsoft.com/office/drawing/2014/main" id="{C0576974-6472-4A5B-979F-500C0B166AC6}"/>
              </a:ext>
            </a:extLst>
          </p:cNvPr>
          <p:cNvSpPr>
            <a:spLocks xmlns:a="http://schemas.openxmlformats.org/drawingml/2006/main" noGrp="1"/>
          </p:cNvSpPr>
          <p:nvPr/>
        </p:nvSpPr>
        <p:spPr>
          <a:xfrm xmlns:a="http://schemas.openxmlformats.org/drawingml/2006/main">
            <a:off x="7762875" y="3886200"/>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lib/screens/purchase_editor.dart</a:t>
            </a:r>
          </a:p>
        </p:txBody>
      </p:sp>
      <p:sp>
        <p:nvSpPr>
          <p:cNvPr id="9" name="">
            <a:extLst xmlns:a="http://schemas.openxmlformats.org/drawingml/2006/main">
              <a:ext uri="{FF2B5EF4-FFF2-40B4-BE49-F238E27FC236}">
                <a16:creationId xmlns:a16="http://schemas.microsoft.com/office/drawing/2014/main" id="{A2835EEA-514C-4181-B2B1-7ADFBDA160D7}"/>
              </a:ext>
            </a:extLst>
          </p:cNvPr>
          <p:cNvSpPr>
            <a:spLocks xmlns:a="http://schemas.openxmlformats.org/drawingml/2006/main" noGrp="1"/>
          </p:cNvSpPr>
          <p:nvPr/>
        </p:nvSpPr>
        <p:spPr>
          <a:xfrm xmlns:a="http://schemas.openxmlformats.org/drawingml/2006/main">
            <a:off x="7762875" y="4476750"/>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onPressed: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saving || meal == null</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 null : save,</a:t>
            </a:r>
          </a:p>
        </p:txBody>
      </p:sp>
    </p:spTree>
    <p:extLst>
      <p:ext uri="{BB962C8B-B14F-4D97-AF65-F5344CB8AC3E}">
        <p14:creationId xmlns:p14="http://schemas.microsoft.com/office/powerpoint/2010/main" val="754685743"/>
      </p:ext>
    </p:extLst>
  </p:cSld>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249B1-4327-4785-9DCB-CFE2AC24360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6E87B25-D14E-453F-A17E-0EA7625B722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Save protection in the actual code</a:t>
            </a:r>
          </a:p>
        </p:txBody>
      </p:sp>
      <p:sp>
        <p:nvSpPr>
          <p:cNvPr id="3" name="">
            <a:extLst xmlns:a="http://schemas.openxmlformats.org/drawingml/2006/main">
              <a:ext uri="{FF2B5EF4-FFF2-40B4-BE49-F238E27FC236}">
                <a16:creationId xmlns:a16="http://schemas.microsoft.com/office/drawing/2014/main" id="{52FE2658-E132-46DC-9B1D-9884046A4CF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21C9AB8-6071-4AC0-B8E9-CE85B3E50DA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D2B6D87-2019-431B-8538-9CF80D53D565}"/>
              </a:ext>
            </a:extLst>
          </p:cNvPr>
          <p:cNvSpPr>
            <a:spLocks xmlns:a="http://schemas.openxmlformats.org/drawingml/2006/main" noGrp="1"/>
          </p:cNvSpPr>
          <p:nvPr/>
        </p:nvSpPr>
        <p:spPr>
          <a:xfrm xmlns:a="http://schemas.openxmlformats.org/drawingml/2006/main">
            <a:off x="666750" y="13620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6" name="">
            <a:extLst xmlns:a="http://schemas.openxmlformats.org/drawingml/2006/main">
              <a:ext uri="{FF2B5EF4-FFF2-40B4-BE49-F238E27FC236}">
                <a16:creationId xmlns:a16="http://schemas.microsoft.com/office/drawing/2014/main" id="{163B8D4D-F635-45A2-8732-4FAA85E90B96}"/>
              </a:ext>
            </a:extLst>
          </p:cNvPr>
          <p:cNvSpPr>
            <a:spLocks xmlns:a="http://schemas.openxmlformats.org/drawingml/2006/main" noGrp="1"/>
          </p:cNvSpPr>
          <p:nvPr/>
        </p:nvSpPr>
        <p:spPr>
          <a:xfrm xmlns:a="http://schemas.openxmlformats.org/drawingml/2006/main">
            <a:off x="666750" y="1952625"/>
            <a:ext cx="10858500" cy="3314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return</a:t>
            </a:r>
            <a:r>
              <a:rPr sz="1800" b="0">
                <a:solidFill>
                  <a:srgbClr val="E2F1E8"/>
                </a:solidFill>
                <a:latin typeface="Menlo"/>
                <a:ea typeface="Menlo"/>
                <a:cs typeface="Menlo"/>
              </a:rPr>
              <a:t> db.transaction((txn) async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final</a:t>
            </a:r>
            <a:r>
              <a:rPr sz="1800" b="0">
                <a:solidFill>
                  <a:srgbClr val="E2F1E8"/>
                </a:solidFill>
                <a:latin typeface="Menlo"/>
                <a:ea typeface="Menlo"/>
                <a:cs typeface="Menlo"/>
              </a:rPr>
              <a:t> existing = await txn.query(</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'purchase_logs',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columns: ['id'],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 'saveToken =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whereArgs: [log.saveToken],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if</a:t>
            </a:r>
            <a:r>
              <a:rPr sz="1800" b="0">
                <a:solidFill>
                  <a:srgbClr val="E2F1E8"/>
                </a:solidFill>
                <a:latin typeface="Menlo"/>
                <a:ea typeface="Menlo"/>
                <a:cs typeface="Menlo"/>
              </a:rPr>
              <a:t> (existing.isNotEmpty) return existing.first['id'] as </a:t>
            </a:r>
            <a:r>
              <a:rPr sz="1800" b="0">
                <a:solidFill>
                  <a:srgbClr val="B8ECD2"/>
                </a:solidFill>
                <a:latin typeface="Menlo"/>
                <a:ea typeface="Menlo"/>
                <a:cs typeface="Menlo"/>
              </a:rPr>
              <a:t>int</a:t>
            </a:r>
            <a:r>
              <a:rPr sz="1800" b="0">
                <a:solidFill>
                  <a:srgbClr val="E2F1E8"/>
                </a:solidFill>
                <a:latin typeface="Menlo"/>
                <a:ea typeface="Menlo"/>
                <a:cs typeface="Menlo"/>
              </a:rPr>
              <a: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return txn.insert('purchase_logs', log.toMap()..remove('id'));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96CC8DB0-BB75-4D5E-936A-E5E57B1C16BA}"/>
              </a:ext>
            </a:extLst>
          </p:cNvPr>
          <p:cNvSpPr>
            <a:spLocks xmlns:a="http://schemas.openxmlformats.org/drawingml/2006/main" noGrp="1"/>
          </p:cNvSpPr>
          <p:nvPr/>
        </p:nvSpPr>
        <p:spPr>
          <a:xfrm xmlns:a="http://schemas.openxmlformats.org/drawingml/2006/main">
            <a:off x="666750" y="5381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transaction checks the draft token before inserting. Retrying the same draft returns its existing receipt ID. A new purchase receives a new token. Om will now explain how the frontend connects these backend operations to the student's workflow.</a:t>
            </a:r>
          </a:p>
        </p:txBody>
      </p:sp>
    </p:spTree>
    <p:extLst>
      <p:ext uri="{BB962C8B-B14F-4D97-AF65-F5344CB8AC3E}">
        <p14:creationId xmlns:p14="http://schemas.microsoft.com/office/powerpoint/2010/main" val="1108021270"/>
      </p:ext>
    </p:extLst>
  </p:cSld>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407C-CD65-4CA6-9EC7-0A2DE876C93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5DA85A49-72C5-453E-BF77-DE141151F48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Frontend navigation and screen roles</a:t>
            </a:r>
          </a:p>
        </p:txBody>
      </p:sp>
      <p:sp>
        <p:nvSpPr>
          <p:cNvPr id="3" name="">
            <a:extLst xmlns:a="http://schemas.openxmlformats.org/drawingml/2006/main">
              <a:ext uri="{FF2B5EF4-FFF2-40B4-BE49-F238E27FC236}">
                <a16:creationId xmlns:a16="http://schemas.microsoft.com/office/drawing/2014/main" id="{7556E369-C10C-41DB-AEDC-9DF89C6AF9F1}"/>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0DB27D55-7371-4EB0-872C-A1792EC7899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864865A-C127-4F6E-877C-AA3E1DEEA8B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Stateless MealCard and EmptyView render supplied values and callbacks. Reusing them keeps presentation consistent when saved records change or a filter returns no results.</a:t>
            </a:r>
          </a:p>
        </p:txBody>
      </p:sp>
      <p:sp>
        <p:nvSpPr>
          <p:cNvPr id="6" name="">
            <a:extLst xmlns:a="http://schemas.openxmlformats.org/drawingml/2006/main">
              <a:ext uri="{FF2B5EF4-FFF2-40B4-BE49-F238E27FC236}">
                <a16:creationId xmlns:a16="http://schemas.microsoft.com/office/drawing/2014/main" id="{5F193F22-2CC5-41A8-92FA-9159717D736D}"/>
              </a:ext>
            </a:extLst>
          </p:cNvPr>
          <p:cNvSpPr>
            <a:spLocks xmlns:a="http://schemas.openxmlformats.org/drawingml/2006/main" noGrp="1"/>
          </p:cNvSpPr>
          <p:nvPr/>
        </p:nvSpPr>
        <p:spPr>
          <a:xfrm xmlns:a="http://schemas.openxmlformats.org/drawingml/2006/main">
            <a:off x="7810500" y="168592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Navigation remains available</a:t>
            </a:r>
          </a:p>
        </p:txBody>
      </p:sp>
      <p:pic>
        <p:nvPicPr>
          <p:cNvPr id="7" name="">
            <a:extLst xmlns:a="http://schemas.openxmlformats.org/drawingml/2006/main">
              <a:ext uri="{FF2B5EF4-FFF2-40B4-BE49-F238E27FC236}">
                <a16:creationId xmlns:a16="http://schemas.microsoft.com/office/drawing/2014/main" id="{AC893EFE-8A70-42F5-BEDF-03E95772F6DB}"/>
              </a:ext>
            </a:extLst>
          </p:cNvPr>
          <p:cNvPicPr>
            <a:picLocks xmlns:a="http://schemas.openxmlformats.org/drawingml/2006/main" noChangeAspect="1"/>
          </p:cNvPicPr>
          <p:nvPr/>
        </p:nvPicPr>
        <p:blipFill>
          <a:blip xmlns:r="http://schemas.openxmlformats.org/officeDocument/2006/relationships" xmlns:a="http://schemas.openxmlformats.org/drawingml/2006/main" r:embed="R9efefb12df8b4c09"/>
          <a:stretch xmlns:a="http://schemas.openxmlformats.org/drawingml/2006/main"/>
        </p:blipFill>
        <p:spPr>
          <a:xfrm xmlns:a="http://schemas.openxmlformats.org/drawingml/2006/main">
            <a:off x="8526780" y="2228850"/>
            <a:ext cx="1748790" cy="3886200"/>
          </a:xfrm>
          <a:prstGeom xmlns:a="http://schemas.openxmlformats.org/drawingml/2006/main" prst="rect">
            <a:avLst/>
          </a:prstGeom>
        </p:spPr>
      </p:pic>
    </p:spTree>
    <p:extLst>
      <p:ext uri="{BB962C8B-B14F-4D97-AF65-F5344CB8AC3E}">
        <p14:creationId xmlns:p14="http://schemas.microsoft.com/office/powerpoint/2010/main" val="1526955900"/>
      </p:ext>
    </p:extLst>
  </p:cSld>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8E28D3-E6BF-42E2-BB33-674507102A8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EEC70C2F-4083-4978-AA54-A2C89BB7393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Shared state and widget lifecycle</a:t>
            </a:r>
          </a:p>
        </p:txBody>
      </p:sp>
      <p:sp>
        <p:nvSpPr>
          <p:cNvPr id="3" name="">
            <a:extLst xmlns:a="http://schemas.openxmlformats.org/drawingml/2006/main">
              <a:ext uri="{FF2B5EF4-FFF2-40B4-BE49-F238E27FC236}">
                <a16:creationId xmlns:a16="http://schemas.microsoft.com/office/drawing/2014/main" id="{4FE64625-7E7E-497E-BF23-E800B480E4E8}"/>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0AB8E15-0859-4248-885F-EB7540415DD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D9A2267-237D-4400-8C6A-5B9246C48AD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dispose controllers and check mounted after asynchronous operations. The application owns database lifetime, and AppStore suppresses notifications after disposal, reducing stale updates.</a:t>
            </a:r>
          </a:p>
        </p:txBody>
      </p:sp>
      <p:sp>
        <p:nvSpPr>
          <p:cNvPr id="6" name="">
            <a:extLst xmlns:a="http://schemas.openxmlformats.org/drawingml/2006/main">
              <a:ext uri="{FF2B5EF4-FFF2-40B4-BE49-F238E27FC236}">
                <a16:creationId xmlns:a16="http://schemas.microsoft.com/office/drawing/2014/main" id="{E92386BC-3B04-42CE-A1B6-F1FC85F03E32}"/>
              </a:ext>
            </a:extLst>
          </p:cNvPr>
          <p:cNvSpPr>
            <a:spLocks xmlns:a="http://schemas.openxmlformats.org/drawingml/2006/main" noGrp="1"/>
          </p:cNvSpPr>
          <p:nvPr/>
        </p:nvSpPr>
        <p:spPr>
          <a:xfrm xmlns:a="http://schemas.openxmlformats.org/drawingml/2006/main">
            <a:off x="7810500" y="1676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lib/state/app_store.dart</a:t>
            </a:r>
          </a:p>
        </p:txBody>
      </p:sp>
      <p:sp>
        <p:nvSpPr>
          <p:cNvPr id="7" name="">
            <a:extLst xmlns:a="http://schemas.openxmlformats.org/drawingml/2006/main">
              <a:ext uri="{FF2B5EF4-FFF2-40B4-BE49-F238E27FC236}">
                <a16:creationId xmlns:a16="http://schemas.microsoft.com/office/drawing/2014/main" id="{80615658-7B67-42A3-8640-8DB434182D67}"/>
              </a:ext>
            </a:extLst>
          </p:cNvPr>
          <p:cNvSpPr>
            <a:spLocks xmlns:a="http://schemas.openxmlformats.org/drawingml/2006/main" noGrp="1"/>
          </p:cNvSpPr>
          <p:nvPr/>
        </p:nvSpPr>
        <p:spPr>
          <a:xfrm xmlns:a="http://schemas.openxmlformats.org/drawingml/2006/main">
            <a:off x="7810500" y="2266950"/>
            <a:ext cx="3714750" cy="20478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void</a:t>
            </a:r>
            <a:r>
              <a:rPr sz="1875" b="0">
                <a:solidFill>
                  <a:srgbClr val="E2F1E8"/>
                </a:solidFill>
                <a:latin typeface="Menlo"/>
                <a:ea typeface="Menlo"/>
                <a:cs typeface="Menlo"/>
              </a:rPr>
              <a:t> _not</a:t>
            </a:r>
            <a:r>
              <a:rPr sz="1875" b="0">
                <a:solidFill>
                  <a:srgbClr val="B8ECD2"/>
                </a:solidFill>
                <a:latin typeface="Menlo"/>
                <a:ea typeface="Menlo"/>
                <a:cs typeface="Menlo"/>
              </a:rPr>
              <a:t>if</a:t>
            </a:r>
            <a:r>
              <a:rPr sz="1875" b="0">
                <a:solidFill>
                  <a:srgbClr val="E2F1E8"/>
                </a:solidFill>
                <a:latin typeface="Menlo"/>
                <a:ea typeface="Menlo"/>
                <a:cs typeface="Menlo"/>
              </a:rPr>
              <a:t>y()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if (!_closed)</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notifyListeners();</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AB30CDC7-1D11-4D49-8F34-9C5DFDFD18E6}"/>
              </a:ext>
            </a:extLst>
          </p:cNvPr>
          <p:cNvSpPr>
            <a:spLocks xmlns:a="http://schemas.openxmlformats.org/drawingml/2006/main" noGrp="1"/>
          </p:cNvSpPr>
          <p:nvPr/>
        </p:nvSpPr>
        <p:spPr>
          <a:xfrm xmlns:a="http://schemas.openxmlformats.org/drawingml/2006/main">
            <a:off x="7810500" y="48577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Shared updates stop after disposal</a:t>
            </a:r>
          </a:p>
        </p:txBody>
      </p:sp>
    </p:spTree>
    <p:extLst>
      <p:ext uri="{BB962C8B-B14F-4D97-AF65-F5344CB8AC3E}">
        <p14:creationId xmlns:p14="http://schemas.microsoft.com/office/powerpoint/2010/main" val="1972596227"/>
      </p:ext>
    </p:extLst>
  </p:cSld>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C0DE90-033E-4658-9F7C-8C100C9EE78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9A2405D1-1555-4FE1-8605-5E2F7D080E4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editor and input feedback</a:t>
            </a:r>
          </a:p>
        </p:txBody>
      </p:sp>
      <p:sp>
        <p:nvSpPr>
          <p:cNvPr id="3" name="">
            <a:extLst xmlns:a="http://schemas.openxmlformats.org/drawingml/2006/main">
              <a:ext uri="{FF2B5EF4-FFF2-40B4-BE49-F238E27FC236}">
                <a16:creationId xmlns:a16="http://schemas.microsoft.com/office/drawing/2014/main" id="{081D850A-23DB-4E4F-9C90-0BE34282B7D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34AB3E-BDB0-46EC-AB00-82822630A6E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7D74458-C0F3-4277-AE80-A7A42F6A07A3}"/>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p:txBody>
      </p:sp>
      <p:sp>
        <p:nvSpPr>
          <p:cNvPr id="6" name="">
            <a:extLst xmlns:a="http://schemas.openxmlformats.org/drawingml/2006/main">
              <a:ext uri="{FF2B5EF4-FFF2-40B4-BE49-F238E27FC236}">
                <a16:creationId xmlns:a16="http://schemas.microsoft.com/office/drawing/2014/main" id="{A4C3CAEB-4DCD-4701-BFC5-5250DDA21819}"/>
              </a:ext>
            </a:extLst>
          </p:cNvPr>
          <p:cNvSpPr>
            <a:spLocks xmlns:a="http://schemas.openxmlformats.org/drawingml/2006/main" noGrp="1"/>
          </p:cNvSpPr>
          <p:nvPr/>
        </p:nvSpPr>
        <p:spPr>
          <a:xfrm xmlns:a="http://schemas.openxmlformats.org/drawingml/2006/main">
            <a:off x="7810500" y="17145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The same editor supports updates</a:t>
            </a:r>
          </a:p>
        </p:txBody>
      </p:sp>
      <p:pic>
        <p:nvPicPr>
          <p:cNvPr id="7" name="">
            <a:extLst xmlns:a="http://schemas.openxmlformats.org/drawingml/2006/main">
              <a:ext uri="{FF2B5EF4-FFF2-40B4-BE49-F238E27FC236}">
                <a16:creationId xmlns:a16="http://schemas.microsoft.com/office/drawing/2014/main" id="{749B947B-EEDE-4F8C-AB82-0835F08B6B78}"/>
              </a:ext>
            </a:extLst>
          </p:cNvPr>
          <p:cNvPicPr>
            <a:picLocks xmlns:a="http://schemas.openxmlformats.org/drawingml/2006/main" noChangeAspect="1"/>
          </p:cNvPicPr>
          <p:nvPr/>
        </p:nvPicPr>
        <p:blipFill>
          <a:blip xmlns:r="http://schemas.openxmlformats.org/officeDocument/2006/relationships" xmlns:a="http://schemas.openxmlformats.org/drawingml/2006/main" r:embed="R175001f6bd384063"/>
          <a:srcRect xmlns:a="http://schemas.openxmlformats.org/drawingml/2006/main" l="4000" t="32500" r="4000" b="50000"/>
          <a:stretch xmlns:a="http://schemas.openxmlformats.org/drawingml/2006/main"/>
        </p:blipFill>
        <p:spPr>
          <a:xfrm xmlns:a="http://schemas.openxmlformats.org/drawingml/2006/main">
            <a:off x="7810500" y="2428875"/>
            <a:ext cx="3714750" cy="1590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549F33-F843-4BED-9417-9461163D5AE2}"/>
              </a:ext>
            </a:extLst>
          </p:cNvPr>
          <p:cNvSpPr>
            <a:spLocks xmlns:a="http://schemas.openxmlformats.org/drawingml/2006/main" noGrp="1"/>
          </p:cNvSpPr>
          <p:nvPr/>
        </p:nvSpPr>
        <p:spPr>
          <a:xfrm xmlns:a="http://schemas.openxmlformats.org/drawingml/2006/main">
            <a:off x="7810500" y="43338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Explicit Save after validation</a:t>
            </a:r>
          </a:p>
        </p:txBody>
      </p:sp>
      <p:pic>
        <p:nvPicPr>
          <p:cNvPr id="9" name="">
            <a:extLst xmlns:a="http://schemas.openxmlformats.org/drawingml/2006/main">
              <a:ext uri="{FF2B5EF4-FFF2-40B4-BE49-F238E27FC236}">
                <a16:creationId xmlns:a16="http://schemas.microsoft.com/office/drawing/2014/main" id="{ED5F21E0-4FD9-4962-80FA-01252B1ABC89}"/>
              </a:ext>
            </a:extLst>
          </p:cNvPr>
          <p:cNvPicPr>
            <a:picLocks xmlns:a="http://schemas.openxmlformats.org/drawingml/2006/main" noChangeAspect="1"/>
          </p:cNvPicPr>
          <p:nvPr/>
        </p:nvPicPr>
        <p:blipFill>
          <a:blip xmlns:r="http://schemas.openxmlformats.org/officeDocument/2006/relationships" xmlns:a="http://schemas.openxmlformats.org/drawingml/2006/main" r:embed="R1301c351d6f241e1"/>
          <a:srcRect xmlns:a="http://schemas.openxmlformats.org/drawingml/2006/main" l="4000" t="86500" r="4000" b="6500"/>
          <a:stretch xmlns:a="http://schemas.openxmlformats.org/drawingml/2006/main"/>
        </p:blipFill>
        <p:spPr>
          <a:xfrm xmlns:a="http://schemas.openxmlformats.org/drawingml/2006/main">
            <a:off x="7810500" y="5010150"/>
            <a:ext cx="3714750" cy="6286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19572C8-CC5F-4577-87C8-A390B9BDED90}"/>
              </a:ext>
            </a:extLst>
          </p:cNvPr>
          <p:cNvSpPr>
            <a:spLocks xmlns:a="http://schemas.openxmlformats.org/drawingml/2006/main" noGrp="1"/>
          </p:cNvSpPr>
          <p:nvPr/>
        </p:nvSpPr>
        <p:spPr>
          <a:xfrm xmlns:a="http://schemas.openxmlformats.org/drawingml/2006/main">
            <a:off x="7810500" y="58864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will continue from here.</a:t>
            </a:r>
          </a:p>
        </p:txBody>
      </p:sp>
    </p:spTree>
    <p:extLst>
      <p:ext uri="{BB962C8B-B14F-4D97-AF65-F5344CB8AC3E}">
        <p14:creationId xmlns:p14="http://schemas.microsoft.com/office/powerpoint/2010/main" val="1774955214"/>
      </p:ext>
    </p:extLst>
  </p:cSld>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6E934E-DFBE-4F32-8363-A52396C5B2E7}"/>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BC6A896-F41D-47EA-B804-C2451D9935BC}"/>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Plan, purchase and saved preferences</a:t>
            </a:r>
          </a:p>
        </p:txBody>
      </p:sp>
      <p:sp>
        <p:nvSpPr>
          <p:cNvPr id="3" name="">
            <a:extLst xmlns:a="http://schemas.openxmlformats.org/drawingml/2006/main">
              <a:ext uri="{FF2B5EF4-FFF2-40B4-BE49-F238E27FC236}">
                <a16:creationId xmlns:a16="http://schemas.microsoft.com/office/drawing/2014/main" id="{F876D2E6-1E90-4E64-B894-303C7C0FF47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BEA981-E556-4844-9CE5-E75CB52512A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AC20ED2-84E9-4ED0-B696-41B43AD0B03B}"/>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p:txBody>
      </p:sp>
      <p:sp>
        <p:nvSpPr>
          <p:cNvPr id="6" name="">
            <a:extLst xmlns:a="http://schemas.openxmlformats.org/drawingml/2006/main">
              <a:ext uri="{FF2B5EF4-FFF2-40B4-BE49-F238E27FC236}">
                <a16:creationId xmlns:a16="http://schemas.microsoft.com/office/drawing/2014/main" id="{B732DD41-7620-4F2F-BDC0-6F52AEC363EA}"/>
              </a:ext>
            </a:extLst>
          </p:cNvPr>
          <p:cNvSpPr>
            <a:spLocks xmlns:a="http://schemas.openxmlformats.org/drawingml/2006/main" noGrp="1"/>
          </p:cNvSpPr>
          <p:nvPr/>
        </p:nvSpPr>
        <p:spPr>
          <a:xfrm xmlns:a="http://schemas.openxmlformats.org/drawingml/2006/main">
            <a:off x="7810500" y="16954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Reset affects the unsaved draft</a:t>
            </a:r>
          </a:p>
        </p:txBody>
      </p:sp>
      <p:pic>
        <p:nvPicPr>
          <p:cNvPr id="7" name="">
            <a:extLst xmlns:a="http://schemas.openxmlformats.org/drawingml/2006/main">
              <a:ext uri="{FF2B5EF4-FFF2-40B4-BE49-F238E27FC236}">
                <a16:creationId xmlns:a16="http://schemas.microsoft.com/office/drawing/2014/main" id="{5CC727A0-0CD7-4E3E-99E7-D33A40CA5835}"/>
              </a:ext>
            </a:extLst>
          </p:cNvPr>
          <p:cNvPicPr>
            <a:picLocks xmlns:a="http://schemas.openxmlformats.org/drawingml/2006/main" noChangeAspect="1"/>
          </p:cNvPicPr>
          <p:nvPr/>
        </p:nvPicPr>
        <p:blipFill>
          <a:blip xmlns:r="http://schemas.openxmlformats.org/officeDocument/2006/relationships" xmlns:a="http://schemas.openxmlformats.org/drawingml/2006/main" r:embed="R63e5dd5e9a9749be"/>
          <a:srcRect xmlns:a="http://schemas.openxmlformats.org/drawingml/2006/main" l="8000" t="40000" r="8000" b="37000"/>
          <a:stretch xmlns:a="http://schemas.openxmlformats.org/drawingml/2006/main"/>
        </p:blipFill>
        <p:spPr>
          <a:xfrm xmlns:a="http://schemas.openxmlformats.org/drawingml/2006/main">
            <a:off x="7810500" y="2400300"/>
            <a:ext cx="3714750" cy="22669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02D84F2-795A-4E62-B9BF-229494C28D37}"/>
              </a:ext>
            </a:extLst>
          </p:cNvPr>
          <p:cNvSpPr>
            <a:spLocks xmlns:a="http://schemas.openxmlformats.org/drawingml/2006/main" noGrp="1"/>
          </p:cNvSpPr>
          <p:nvPr/>
        </p:nvSpPr>
        <p:spPr>
          <a:xfrm xmlns:a="http://schemas.openxmlformats.org/drawingml/2006/main">
            <a:off x="7810500" y="5238750"/>
            <a:ext cx="3762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confirmation explicitly preserves saved purchase history.</a:t>
            </a:r>
          </a:p>
        </p:txBody>
      </p:sp>
    </p:spTree>
    <p:extLst>
      <p:ext uri="{BB962C8B-B14F-4D97-AF65-F5344CB8AC3E}">
        <p14:creationId xmlns:p14="http://schemas.microsoft.com/office/powerpoint/2010/main" val="912633506"/>
      </p:ext>
    </p:extLst>
  </p:cSld>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19D3C2-57BB-4317-AEB6-8974D38914A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64C432F1-DB4F-483C-924A-70526A02A1C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Receipt correction in practice</a:t>
            </a:r>
          </a:p>
        </p:txBody>
      </p:sp>
      <p:sp>
        <p:nvSpPr>
          <p:cNvPr id="3" name="">
            <a:extLst xmlns:a="http://schemas.openxmlformats.org/drawingml/2006/main">
              <a:ext uri="{FF2B5EF4-FFF2-40B4-BE49-F238E27FC236}">
                <a16:creationId xmlns:a16="http://schemas.microsoft.com/office/drawing/2014/main" id="{ABDD265F-F266-4392-924F-43CB3AF8DE9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5FAF8EA-F680-4954-98A3-5D76BDB986C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2EF52F66-E76A-4416-83F3-4CB5B1479831}"/>
              </a:ext>
            </a:extLst>
          </p:cNvPr>
          <p:cNvSpPr>
            <a:spLocks xmlns:a="http://schemas.openxmlformats.org/drawingml/2006/main" noGrp="1"/>
          </p:cNvSpPr>
          <p:nvPr/>
        </p:nvSpPr>
        <p:spPr>
          <a:xfrm xmlns:a="http://schemas.openxmlformats.org/drawingml/2006/main">
            <a:off x="666750"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Original saved amount</a:t>
            </a:r>
          </a:p>
        </p:txBody>
      </p:sp>
      <p:sp>
        <p:nvSpPr>
          <p:cNvPr id="6" name="">
            <a:extLst xmlns:a="http://schemas.openxmlformats.org/drawingml/2006/main">
              <a:ext uri="{FF2B5EF4-FFF2-40B4-BE49-F238E27FC236}">
                <a16:creationId xmlns:a16="http://schemas.microsoft.com/office/drawing/2014/main" id="{A9E6788B-80B8-4A34-86C1-D7EB9D9503EB}"/>
              </a:ext>
            </a:extLst>
          </p:cNvPr>
          <p:cNvSpPr>
            <a:spLocks xmlns:a="http://schemas.openxmlformats.org/drawingml/2006/main" noGrp="1"/>
          </p:cNvSpPr>
          <p:nvPr/>
        </p:nvSpPr>
        <p:spPr>
          <a:xfrm xmlns:a="http://schemas.openxmlformats.org/drawingml/2006/main">
            <a:off x="4619625"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Corrected saved amount</a:t>
            </a:r>
          </a:p>
        </p:txBody>
      </p:sp>
      <p:pic>
        <p:nvPicPr>
          <p:cNvPr id="7" name="">
            <a:extLst xmlns:a="http://schemas.openxmlformats.org/drawingml/2006/main">
              <a:ext uri="{FF2B5EF4-FFF2-40B4-BE49-F238E27FC236}">
                <a16:creationId xmlns:a16="http://schemas.microsoft.com/office/drawing/2014/main" id="{F89E876A-30C5-4789-812D-9AD343715ED0}"/>
              </a:ext>
            </a:extLst>
          </p:cNvPr>
          <p:cNvPicPr>
            <a:picLocks xmlns:a="http://schemas.openxmlformats.org/drawingml/2006/main" noChangeAspect="1"/>
          </p:cNvPicPr>
          <p:nvPr/>
        </p:nvPicPr>
        <p:blipFill>
          <a:blip xmlns:r="http://schemas.openxmlformats.org/officeDocument/2006/relationships" xmlns:a="http://schemas.openxmlformats.org/drawingml/2006/main" r:embed="Re037737aa2cd4907"/>
          <a:srcRect xmlns:a="http://schemas.openxmlformats.org/drawingml/2006/main" l="2000" t="37000" r="2000" b="19000"/>
          <a:stretch xmlns:a="http://schemas.openxmlformats.org/drawingml/2006/main"/>
        </p:blipFill>
        <p:spPr>
          <a:xfrm xmlns:a="http://schemas.openxmlformats.org/drawingml/2006/main">
            <a:off x="666750" y="2219325"/>
            <a:ext cx="3286125" cy="3343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8FB0FC4-7268-4249-93DE-71124B65EB85}"/>
              </a:ext>
            </a:extLst>
          </p:cNvPr>
          <p:cNvPicPr>
            <a:picLocks xmlns:a="http://schemas.openxmlformats.org/drawingml/2006/main" noChangeAspect="1"/>
          </p:cNvPicPr>
          <p:nvPr/>
        </p:nvPicPr>
        <p:blipFill>
          <a:blip xmlns:r="http://schemas.openxmlformats.org/officeDocument/2006/relationships" xmlns:a="http://schemas.openxmlformats.org/drawingml/2006/main" r:embed="Rf77e5282818f4f7e"/>
          <a:srcRect xmlns:a="http://schemas.openxmlformats.org/drawingml/2006/main" l="2000" t="37000" r="2000" b="19000"/>
          <a:stretch xmlns:a="http://schemas.openxmlformats.org/drawingml/2006/main"/>
        </p:blipFill>
        <p:spPr>
          <a:xfrm xmlns:a="http://schemas.openxmlformats.org/drawingml/2006/main">
            <a:off x="4619625" y="2219325"/>
            <a:ext cx="3286125" cy="33432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894C5BB-2C3A-4EC1-8D46-720F4B6C2401}"/>
              </a:ext>
            </a:extLst>
          </p:cNvPr>
          <p:cNvSpPr>
            <a:spLocks xmlns:a="http://schemas.openxmlformats.org/drawingml/2006/main" noGrp="1"/>
          </p:cNvSpPr>
          <p:nvPr/>
        </p:nvSpPr>
        <p:spPr>
          <a:xfrm xmlns:a="http://schemas.openxmlformats.org/drawingml/2006/main">
            <a:off x="8572500" y="24479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6452"/>
                </a:solidFill>
                <a:latin typeface="Arial"/>
                <a:ea typeface="Arial"/>
                <a:cs typeface="Arial"/>
              </a:defRPr>
            </a:defPPr>
            <a:lvl1pPr>
              <a:buNone/>
              <a:defRPr sz="2400" b="1">
                <a:solidFill>
                  <a:srgbClr val="176452"/>
                </a:solidFill>
                <a:latin typeface="Arial"/>
                <a:ea typeface="Arial"/>
                <a:cs typeface="Arial"/>
              </a:defRPr>
            </a:lvl1pPr>
            <a:lvl2pPr>
              <a:buNone/>
              <a:defRPr sz="2400" b="1">
                <a:solidFill>
                  <a:srgbClr val="176452"/>
                </a:solidFill>
                <a:latin typeface="Arial"/>
                <a:ea typeface="Arial"/>
                <a:cs typeface="Arial"/>
              </a:defRPr>
            </a:lvl2pPr>
            <a:lvl3pPr>
              <a:buNone/>
              <a:defRPr sz="2400" b="1">
                <a:solidFill>
                  <a:srgbClr val="176452"/>
                </a:solidFill>
                <a:latin typeface="Arial"/>
                <a:ea typeface="Arial"/>
                <a:cs typeface="Arial"/>
              </a:defRPr>
            </a:lvl3pPr>
            <a:lvl4pPr>
              <a:buNone/>
              <a:defRPr sz="2400" b="1">
                <a:solidFill>
                  <a:srgbClr val="176452"/>
                </a:solidFill>
                <a:latin typeface="Arial"/>
                <a:ea typeface="Arial"/>
                <a:cs typeface="Arial"/>
              </a:defRPr>
            </a:lvl4pPr>
            <a:lvl5pPr>
              <a:buNone/>
              <a:defRPr sz="2400" b="1">
                <a:solidFill>
                  <a:srgbClr val="176452"/>
                </a:solidFill>
                <a:latin typeface="Arial"/>
                <a:ea typeface="Arial"/>
                <a:cs typeface="Arial"/>
              </a:defRPr>
            </a:lvl5pPr>
            <a:lvl6pPr>
              <a:buNone/>
              <a:defRPr sz="2400" b="1">
                <a:solidFill>
                  <a:srgbClr val="176452"/>
                </a:solidFill>
                <a:latin typeface="Arial"/>
                <a:ea typeface="Arial"/>
                <a:cs typeface="Arial"/>
              </a:defRPr>
            </a:lvl6pPr>
            <a:lvl7pPr>
              <a:buNone/>
              <a:defRPr sz="2400" b="1">
                <a:solidFill>
                  <a:srgbClr val="176452"/>
                </a:solidFill>
                <a:latin typeface="Arial"/>
                <a:ea typeface="Arial"/>
                <a:cs typeface="Arial"/>
              </a:defRPr>
            </a:lvl7pPr>
            <a:lvl8pPr>
              <a:buNone/>
              <a:defRPr sz="2400" b="1">
                <a:solidFill>
                  <a:srgbClr val="176452"/>
                </a:solidFill>
                <a:latin typeface="Arial"/>
                <a:ea typeface="Arial"/>
                <a:cs typeface="Arial"/>
              </a:defRPr>
            </a:lvl8pPr>
            <a:lvl9pPr>
              <a:buNone/>
              <a:defRPr sz="2400" b="1">
                <a:solidFill>
                  <a:srgbClr val="176452"/>
                </a:solidFill>
                <a:latin typeface="Arial"/>
                <a:ea typeface="Arial"/>
                <a:cs typeface="Arial"/>
              </a:defRPr>
            </a:lvl9pPr>
          </a:lstStyle>
          <a:p xmlns:a="http://schemas.openxmlformats.org/drawingml/2006/main">
            <a:pPr>
              <a:buNone/>
              <a:defRPr sz="2400" b="1">
                <a:solidFill>
                  <a:srgbClr val="176452"/>
                </a:solidFill>
                <a:latin typeface="Arial"/>
                <a:ea typeface="Arial"/>
                <a:cs typeface="Arial"/>
              </a:defRPr>
            </a:pPr>
            <a:r>
              <a:rPr sz="2400" b="1">
                <a:solidFill>
                  <a:srgbClr val="176452"/>
                </a:solidFill>
                <a:latin typeface="Arial"/>
                <a:ea typeface="Arial"/>
                <a:cs typeface="Arial"/>
              </a:rPr>
              <a:t>$6.50 to $6.00</a:t>
            </a:r>
          </a:p>
        </p:txBody>
      </p:sp>
      <p:sp>
        <p:nvSpPr>
          <p:cNvPr id="10" name="">
            <a:extLst xmlns:a="http://schemas.openxmlformats.org/drawingml/2006/main">
              <a:ext uri="{FF2B5EF4-FFF2-40B4-BE49-F238E27FC236}">
                <a16:creationId xmlns:a16="http://schemas.microsoft.com/office/drawing/2014/main" id="{D0A7ACCC-F81F-4927-A953-BB875B506211}"/>
              </a:ext>
            </a:extLst>
          </p:cNvPr>
          <p:cNvSpPr>
            <a:spLocks xmlns:a="http://schemas.openxmlformats.org/drawingml/2006/main" noGrp="1"/>
          </p:cNvSpPr>
          <p:nvPr/>
        </p:nvSpPr>
        <p:spPr>
          <a:xfrm xmlns:a="http://schemas.openxmlformats.org/drawingml/2006/main">
            <a:off x="8572500" y="3190875"/>
            <a:ext cx="2857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same receipt ID</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Updated actual amount</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Recalculated spending total</a:t>
            </a:r>
          </a:p>
        </p:txBody>
      </p:sp>
      <p:sp>
        <p:nvSpPr>
          <p:cNvPr id="11" name="">
            <a:extLst xmlns:a="http://schemas.openxmlformats.org/drawingml/2006/main">
              <a:ext uri="{FF2B5EF4-FFF2-40B4-BE49-F238E27FC236}">
                <a16:creationId xmlns:a16="http://schemas.microsoft.com/office/drawing/2014/main" id="{EDFB9722-C11E-4580-B89D-D01935846644}"/>
              </a:ext>
            </a:extLst>
          </p:cNvPr>
          <p:cNvSpPr>
            <a:spLocks xmlns:a="http://schemas.openxmlformats.org/drawingml/2006/main" noGrp="1"/>
          </p:cNvSpPr>
          <p:nvPr/>
        </p:nvSpPr>
        <p:spPr>
          <a:xfrm xmlns:a="http://schemas.openxmlformats.org/drawingml/2006/main">
            <a:off x="666750" y="5857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same receipt changes from $6.50 to $6.00. The spending total refreshes while the catalog estimate remains separate.</a:t>
            </a:r>
          </a:p>
        </p:txBody>
      </p:sp>
    </p:spTree>
    <p:extLst>
      <p:ext uri="{BB962C8B-B14F-4D97-AF65-F5344CB8AC3E}">
        <p14:creationId xmlns:p14="http://schemas.microsoft.com/office/powerpoint/2010/main" val="262450765"/>
      </p:ext>
    </p:extLst>
  </p:cSld>
</p:sld>
</file>

<file path=ppt/slides/slide1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D78F3-00F3-4265-BB4B-EAA139722F1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0BE941B-C4B5-4888-B7AE-26155E8B0557}"/>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method and user control</a:t>
            </a:r>
          </a:p>
        </p:txBody>
      </p:sp>
      <p:sp>
        <p:nvSpPr>
          <p:cNvPr id="3" name="">
            <a:extLst xmlns:a="http://schemas.openxmlformats.org/drawingml/2006/main">
              <a:ext uri="{FF2B5EF4-FFF2-40B4-BE49-F238E27FC236}">
                <a16:creationId xmlns:a16="http://schemas.microsoft.com/office/drawing/2014/main" id="{FDE2A30A-C79B-4D30-BA86-F5C57C2A577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53E882-3C4F-4000-827F-F51C3E04A05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B934E5-D7CB-4A4F-9A48-C29268E8609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p:txBody>
      </p:sp>
      <p:sp>
        <p:nvSpPr>
          <p:cNvPr id="6" name="">
            <a:extLst xmlns:a="http://schemas.openxmlformats.org/drawingml/2006/main">
              <a:ext uri="{FF2B5EF4-FFF2-40B4-BE49-F238E27FC236}">
                <a16:creationId xmlns:a16="http://schemas.microsoft.com/office/drawing/2014/main" id="{9C8A70D3-7115-45BA-9D92-833B4A844E13}"/>
              </a:ext>
            </a:extLst>
          </p:cNvPr>
          <p:cNvSpPr>
            <a:spLocks xmlns:a="http://schemas.openxmlformats.org/drawingml/2006/main" noGrp="1"/>
          </p:cNvSpPr>
          <p:nvPr/>
        </p:nvSpPr>
        <p:spPr>
          <a:xfrm xmlns:a="http://schemas.openxmlformats.org/drawingml/2006/main">
            <a:off x="7762875" y="17049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Suggestion with a visible reason</a:t>
            </a:r>
          </a:p>
        </p:txBody>
      </p:sp>
      <p:pic>
        <p:nvPicPr>
          <p:cNvPr id="7" name="">
            <a:extLst xmlns:a="http://schemas.openxmlformats.org/drawingml/2006/main">
              <a:ext uri="{FF2B5EF4-FFF2-40B4-BE49-F238E27FC236}">
                <a16:creationId xmlns:a16="http://schemas.microsoft.com/office/drawing/2014/main" id="{30911474-3EC3-420B-B2CC-AF35237D1116}"/>
              </a:ext>
            </a:extLst>
          </p:cNvPr>
          <p:cNvPicPr>
            <a:picLocks xmlns:a="http://schemas.openxmlformats.org/drawingml/2006/main" noChangeAspect="1"/>
          </p:cNvPicPr>
          <p:nvPr/>
        </p:nvPicPr>
        <p:blipFill>
          <a:blip xmlns:r="http://schemas.openxmlformats.org/officeDocument/2006/relationships" xmlns:a="http://schemas.openxmlformats.org/drawingml/2006/main" r:embed="R50a1dddac0144e60"/>
          <a:srcRect xmlns:a="http://schemas.openxmlformats.org/drawingml/2006/main" l="4500" t="25500" r="4500" b="41500"/>
          <a:stretch xmlns:a="http://schemas.openxmlformats.org/drawingml/2006/main"/>
        </p:blipFill>
        <p:spPr>
          <a:xfrm xmlns:a="http://schemas.openxmlformats.org/drawingml/2006/main">
            <a:off x="7762875" y="2409825"/>
            <a:ext cx="3810000" cy="3067050"/>
          </a:xfrm>
          <a:prstGeom xmlns:a="http://schemas.openxmlformats.org/drawingml/2006/main" prst="rect">
            <a:avLst/>
          </a:prstGeom>
        </p:spPr>
      </p:pic>
    </p:spTree>
    <p:extLst>
      <p:ext uri="{BB962C8B-B14F-4D97-AF65-F5344CB8AC3E}">
        <p14:creationId xmlns:p14="http://schemas.microsoft.com/office/powerpoint/2010/main" val="1832918885"/>
      </p:ext>
    </p:extLst>
  </p:cSld>
</p:sld>
</file>

<file path=ppt/slides/slide2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F422DE-7395-48ED-91C4-95342F7D08A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A69E5BD4-B652-44C4-8D4D-896A63CEDE2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calculation in Dart</a:t>
            </a:r>
          </a:p>
        </p:txBody>
      </p:sp>
      <p:sp>
        <p:nvSpPr>
          <p:cNvPr id="3" name="">
            <a:extLst xmlns:a="http://schemas.openxmlformats.org/drawingml/2006/main">
              <a:ext uri="{FF2B5EF4-FFF2-40B4-BE49-F238E27FC236}">
                <a16:creationId xmlns:a16="http://schemas.microsoft.com/office/drawing/2014/main" id="{1A2E51EA-FD65-4B14-A516-45D041C80EB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33B5AD0-0134-40C0-8C89-5E141F6B27D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32C4FB2-8302-44B1-B7CD-C441C095DE33}"/>
              </a:ext>
            </a:extLst>
          </p:cNvPr>
          <p:cNvSpPr>
            <a:spLocks xmlns:a="http://schemas.openxmlformats.org/drawingml/2006/main" noGrp="1"/>
          </p:cNvSpPr>
          <p:nvPr/>
        </p:nvSpPr>
        <p:spPr>
          <a:xfrm xmlns:a="http://schemas.openxmlformats.org/drawingml/2006/main">
            <a:off x="666750" y="1552575"/>
            <a:ext cx="752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lib/domain/lunch_lens.dart</a:t>
            </a:r>
          </a:p>
        </p:txBody>
      </p:sp>
      <p:sp>
        <p:nvSpPr>
          <p:cNvPr id="6" name="">
            <a:extLst xmlns:a="http://schemas.openxmlformats.org/drawingml/2006/main">
              <a:ext uri="{FF2B5EF4-FFF2-40B4-BE49-F238E27FC236}">
                <a16:creationId xmlns:a16="http://schemas.microsoft.com/office/drawing/2014/main" id="{29CA1657-2FC4-425A-96B4-F6464DAF5855}"/>
              </a:ext>
            </a:extLst>
          </p:cNvPr>
          <p:cNvSpPr>
            <a:spLocks xmlns:a="http://schemas.openxmlformats.org/drawingml/2006/main" noGrp="1"/>
          </p:cNvSpPr>
          <p:nvPr/>
        </p:nvSpPr>
        <p:spPr>
          <a:xfrm xmlns:a="http://schemas.openxmlformats.org/drawingml/2006/main">
            <a:off x="666750" y="2143125"/>
            <a:ext cx="7524750" cy="2933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final</a:t>
            </a:r>
            <a:r>
              <a:rPr sz="1875" b="0">
                <a:solidFill>
                  <a:srgbClr val="E2F1E8"/>
                </a:solidFill>
                <a:latin typeface="Menlo"/>
                <a:ea typeface="Menlo"/>
                <a:cs typeface="Menlo"/>
              </a:rPr>
              <a:t> inputs = earlier.take(3).toList();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final sum = inputs.fold&lt;</a:t>
            </a:r>
            <a:r>
              <a:rPr sz="1875" b="0">
                <a:solidFill>
                  <a:srgbClr val="B8ECD2"/>
                </a:solidFill>
                <a:latin typeface="Menlo"/>
                <a:ea typeface="Menlo"/>
                <a:cs typeface="Menlo"/>
              </a:rPr>
              <a:t>int</a:t>
            </a:r>
            <a:r>
              <a:rPr sz="1875" b="0">
                <a:solidFill>
                  <a:srgbClr val="E2F1E8"/>
                </a:solidFill>
                <a:latin typeface="Menlo"/>
                <a:ea typeface="Menlo"/>
                <a:cs typeface="Menlo"/>
              </a:rPr>
              <a:t>&gt;(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0, (s, l) =&gt; s + l.actualPriceMinor);</a:t>
            </a:r>
          </a:p>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return</a:t>
            </a:r>
            <a:r>
              <a:rPr sz="1875" b="0">
                <a:solidFill>
                  <a:srgbClr val="E2F1E8"/>
                </a:solidFill>
                <a:latin typeface="Menlo"/>
                <a:ea typeface="Menlo"/>
                <a:cs typeface="Menlo"/>
              </a:rPr>
              <a:t> LunchEstimate(</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(sum + 1) ~/ 3,</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inputs.first.actualPriceMinor,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a:t>
            </a:r>
          </a:p>
        </p:txBody>
      </p:sp>
      <p:sp>
        <p:nvSpPr>
          <p:cNvPr id="7" name="">
            <a:extLst xmlns:a="http://schemas.openxmlformats.org/drawingml/2006/main">
              <a:ext uri="{FF2B5EF4-FFF2-40B4-BE49-F238E27FC236}">
                <a16:creationId xmlns:a16="http://schemas.microsoft.com/office/drawing/2014/main" id="{D57DCCD2-4246-4AAC-B825-39E2C6A52A01}"/>
              </a:ext>
            </a:extLst>
          </p:cNvPr>
          <p:cNvSpPr>
            <a:spLocks xmlns:a="http://schemas.openxmlformats.org/drawingml/2006/main" noGrp="1"/>
          </p:cNvSpPr>
          <p:nvPr/>
        </p:nvSpPr>
        <p:spPr>
          <a:xfrm xmlns:a="http://schemas.openxmlformats.org/drawingml/2006/main">
            <a:off x="8810625" y="2009775"/>
            <a:ext cx="2809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Recorded inputs</a:t>
            </a:r>
          </a:p>
        </p:txBody>
      </p:sp>
      <p:sp>
        <p:nvSpPr>
          <p:cNvPr id="8" name="">
            <a:extLst xmlns:a="http://schemas.openxmlformats.org/drawingml/2006/main">
              <a:ext uri="{FF2B5EF4-FFF2-40B4-BE49-F238E27FC236}">
                <a16:creationId xmlns:a16="http://schemas.microsoft.com/office/drawing/2014/main" id="{0B9CCAA3-29FF-4914-B751-188F5B1AAEA3}"/>
              </a:ext>
            </a:extLst>
          </p:cNvPr>
          <p:cNvSpPr>
            <a:spLocks xmlns:a="http://schemas.openxmlformats.org/drawingml/2006/main" noGrp="1"/>
          </p:cNvSpPr>
          <p:nvPr/>
        </p:nvSpPr>
        <p:spPr>
          <a:xfrm xmlns:a="http://schemas.openxmlformats.org/drawingml/2006/main">
            <a:off x="8810625" y="2676525"/>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750 + 450 + 600</a:t>
            </a:r>
          </a:p>
        </p:txBody>
      </p:sp>
      <p:sp>
        <p:nvSpPr>
          <p:cNvPr id="9" name="">
            <a:extLst xmlns:a="http://schemas.openxmlformats.org/drawingml/2006/main">
              <a:ext uri="{FF2B5EF4-FFF2-40B4-BE49-F238E27FC236}">
                <a16:creationId xmlns:a16="http://schemas.microsoft.com/office/drawing/2014/main" id="{DCEE3EB7-FDF3-4E25-8AC1-A2CAFFC95CE0}"/>
              </a:ext>
            </a:extLst>
          </p:cNvPr>
          <p:cNvSpPr>
            <a:spLocks xmlns:a="http://schemas.openxmlformats.org/drawingml/2006/main" noGrp="1"/>
          </p:cNvSpPr>
          <p:nvPr/>
        </p:nvSpPr>
        <p:spPr>
          <a:xfrm xmlns:a="http://schemas.openxmlformats.org/drawingml/2006/main">
            <a:off x="8810625" y="3409950"/>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1800 / 3 = 600</a:t>
            </a:r>
          </a:p>
        </p:txBody>
      </p:sp>
      <p:sp>
        <p:nvSpPr>
          <p:cNvPr id="10" name="">
            <a:extLst xmlns:a="http://schemas.openxmlformats.org/drawingml/2006/main">
              <a:ext uri="{FF2B5EF4-FFF2-40B4-BE49-F238E27FC236}">
                <a16:creationId xmlns:a16="http://schemas.microsoft.com/office/drawing/2014/main" id="{8DC5630F-A2BF-4190-9169-8E47B627AF66}"/>
              </a:ext>
            </a:extLst>
          </p:cNvPr>
          <p:cNvSpPr>
            <a:spLocks xmlns:a="http://schemas.openxmlformats.org/drawingml/2006/main" noGrp="1"/>
          </p:cNvSpPr>
          <p:nvPr/>
        </p:nvSpPr>
        <p:spPr>
          <a:xfrm xmlns:a="http://schemas.openxmlformats.org/drawingml/2006/main">
            <a:off x="8810625" y="4191000"/>
            <a:ext cx="280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6452"/>
                </a:solidFill>
                <a:latin typeface="Arial"/>
                <a:ea typeface="Arial"/>
                <a:cs typeface="Arial"/>
              </a:defRPr>
            </a:defPPr>
            <a:lvl1pPr>
              <a:buNone/>
              <a:defRPr sz="3600" b="1">
                <a:solidFill>
                  <a:srgbClr val="176452"/>
                </a:solidFill>
                <a:latin typeface="Arial"/>
                <a:ea typeface="Arial"/>
                <a:cs typeface="Arial"/>
              </a:defRPr>
            </a:lvl1pPr>
            <a:lvl2pPr>
              <a:buNone/>
              <a:defRPr sz="3600" b="1">
                <a:solidFill>
                  <a:srgbClr val="176452"/>
                </a:solidFill>
                <a:latin typeface="Arial"/>
                <a:ea typeface="Arial"/>
                <a:cs typeface="Arial"/>
              </a:defRPr>
            </a:lvl2pPr>
            <a:lvl3pPr>
              <a:buNone/>
              <a:defRPr sz="3600" b="1">
                <a:solidFill>
                  <a:srgbClr val="176452"/>
                </a:solidFill>
                <a:latin typeface="Arial"/>
                <a:ea typeface="Arial"/>
                <a:cs typeface="Arial"/>
              </a:defRPr>
            </a:lvl3pPr>
            <a:lvl4pPr>
              <a:buNone/>
              <a:defRPr sz="3600" b="1">
                <a:solidFill>
                  <a:srgbClr val="176452"/>
                </a:solidFill>
                <a:latin typeface="Arial"/>
                <a:ea typeface="Arial"/>
                <a:cs typeface="Arial"/>
              </a:defRPr>
            </a:lvl4pPr>
            <a:lvl5pPr>
              <a:buNone/>
              <a:defRPr sz="3600" b="1">
                <a:solidFill>
                  <a:srgbClr val="176452"/>
                </a:solidFill>
                <a:latin typeface="Arial"/>
                <a:ea typeface="Arial"/>
                <a:cs typeface="Arial"/>
              </a:defRPr>
            </a:lvl5pPr>
            <a:lvl6pPr>
              <a:buNone/>
              <a:defRPr sz="3600" b="1">
                <a:solidFill>
                  <a:srgbClr val="176452"/>
                </a:solidFill>
                <a:latin typeface="Arial"/>
                <a:ea typeface="Arial"/>
                <a:cs typeface="Arial"/>
              </a:defRPr>
            </a:lvl6pPr>
            <a:lvl7pPr>
              <a:buNone/>
              <a:defRPr sz="3600" b="1">
                <a:solidFill>
                  <a:srgbClr val="176452"/>
                </a:solidFill>
                <a:latin typeface="Arial"/>
                <a:ea typeface="Arial"/>
                <a:cs typeface="Arial"/>
              </a:defRPr>
            </a:lvl7pPr>
            <a:lvl8pPr>
              <a:buNone/>
              <a:defRPr sz="3600" b="1">
                <a:solidFill>
                  <a:srgbClr val="176452"/>
                </a:solidFill>
                <a:latin typeface="Arial"/>
                <a:ea typeface="Arial"/>
                <a:cs typeface="Arial"/>
              </a:defRPr>
            </a:lvl8pPr>
            <a:lvl9pPr>
              <a:buNone/>
              <a:defRPr sz="3600" b="1">
                <a:solidFill>
                  <a:srgbClr val="176452"/>
                </a:solidFill>
                <a:latin typeface="Arial"/>
                <a:ea typeface="Arial"/>
                <a:cs typeface="Arial"/>
              </a:defRPr>
            </a:lvl9pPr>
          </a:lstStyle>
          <a:p xmlns:a="http://schemas.openxmlformats.org/drawingml/2006/main">
            <a:pPr>
              <a:buNone/>
              <a:defRPr sz="3600" b="1">
                <a:solidFill>
                  <a:srgbClr val="176452"/>
                </a:solidFill>
                <a:latin typeface="Arial"/>
                <a:ea typeface="Arial"/>
                <a:cs typeface="Arial"/>
              </a:defRPr>
            </a:pPr>
            <a:r>
              <a:rPr sz="3600" b="1">
                <a:solidFill>
                  <a:srgbClr val="176452"/>
                </a:solidFill>
                <a:latin typeface="Arial"/>
                <a:ea typeface="Arial"/>
                <a:cs typeface="Arial"/>
              </a:rPr>
              <a:t>$6.00</a:t>
            </a:r>
          </a:p>
        </p:txBody>
      </p:sp>
      <p:sp>
        <p:nvSpPr>
          <p:cNvPr id="11" name="">
            <a:extLst xmlns:a="http://schemas.openxmlformats.org/drawingml/2006/main">
              <a:ext uri="{FF2B5EF4-FFF2-40B4-BE49-F238E27FC236}">
                <a16:creationId xmlns:a16="http://schemas.microsoft.com/office/drawing/2014/main" id="{FF1533FB-2173-45F5-A848-21886DD26570}"/>
              </a:ext>
            </a:extLst>
          </p:cNvPr>
          <p:cNvSpPr>
            <a:spLocks xmlns:a="http://schemas.openxmlformats.org/drawingml/2006/main" noGrp="1"/>
          </p:cNvSpPr>
          <p:nvPr/>
        </p:nvSpPr>
        <p:spPr>
          <a:xfrm xmlns:a="http://schemas.openxmlformats.org/drawingml/2006/main">
            <a:off x="666750" y="5476875"/>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pure function takes three earlier amounts and calculates their rounded mean in cents. In this recorded example, $7.50, $4.50 and $6.00 produce $6.00.</a:t>
            </a:r>
          </a:p>
        </p:txBody>
      </p:sp>
    </p:spTree>
    <p:extLst>
      <p:ext uri="{BB962C8B-B14F-4D97-AF65-F5344CB8AC3E}">
        <p14:creationId xmlns:p14="http://schemas.microsoft.com/office/powerpoint/2010/main" val="1734846548"/>
      </p:ext>
    </p:extLst>
  </p:cSld>
</p:sld>
</file>

<file path=ppt/slides/slide2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E98FC9-8240-4982-9A60-90EFE07A78B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E59C3326-98D6-4279-A0CB-9AE82043E4D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helper evaluation cases</a:t>
            </a:r>
          </a:p>
        </p:txBody>
      </p:sp>
      <p:sp>
        <p:nvSpPr>
          <p:cNvPr id="3" name="">
            <a:extLst xmlns:a="http://schemas.openxmlformats.org/drawingml/2006/main">
              <a:ext uri="{FF2B5EF4-FFF2-40B4-BE49-F238E27FC236}">
                <a16:creationId xmlns:a16="http://schemas.microsoft.com/office/drawing/2014/main" id="{CC54FD3E-8F0C-4327-9E53-565F0211F74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2166756-293A-458F-8A31-FFF63657098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514D8FE-9DB1-4F25-9004-2E3BB1DABEB9}"/>
              </a:ext>
            </a:extLst>
          </p:cNvPr>
          <p:cNvSpPr>
            <a:spLocks xmlns:a="http://schemas.openxmlformats.org/drawingml/2006/main" noGrp="1"/>
          </p:cNvSpPr>
          <p:nvPr/>
        </p:nvSpPr>
        <p:spPr>
          <a:xfrm xmlns:a="http://schemas.openxmlformats.org/drawingml/2006/main">
            <a:off x="666750" y="1628775"/>
            <a:ext cx="10858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We checked five fictional case types. The table shows chronological input amounts in cents and the actual outputs from the passing checks.</a:t>
            </a:r>
          </a:p>
        </p:txBody>
      </p:sp>
      <p:graphicFrame>
        <p:nvGraphicFramePr>
          <p:cNvPr id="6" name="">
            <a:extLst xmlns:a="http://schemas.openxmlformats.org/drawingml/2006/main">
              <a:ext uri="{FF2B5EF4-FFF2-40B4-BE49-F238E27FC236}">
                <a16:creationId xmlns:a16="http://schemas.microsoft.com/office/drawing/2014/main" id="{FE27C0A0-4FC3-4FD7-8FE3-E4A0467C6237}"/>
              </a:ext>
            </a:extLst>
          </p:cNvPr>
          <p:cNvGraphicFramePr/>
          <p:nvPr/>
        </p:nvGraphicFramePr>
        <p:xfrm>
          <a:off xmlns:a="http://schemas.openxmlformats.org/drawingml/2006/main" x="666750" y="2457450"/>
          <a:ext xmlns:a="http://schemas.openxmlformats.org/drawingml/2006/main" cx="10858500" cy="2743200"/>
        </p:xfrm>
        <a:graphic xmlns:a="http://schemas.openxmlformats.org/drawingml/2006/main">
          <a:graphicData uri="http://schemas.openxmlformats.org/drawingml/2006/table">
            <a:tbl>
              <a:tblPr/>
              <a:tblGrid>
                <a:gridCol w="2190750"/>
                <a:gridCol w="3714750"/>
                <a:gridCol w="2476500"/>
                <a:gridCol w="2476500"/>
              </a:tblGrid>
              <a:tr h="457200">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Mean 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Last price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457200">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BAA08A-3EE3-4BAD-A291-DA258065B8BC}"/>
              </a:ext>
            </a:extLst>
          </p:cNvPr>
          <p:cNvSpPr>
            <a:spLocks xmlns:a="http://schemas.openxmlformats.org/drawingml/2006/main" noGrp="1"/>
          </p:cNvSpPr>
          <p:nvPr/>
        </p:nvSpPr>
        <p:spPr>
          <a:xfrm xmlns:a="http://schemas.openxmlformats.org/drawingml/2006/main">
            <a:off x="666750" y="5381625"/>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Normal, insufficient, invalid, boundary and counterexample cases test different behaviors. Empty and invalid cases assess feedback. They do not receive invented numeric error scores.</a:t>
            </a:r>
          </a:p>
        </p:txBody>
      </p:sp>
    </p:spTree>
    <p:extLst>
      <p:ext uri="{BB962C8B-B14F-4D97-AF65-F5344CB8AC3E}">
        <p14:creationId xmlns:p14="http://schemas.microsoft.com/office/powerpoint/2010/main" val="1903842899"/>
      </p:ext>
    </p:extLst>
  </p:cSld>
</p:sld>
</file>

<file path=ppt/slides/slide2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1210C3-52DD-4DC9-AE3F-280EDD58F57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C5C891CB-06AC-4EE3-A5C9-9023284F190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Evaluation result and limitation</a:t>
            </a:r>
          </a:p>
        </p:txBody>
      </p:sp>
      <p:sp>
        <p:nvSpPr>
          <p:cNvPr id="3" name="">
            <a:extLst xmlns:a="http://schemas.openxmlformats.org/drawingml/2006/main">
              <a:ext uri="{FF2B5EF4-FFF2-40B4-BE49-F238E27FC236}">
                <a16:creationId xmlns:a16="http://schemas.microsoft.com/office/drawing/2014/main" id="{BB612824-FFAA-478A-9AA3-AF6BA20117D2}"/>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9E54E26-8B5F-4770-AB1E-7718967A9F2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3B50049D-1349-4EEC-93A1-0BDD42812190}"/>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baseline wins on this tiny designed set. We retain the recipe's transparent mean and disclose its outlier sensitivity. A future median comparison needs new cases before any improvement claim.</a:t>
            </a:r>
          </a:p>
        </p:txBody>
      </p:sp>
      <p:graphicFrame>
        <p:nvGraphicFramePr>
          <p:cNvPr id="6" name="Chart">
            <a:extLst xmlns:a="http://schemas.openxmlformats.org/drawingml/2006/main">
              <a:ext uri="{FF2B5EF4-FFF2-40B4-BE49-F238E27FC236}">
                <a16:creationId xmlns:a16="http://schemas.microsoft.com/office/drawing/2014/main" id="{42D3DB0E-1DDD-4AD0-8CDD-2B8A0C1B0202}"/>
              </a:ext>
            </a:extLst>
          </p:cNvPr>
          <p:cNvGraphicFramePr/>
          <p:nvPr/>
        </p:nvGraphicFramePr>
        <p:xfrm>
          <a:off xmlns:a="http://schemas.openxmlformats.org/drawingml/2006/main" x="7667625" y="1933575"/>
          <a:ext xmlns:a="http://schemas.openxmlformats.org/drawingml/2006/main" cx="4048125" cy="3429000"/>
        </p:xfrm>
        <a:graphic xmlns:a="http://schemas.openxmlformats.org/drawingml/2006/main">
          <a:graphicData uri="http://schemas.openxmlformats.org/drawingml/2006/chart">
            <c:chart xmlns:r="http://schemas.openxmlformats.org/officeDocument/2006/relationships" xmlns:c="http://schemas.openxmlformats.org/drawingml/2006/chart" r:id="R1c8a1cf7f4454d06"/>
          </a:graphicData>
        </a:graphic>
      </p:graphicFrame>
      <p:sp>
        <p:nvSpPr>
          <p:cNvPr id="7" name="">
            <a:extLst xmlns:a="http://schemas.openxmlformats.org/drawingml/2006/main">
              <a:ext uri="{FF2B5EF4-FFF2-40B4-BE49-F238E27FC236}">
                <a16:creationId xmlns:a16="http://schemas.microsoft.com/office/drawing/2014/main" id="{A7FBA1A6-F07E-48FC-A15F-3F9E2B040042}"/>
              </a:ext>
            </a:extLst>
          </p:cNvPr>
          <p:cNvSpPr>
            <a:spLocks xmlns:a="http://schemas.openxmlformats.org/drawingml/2006/main" noGrp="1"/>
          </p:cNvSpPr>
          <p:nvPr/>
        </p:nvSpPr>
        <p:spPr>
          <a:xfrm xmlns:a="http://schemas.openxmlformats.org/drawingml/2006/main">
            <a:off x="7762875" y="5619750"/>
            <a:ext cx="381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4B6259"/>
                </a:solidFill>
                <a:latin typeface="Arial"/>
                <a:ea typeface="Arial"/>
                <a:cs typeface="Arial"/>
              </a:defRPr>
            </a:defPPr>
            <a:lvl1pPr>
              <a:buNone/>
              <a:defRPr sz="1650" b="0">
                <a:solidFill>
                  <a:srgbClr val="4B6259"/>
                </a:solidFill>
                <a:latin typeface="Arial"/>
                <a:ea typeface="Arial"/>
                <a:cs typeface="Arial"/>
              </a:defRPr>
            </a:lvl1pPr>
            <a:lvl2pPr>
              <a:buNone/>
              <a:defRPr sz="1650" b="0">
                <a:solidFill>
                  <a:srgbClr val="4B6259"/>
                </a:solidFill>
                <a:latin typeface="Arial"/>
                <a:ea typeface="Arial"/>
                <a:cs typeface="Arial"/>
              </a:defRPr>
            </a:lvl2pPr>
            <a:lvl3pPr>
              <a:buNone/>
              <a:defRPr sz="1650" b="0">
                <a:solidFill>
                  <a:srgbClr val="4B6259"/>
                </a:solidFill>
                <a:latin typeface="Arial"/>
                <a:ea typeface="Arial"/>
                <a:cs typeface="Arial"/>
              </a:defRPr>
            </a:lvl3pPr>
            <a:lvl4pPr>
              <a:buNone/>
              <a:defRPr sz="1650" b="0">
                <a:solidFill>
                  <a:srgbClr val="4B6259"/>
                </a:solidFill>
                <a:latin typeface="Arial"/>
                <a:ea typeface="Arial"/>
                <a:cs typeface="Arial"/>
              </a:defRPr>
            </a:lvl4pPr>
            <a:lvl5pPr>
              <a:buNone/>
              <a:defRPr sz="1650" b="0">
                <a:solidFill>
                  <a:srgbClr val="4B6259"/>
                </a:solidFill>
                <a:latin typeface="Arial"/>
                <a:ea typeface="Arial"/>
                <a:cs typeface="Arial"/>
              </a:defRPr>
            </a:lvl5pPr>
            <a:lvl6pPr>
              <a:buNone/>
              <a:defRPr sz="1650" b="0">
                <a:solidFill>
                  <a:srgbClr val="4B6259"/>
                </a:solidFill>
                <a:latin typeface="Arial"/>
                <a:ea typeface="Arial"/>
                <a:cs typeface="Arial"/>
              </a:defRPr>
            </a:lvl6pPr>
            <a:lvl7pPr>
              <a:buNone/>
              <a:defRPr sz="1650" b="0">
                <a:solidFill>
                  <a:srgbClr val="4B6259"/>
                </a:solidFill>
                <a:latin typeface="Arial"/>
                <a:ea typeface="Arial"/>
                <a:cs typeface="Arial"/>
              </a:defRPr>
            </a:lvl7pPr>
            <a:lvl8pPr>
              <a:buNone/>
              <a:defRPr sz="1650" b="0">
                <a:solidFill>
                  <a:srgbClr val="4B6259"/>
                </a:solidFill>
                <a:latin typeface="Arial"/>
                <a:ea typeface="Arial"/>
                <a:cs typeface="Arial"/>
              </a:defRPr>
            </a:lvl8pPr>
            <a:lvl9pPr>
              <a:buNone/>
              <a:defRPr sz="1650" b="0">
                <a:solidFill>
                  <a:srgbClr val="4B6259"/>
                </a:solidFill>
                <a:latin typeface="Arial"/>
                <a:ea typeface="Arial"/>
                <a:cs typeface="Arial"/>
              </a:defRPr>
            </a:lvl9pPr>
          </a:lstStyle>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Three valid designed cases.</a:t>
            </a:r>
          </a:p>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Lower error is better on these cases.</a:t>
            </a:r>
          </a:p>
        </p:txBody>
      </p:sp>
    </p:spTree>
    <p:extLst>
      <p:ext uri="{BB962C8B-B14F-4D97-AF65-F5344CB8AC3E}">
        <p14:creationId xmlns:p14="http://schemas.microsoft.com/office/powerpoint/2010/main" val="115998517"/>
      </p:ext>
    </p:extLst>
  </p:cSld>
</p:sld>
</file>

<file path=ppt/slides/slide2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9653A-DF9B-4BB3-A6E1-A1B65C01B3A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987E6DA6-353E-4CF6-AEFE-1BFB94384D5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Testing techniques and actual evidence</a:t>
            </a:r>
          </a:p>
        </p:txBody>
      </p:sp>
      <p:sp>
        <p:nvSpPr>
          <p:cNvPr id="3" name="">
            <a:extLst xmlns:a="http://schemas.openxmlformats.org/drawingml/2006/main">
              <a:ext uri="{FF2B5EF4-FFF2-40B4-BE49-F238E27FC236}">
                <a16:creationId xmlns:a16="http://schemas.microsoft.com/office/drawing/2014/main" id="{E82F7175-BE70-4BB6-AD8B-B49D0346473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3966D8-5479-4E79-8BAC-921DAC782A5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AEF325E-9B83-4F7F-9EBE-BDF4FFF42C98}"/>
              </a:ext>
            </a:extLst>
          </p:cNvPr>
          <p:cNvSpPr>
            <a:spLocks xmlns:a="http://schemas.openxmlformats.org/drawingml/2006/main" noGrp="1"/>
          </p:cNvSpPr>
          <p:nvPr/>
        </p:nvSpPr>
        <p:spPr>
          <a:xfrm xmlns:a="http://schemas.openxmlformats.org/drawingml/2006/main">
            <a:off x="609600" y="1657350"/>
            <a:ext cx="6858000" cy="466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emulators have different display settings but share one Android API image. Physical-device testing and independent peer revision remain incomplete. Genuine logs identify the checks we actually performed.</a:t>
            </a:r>
          </a:p>
        </p:txBody>
      </p:sp>
      <p:sp>
        <p:nvSpPr>
          <p:cNvPr id="6" name="">
            <a:extLst xmlns:a="http://schemas.openxmlformats.org/drawingml/2006/main">
              <a:ext uri="{FF2B5EF4-FFF2-40B4-BE49-F238E27FC236}">
                <a16:creationId xmlns:a16="http://schemas.microsoft.com/office/drawing/2014/main" id="{DFAFA26D-805E-48ED-A8F7-94B725AA0D9C}"/>
              </a:ext>
            </a:extLst>
          </p:cNvPr>
          <p:cNvSpPr>
            <a:spLocks xmlns:a="http://schemas.openxmlformats.org/drawingml/2006/main" noGrp="1"/>
          </p:cNvSpPr>
          <p:nvPr/>
        </p:nvSpPr>
        <p:spPr>
          <a:xfrm xmlns:a="http://schemas.openxmlformats.org/drawingml/2006/main">
            <a:off x="7734300" y="1724025"/>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final-unit-widget-tests.txt</a:t>
            </a:r>
          </a:p>
        </p:txBody>
      </p:sp>
      <p:sp>
        <p:nvSpPr>
          <p:cNvPr id="7" name="">
            <a:extLst xmlns:a="http://schemas.openxmlformats.org/drawingml/2006/main">
              <a:ext uri="{FF2B5EF4-FFF2-40B4-BE49-F238E27FC236}">
                <a16:creationId xmlns:a16="http://schemas.microsoft.com/office/drawing/2014/main" id="{65820F8A-467B-47E6-8CF6-B2DDF9A27762}"/>
              </a:ext>
            </a:extLst>
          </p:cNvPr>
          <p:cNvSpPr>
            <a:spLocks xmlns:a="http://schemas.openxmlformats.org/drawingml/2006/main" noGrp="1"/>
          </p:cNvSpPr>
          <p:nvPr/>
        </p:nvSpPr>
        <p:spPr>
          <a:xfrm xmlns:a="http://schemas.openxmlformats.org/drawingml/2006/main">
            <a:off x="7734300" y="2314575"/>
            <a:ext cx="3905250" cy="1047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00:01 +17: All tests passed!</a:t>
            </a:r>
          </a:p>
        </p:txBody>
      </p:sp>
      <p:sp>
        <p:nvSpPr>
          <p:cNvPr id="8" name="">
            <a:extLst xmlns:a="http://schemas.openxmlformats.org/drawingml/2006/main">
              <a:ext uri="{FF2B5EF4-FFF2-40B4-BE49-F238E27FC236}">
                <a16:creationId xmlns:a16="http://schemas.microsoft.com/office/drawing/2014/main" id="{F6E97647-17A4-44E0-9CE5-761FBA9FEDE9}"/>
              </a:ext>
            </a:extLst>
          </p:cNvPr>
          <p:cNvSpPr>
            <a:spLocks xmlns:a="http://schemas.openxmlformats.org/drawingml/2006/main" noGrp="1"/>
          </p:cNvSpPr>
          <p:nvPr/>
        </p:nvSpPr>
        <p:spPr>
          <a:xfrm xmlns:a="http://schemas.openxmlformats.org/drawingml/2006/main">
            <a:off x="7810500" y="3905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Actual Android runs</a:t>
            </a:r>
          </a:p>
        </p:txBody>
      </p:sp>
      <p:sp>
        <p:nvSpPr>
          <p:cNvPr id="9" name="">
            <a:extLst xmlns:a="http://schemas.openxmlformats.org/drawingml/2006/main">
              <a:ext uri="{FF2B5EF4-FFF2-40B4-BE49-F238E27FC236}">
                <a16:creationId xmlns:a16="http://schemas.microsoft.com/office/drawing/2014/main" id="{CF0E202D-DB19-41DA-9EC7-C287CD4B898D}"/>
              </a:ext>
            </a:extLst>
          </p:cNvPr>
          <p:cNvSpPr>
            <a:spLocks xmlns:a="http://schemas.openxmlformats.org/drawingml/2006/main" noGrp="1"/>
          </p:cNvSpPr>
          <p:nvPr/>
        </p:nvSpPr>
        <p:spPr>
          <a:xfrm xmlns:a="http://schemas.openxmlformats.org/drawingml/2006/main">
            <a:off x="7734300" y="4267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final-phone-integration.txt</a:t>
            </a:r>
          </a:p>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final-large-integration.txt</a:t>
            </a:r>
          </a:p>
        </p:txBody>
      </p:sp>
      <p:sp>
        <p:nvSpPr>
          <p:cNvPr id="10" name="">
            <a:extLst xmlns:a="http://schemas.openxmlformats.org/drawingml/2006/main">
              <a:ext uri="{FF2B5EF4-FFF2-40B4-BE49-F238E27FC236}">
                <a16:creationId xmlns:a16="http://schemas.microsoft.com/office/drawing/2014/main" id="{301E3E6C-0614-4094-BA32-460B90E7BACE}"/>
              </a:ext>
            </a:extLst>
          </p:cNvPr>
          <p:cNvSpPr>
            <a:spLocks xmlns:a="http://schemas.openxmlformats.org/drawingml/2006/main" noGrp="1"/>
          </p:cNvSpPr>
          <p:nvPr/>
        </p:nvSpPr>
        <p:spPr>
          <a:xfrm xmlns:a="http://schemas.openxmlformats.org/drawingml/2006/main">
            <a:off x="7734300" y="4857750"/>
            <a:ext cx="3905250" cy="9906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00:04 +3: All tests passed!</a:t>
            </a:r>
          </a:p>
        </p:txBody>
      </p:sp>
    </p:spTree>
    <p:extLst>
      <p:ext uri="{BB962C8B-B14F-4D97-AF65-F5344CB8AC3E}">
        <p14:creationId xmlns:p14="http://schemas.microsoft.com/office/powerpoint/2010/main" val="1916671242"/>
      </p:ext>
    </p:extLst>
  </p:cSld>
</p:sld>
</file>

<file path=ppt/slides/slide2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2F3D2-DD93-46DF-A851-3B95C2D7A12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76E5FFAF-B2C3-4A2A-8933-DA4A9862B2C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emulator profiles in the evidence</a:t>
            </a:r>
          </a:p>
        </p:txBody>
      </p:sp>
      <p:sp>
        <p:nvSpPr>
          <p:cNvPr id="3" name="">
            <a:extLst xmlns:a="http://schemas.openxmlformats.org/drawingml/2006/main">
              <a:ext uri="{FF2B5EF4-FFF2-40B4-BE49-F238E27FC236}">
                <a16:creationId xmlns:a16="http://schemas.microsoft.com/office/drawing/2014/main" id="{D7C19943-F2D6-4E13-A86D-1BD39DE7E33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7ABB451-ECA5-47F2-9F0B-7841AC316759}"/>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24</a:t>
            </a:r>
          </a:p>
        </p:txBody>
      </p:sp>
      <p:pic>
        <p:nvPicPr>
          <p:cNvPr id="5" name="">
            <a:extLst xmlns:a="http://schemas.openxmlformats.org/drawingml/2006/main">
              <a:ext uri="{FF2B5EF4-FFF2-40B4-BE49-F238E27FC236}">
                <a16:creationId xmlns:a16="http://schemas.microsoft.com/office/drawing/2014/main" id="{C24FF05A-4E15-41D6-A03C-DB8428ABCB1F}"/>
              </a:ext>
            </a:extLst>
          </p:cNvPr>
          <p:cNvPicPr>
            <a:picLocks xmlns:a="http://schemas.openxmlformats.org/drawingml/2006/main" noChangeAspect="1"/>
          </p:cNvPicPr>
          <p:nvPr/>
        </p:nvPicPr>
        <p:blipFill>
          <a:blip xmlns:r="http://schemas.openxmlformats.org/officeDocument/2006/relationships" xmlns:a="http://schemas.openxmlformats.org/drawingml/2006/main" r:embed="R145d925432ef4dfc"/>
          <a:stretch xmlns:a="http://schemas.openxmlformats.org/drawingml/2006/main"/>
        </p:blipFill>
        <p:spPr>
          <a:xfrm xmlns:a="http://schemas.openxmlformats.org/drawingml/2006/main">
            <a:off x="667226" y="1685925"/>
            <a:ext cx="1980248" cy="44005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3A1DE2C6-4142-4AB6-ABCE-22E02A0312B8}"/>
              </a:ext>
            </a:extLst>
          </p:cNvPr>
          <p:cNvPicPr>
            <a:picLocks xmlns:a="http://schemas.openxmlformats.org/drawingml/2006/main" noChangeAspect="1"/>
          </p:cNvPicPr>
          <p:nvPr/>
        </p:nvPicPr>
        <p:blipFill>
          <a:blip xmlns:r="http://schemas.openxmlformats.org/officeDocument/2006/relationships" xmlns:a="http://schemas.openxmlformats.org/drawingml/2006/main" r:embed="R05df3c945c654d9b"/>
          <a:stretch xmlns:a="http://schemas.openxmlformats.org/drawingml/2006/main"/>
        </p:blipFill>
        <p:spPr>
          <a:xfrm xmlns:a="http://schemas.openxmlformats.org/drawingml/2006/main">
            <a:off x="3173016" y="1685925"/>
            <a:ext cx="2750344" cy="4400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6258224-8AB1-423E-8407-32383E12E7C0}"/>
              </a:ext>
            </a:extLst>
          </p:cNvPr>
          <p:cNvSpPr>
            <a:spLocks xmlns:a="http://schemas.openxmlformats.org/drawingml/2006/main" noGrp="1"/>
          </p:cNvSpPr>
          <p:nvPr/>
        </p:nvSpPr>
        <p:spPr>
          <a:xfrm xmlns:a="http://schemas.openxmlformats.org/drawingml/2006/main">
            <a:off x="6667500" y="17621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Phone profile</a:t>
            </a:r>
          </a:p>
        </p:txBody>
      </p:sp>
      <p:sp>
        <p:nvSpPr>
          <p:cNvPr id="8" name="">
            <a:extLst xmlns:a="http://schemas.openxmlformats.org/drawingml/2006/main">
              <a:ext uri="{FF2B5EF4-FFF2-40B4-BE49-F238E27FC236}">
                <a16:creationId xmlns:a16="http://schemas.microsoft.com/office/drawing/2014/main" id="{06D07D62-6334-4B23-B399-1EC38BB3B0C9}"/>
              </a:ext>
            </a:extLst>
          </p:cNvPr>
          <p:cNvSpPr>
            <a:spLocks xmlns:a="http://schemas.openxmlformats.org/drawingml/2006/main" noGrp="1"/>
          </p:cNvSpPr>
          <p:nvPr/>
        </p:nvSpPr>
        <p:spPr>
          <a:xfrm xmlns:a="http://schemas.openxmlformats.org/drawingml/2006/main">
            <a:off x="666750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1080 × 2400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9" name="">
            <a:extLst xmlns:a="http://schemas.openxmlformats.org/drawingml/2006/main">
              <a:ext uri="{FF2B5EF4-FFF2-40B4-BE49-F238E27FC236}">
                <a16:creationId xmlns:a16="http://schemas.microsoft.com/office/drawing/2014/main" id="{C081DCE9-5098-419D-90F2-25BBA34EBEB4}"/>
              </a:ext>
            </a:extLst>
          </p:cNvPr>
          <p:cNvSpPr>
            <a:spLocks xmlns:a="http://schemas.openxmlformats.org/drawingml/2006/main" noGrp="1"/>
          </p:cNvSpPr>
          <p:nvPr/>
        </p:nvSpPr>
        <p:spPr>
          <a:xfrm xmlns:a="http://schemas.openxmlformats.org/drawingml/2006/main">
            <a:off x="6667500" y="34766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Large display profile</a:t>
            </a:r>
          </a:p>
        </p:txBody>
      </p:sp>
      <p:sp>
        <p:nvSpPr>
          <p:cNvPr id="10" name="">
            <a:extLst xmlns:a="http://schemas.openxmlformats.org/drawingml/2006/main">
              <a:ext uri="{FF2B5EF4-FFF2-40B4-BE49-F238E27FC236}">
                <a16:creationId xmlns:a16="http://schemas.microsoft.com/office/drawing/2014/main" id="{6B40257E-CC98-4324-9E63-E42DF49DA348}"/>
              </a:ext>
            </a:extLst>
          </p:cNvPr>
          <p:cNvSpPr>
            <a:spLocks xmlns:a="http://schemas.openxmlformats.org/drawingml/2006/main" noGrp="1"/>
          </p:cNvSpPr>
          <p:nvPr/>
        </p:nvSpPr>
        <p:spPr>
          <a:xfrm xmlns:a="http://schemas.openxmlformats.org/drawingml/2006/main">
            <a:off x="6667500" y="40100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1200 × 1920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11" name="">
            <a:extLst xmlns:a="http://schemas.openxmlformats.org/drawingml/2006/main">
              <a:ext uri="{FF2B5EF4-FFF2-40B4-BE49-F238E27FC236}">
                <a16:creationId xmlns:a16="http://schemas.microsoft.com/office/drawing/2014/main" id="{830CE431-AFC6-423B-AA52-64340B42579E}"/>
              </a:ext>
            </a:extLst>
          </p:cNvPr>
          <p:cNvSpPr>
            <a:spLocks xmlns:a="http://schemas.openxmlformats.org/drawingml/2006/main" noGrp="1"/>
          </p:cNvSpPr>
          <p:nvPr/>
        </p:nvSpPr>
        <p:spPr>
          <a:xfrm xmlns:a="http://schemas.openxmlformats.org/drawingml/2006/main">
            <a:off x="6667500" y="533400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buNone/>
              <a:defRPr sz="1725" b="0">
                <a:solidFill>
                  <a:srgbClr val="4B6259"/>
                </a:solidFill>
                <a:latin typeface="Arial"/>
                <a:ea typeface="Arial"/>
                <a:cs typeface="Arial"/>
              </a:defRPr>
            </a:lvl1pPr>
            <a:lvl2pPr>
              <a:buNone/>
              <a:defRPr sz="1725" b="0">
                <a:solidFill>
                  <a:srgbClr val="4B6259"/>
                </a:solidFill>
                <a:latin typeface="Arial"/>
                <a:ea typeface="Arial"/>
                <a:cs typeface="Arial"/>
              </a:defRPr>
            </a:lvl2pPr>
            <a:lvl3pPr>
              <a:buNone/>
              <a:defRPr sz="1725" b="0">
                <a:solidFill>
                  <a:srgbClr val="4B6259"/>
                </a:solidFill>
                <a:latin typeface="Arial"/>
                <a:ea typeface="Arial"/>
                <a:cs typeface="Arial"/>
              </a:defRPr>
            </a:lvl3pPr>
            <a:lvl4pPr>
              <a:buNone/>
              <a:defRPr sz="1725" b="0">
                <a:solidFill>
                  <a:srgbClr val="4B6259"/>
                </a:solidFill>
                <a:latin typeface="Arial"/>
                <a:ea typeface="Arial"/>
                <a:cs typeface="Arial"/>
              </a:defRPr>
            </a:lvl4pPr>
            <a:lvl5pPr>
              <a:buNone/>
              <a:defRPr sz="1725" b="0">
                <a:solidFill>
                  <a:srgbClr val="4B6259"/>
                </a:solidFill>
                <a:latin typeface="Arial"/>
                <a:ea typeface="Arial"/>
                <a:cs typeface="Arial"/>
              </a:defRPr>
            </a:lvl5pPr>
            <a:lvl6pPr>
              <a:buNone/>
              <a:defRPr sz="1725" b="0">
                <a:solidFill>
                  <a:srgbClr val="4B6259"/>
                </a:solidFill>
                <a:latin typeface="Arial"/>
                <a:ea typeface="Arial"/>
                <a:cs typeface="Arial"/>
              </a:defRPr>
            </a:lvl6pPr>
            <a:lvl7pPr>
              <a:buNone/>
              <a:defRPr sz="1725" b="0">
                <a:solidFill>
                  <a:srgbClr val="4B6259"/>
                </a:solidFill>
                <a:latin typeface="Arial"/>
                <a:ea typeface="Arial"/>
                <a:cs typeface="Arial"/>
              </a:defRPr>
            </a:lvl7pPr>
            <a:lvl8pPr>
              <a:buNone/>
              <a:defRPr sz="1725" b="0">
                <a:solidFill>
                  <a:srgbClr val="4B6259"/>
                </a:solidFill>
                <a:latin typeface="Arial"/>
                <a:ea typeface="Arial"/>
                <a:cs typeface="Arial"/>
              </a:defRPr>
            </a:lvl8pPr>
            <a:lvl9pPr>
              <a:buNone/>
              <a:defRPr sz="1725" b="0">
                <a:solidFill>
                  <a:srgbClr val="4B6259"/>
                </a:solidFill>
                <a:latin typeface="Arial"/>
                <a:ea typeface="Arial"/>
                <a:cs typeface="Arial"/>
              </a:defRPr>
            </a:lvl9pPr>
          </a:lstStyle>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Genuine release captures. Same Android API image. Fictional $4.50 purchase retained.</a:t>
            </a:r>
          </a:p>
        </p:txBody>
      </p:sp>
    </p:spTree>
    <p:extLst>
      <p:ext uri="{BB962C8B-B14F-4D97-AF65-F5344CB8AC3E}">
        <p14:creationId xmlns:p14="http://schemas.microsoft.com/office/powerpoint/2010/main" val="1752047104"/>
      </p:ext>
    </p:extLst>
  </p:cSld>
</p:sld>
</file>

<file path=ppt/slides/slide2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803F62-C2EB-4E5D-910F-0B58A799512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374125D-E596-459B-A327-4F5DE84CDBF3}"/>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Integration, contribution and workflow</a:t>
            </a:r>
          </a:p>
        </p:txBody>
      </p:sp>
      <p:sp>
        <p:nvSpPr>
          <p:cNvPr id="3" name="">
            <a:extLst xmlns:a="http://schemas.openxmlformats.org/drawingml/2006/main">
              <a:ext uri="{FF2B5EF4-FFF2-40B4-BE49-F238E27FC236}">
                <a16:creationId xmlns:a16="http://schemas.microsoft.com/office/drawing/2014/main" id="{0A1C3553-AE6B-4D8B-8C04-2C78F8B04D4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648FE64-18F8-4092-831B-9444B000A8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24F3CE9-604A-412A-8E12-74D2BA8E0579}"/>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I hold our ClickUp evidence, and the instructor’s revised final deadline is October 31. Our team recording is complete. The preserved branch history, integration and actual test logs are available for review. The repository links connect our implementation to the recorded tests.</a:t>
            </a:r>
          </a:p>
        </p:txBody>
      </p:sp>
      <p:sp>
        <p:nvSpPr>
          <p:cNvPr id="6" name="">
            <a:extLst xmlns:a="http://schemas.openxmlformats.org/drawingml/2006/main">
              <a:ext uri="{FF2B5EF4-FFF2-40B4-BE49-F238E27FC236}">
                <a16:creationId xmlns:a16="http://schemas.microsoft.com/office/drawing/2014/main" id="{AAE0FBC4-F664-4A42-9268-B5B35A4D9C5A}"/>
              </a:ext>
            </a:extLst>
          </p:cNvPr>
          <p:cNvSpPr>
            <a:spLocks xmlns:a="http://schemas.openxmlformats.org/drawingml/2006/main" noGrp="1"/>
          </p:cNvSpPr>
          <p:nvPr/>
        </p:nvSpPr>
        <p:spPr>
          <a:xfrm xmlns:a="http://schemas.openxmlformats.org/drawingml/2006/main">
            <a:off x="7734300" y="17145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lib/screens/meal_history.dart</a:t>
            </a:r>
          </a:p>
        </p:txBody>
      </p:sp>
      <p:sp>
        <p:nvSpPr>
          <p:cNvPr id="7" name="">
            <a:extLst xmlns:a="http://schemas.openxmlformats.org/drawingml/2006/main">
              <a:ext uri="{FF2B5EF4-FFF2-40B4-BE49-F238E27FC236}">
                <a16:creationId xmlns:a16="http://schemas.microsoft.com/office/drawing/2014/main" id="{B245AB0F-D938-437B-B71F-A49970C97334}"/>
              </a:ext>
            </a:extLst>
          </p:cNvPr>
          <p:cNvSpPr>
            <a:spLocks xmlns:a="http://schemas.openxmlformats.org/drawingml/2006/main" noGrp="1"/>
          </p:cNvSpPr>
          <p:nvPr/>
        </p:nvSpPr>
        <p:spPr>
          <a:xfrm xmlns:a="http://schemas.openxmlformats.org/drawingml/2006/main">
            <a:off x="7734300" y="2305050"/>
            <a:ext cx="3905250" cy="14001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final</a:t>
            </a:r>
            <a:r>
              <a:rPr sz="1650" b="0">
                <a:solidFill>
                  <a:srgbClr val="E2F1E8"/>
                </a:solidFill>
                <a:latin typeface="Menlo"/>
                <a:ea typeface="Menlo"/>
                <a:cs typeface="Menlo"/>
              </a:rPr>
              <a:t> ValueChanged&lt;PurchaseLog&gt;</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onView, onEdit, onDelete;</a:t>
            </a:r>
          </a:p>
        </p:txBody>
      </p:sp>
      <p:sp>
        <p:nvSpPr>
          <p:cNvPr id="8" name="">
            <a:extLst xmlns:a="http://schemas.openxmlformats.org/drawingml/2006/main">
              <a:ext uri="{FF2B5EF4-FFF2-40B4-BE49-F238E27FC236}">
                <a16:creationId xmlns:a16="http://schemas.microsoft.com/office/drawing/2014/main" id="{AFA72739-36EB-4A8C-BFB3-32BBB1FBA78E}"/>
              </a:ext>
            </a:extLst>
          </p:cNvPr>
          <p:cNvSpPr>
            <a:spLocks xmlns:a="http://schemas.openxmlformats.org/drawingml/2006/main" noGrp="1"/>
          </p:cNvSpPr>
          <p:nvPr/>
        </p:nvSpPr>
        <p:spPr>
          <a:xfrm xmlns:a="http://schemas.openxmlformats.org/drawingml/2006/main">
            <a:off x="7810500" y="4286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History actions carry a PurchaseLog</a:t>
            </a:r>
          </a:p>
        </p:txBody>
      </p:sp>
      <p:sp>
        <p:nvSpPr>
          <p:cNvPr id="9" name="">
            <a:extLst xmlns:a="http://schemas.openxmlformats.org/drawingml/2006/main">
              <a:ext uri="{FF2B5EF4-FFF2-40B4-BE49-F238E27FC236}">
                <a16:creationId xmlns:a16="http://schemas.microsoft.com/office/drawing/2014/main" id="{02CC8C58-0E98-4CD0-9186-0977238A1F8E}"/>
              </a:ext>
            </a:extLst>
          </p:cNvPr>
          <p:cNvSpPr>
            <a:spLocks xmlns:a="http://schemas.openxmlformats.org/drawingml/2006/main" noGrp="1"/>
          </p:cNvSpPr>
          <p:nvPr/>
        </p:nvSpPr>
        <p:spPr>
          <a:xfrm xmlns:a="http://schemas.openxmlformats.org/drawingml/2006/main">
            <a:off x="7810500" y="509587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parent handles navigation and destructive actions.</a:t>
            </a:r>
          </a:p>
        </p:txBody>
      </p:sp>
    </p:spTree>
    <p:extLst>
      <p:ext uri="{BB962C8B-B14F-4D97-AF65-F5344CB8AC3E}">
        <p14:creationId xmlns:p14="http://schemas.microsoft.com/office/powerpoint/2010/main" val="1611726632"/>
      </p:ext>
    </p:extLst>
  </p:cSld>
</p:sld>
</file>

<file path=ppt/slides/slide26.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74CC-D9A7-4DF8-995F-84C8B9CB7FD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Future work</a:t>
            </a:r>
          </a:p>
        </p:txBody>
      </p:sp>
      <p:sp>
        <p:nvSpPr>
          <p:cNvPr id="2" name="">
            <a:extLst xmlns:a="http://schemas.openxmlformats.org/drawingml/2006/main">
              <a:ext uri="{FF2B5EF4-FFF2-40B4-BE49-F238E27FC236}">
                <a16:creationId xmlns:a16="http://schemas.microsoft.com/office/drawing/2014/main" id="{1E94AFBA-00C8-4B25-96B8-3220B750B0BD}"/>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1B9F436A-2355-4704-AEB3-43C13FBE8FD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F6B66C2E-BDA5-4309-809C-00C1CCFF70B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A05466E-DE20-4A75-BC0B-6FAC8ECD4AD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p:txBody>
      </p:sp>
      <p:sp>
        <p:nvSpPr>
          <p:cNvPr id="6" name="">
            <a:extLst xmlns:a="http://schemas.openxmlformats.org/drawingml/2006/main">
              <a:ext uri="{FF2B5EF4-FFF2-40B4-BE49-F238E27FC236}">
                <a16:creationId xmlns:a16="http://schemas.microsoft.com/office/drawing/2014/main" id="{566E82E9-2A1A-441C-9A1F-EB9C8D92C987}"/>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p:txBody>
      </p:sp>
      <p:sp>
        <p:nvSpPr>
          <p:cNvPr id="7" name="">
            <a:extLst xmlns:a="http://schemas.openxmlformats.org/drawingml/2006/main">
              <a:ext uri="{FF2B5EF4-FFF2-40B4-BE49-F238E27FC236}">
                <a16:creationId xmlns:a16="http://schemas.microsoft.com/office/drawing/2014/main" id="{4E7F73D6-9983-44BA-9F13-B6781C6F182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Weekly summaries and a local CSV export could make personal spending easier to review while preserving offline use. These are proposed improvements beyond the current release.</a:t>
            </a:r>
          </a:p>
        </p:txBody>
      </p:sp>
    </p:spTree>
    <p:extLst>
      <p:ext uri="{BB962C8B-B14F-4D97-AF65-F5344CB8AC3E}">
        <p14:creationId xmlns:p14="http://schemas.microsoft.com/office/powerpoint/2010/main" val="594272098"/>
      </p:ext>
    </p:extLst>
  </p:cSld>
</p:sld>
</file>

<file path=ppt/slides/slide2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D105E-8C92-4DB4-9304-AF0C1BB3C96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Repository and release</a:t>
            </a:r>
          </a:p>
        </p:txBody>
      </p:sp>
      <p:sp>
        <p:nvSpPr>
          <p:cNvPr id="2" name="">
            <a:extLst xmlns:a="http://schemas.openxmlformats.org/drawingml/2006/main">
              <a:ext uri="{FF2B5EF4-FFF2-40B4-BE49-F238E27FC236}">
                <a16:creationId xmlns:a16="http://schemas.microsoft.com/office/drawing/2014/main" id="{34B2571A-56E8-4011-BDFC-3E806A73EC99}"/>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3" name="">
            <a:extLst xmlns:a="http://schemas.openxmlformats.org/drawingml/2006/main">
              <a:ext uri="{FF2B5EF4-FFF2-40B4-BE49-F238E27FC236}">
                <a16:creationId xmlns:a16="http://schemas.microsoft.com/office/drawing/2014/main" id="{342AE45E-EE3D-4CE4-907A-2BF06542BCB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50B11A3-C29D-46CA-98CE-0AAF3FEB6EEA}"/>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C260EEE9-4378-4501-9CA3-425ED23D9181}"/>
              </a:ext>
            </a:extLst>
          </p:cNvPr>
          <p:cNvSpPr>
            <a:spLocks xmlns:a="http://schemas.openxmlformats.org/drawingml/2006/main" noGrp="1"/>
          </p:cNvSpPr>
          <p:nvPr/>
        </p:nvSpPr>
        <p:spPr>
          <a:xfrm xmlns:a="http://schemas.openxmlformats.org/drawingml/2006/main">
            <a:off x="609600" y="2190750"/>
            <a:ext cx="700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63" b="0">
                <a:solidFill>
                  <a:srgbClr val="152B25"/>
                </a:solidFill>
                <a:latin typeface="Arial"/>
                <a:ea typeface="Arial"/>
                <a:cs typeface="Arial"/>
              </a:defRPr>
            </a:defPPr>
            <a:lvl1pPr>
              <a:buNone/>
              <a:defRPr sz="1763" b="0">
                <a:solidFill>
                  <a:srgbClr val="152B25"/>
                </a:solidFill>
                <a:latin typeface="Arial"/>
                <a:ea typeface="Arial"/>
                <a:cs typeface="Arial"/>
              </a:defRPr>
            </a:lvl1pPr>
            <a:lvl2pPr>
              <a:buNone/>
              <a:defRPr sz="1763" b="0">
                <a:solidFill>
                  <a:srgbClr val="152B25"/>
                </a:solidFill>
                <a:latin typeface="Arial"/>
                <a:ea typeface="Arial"/>
                <a:cs typeface="Arial"/>
              </a:defRPr>
            </a:lvl2pPr>
            <a:lvl3pPr>
              <a:buNone/>
              <a:defRPr sz="1763" b="0">
                <a:solidFill>
                  <a:srgbClr val="152B25"/>
                </a:solidFill>
                <a:latin typeface="Arial"/>
                <a:ea typeface="Arial"/>
                <a:cs typeface="Arial"/>
              </a:defRPr>
            </a:lvl3pPr>
            <a:lvl4pPr>
              <a:buNone/>
              <a:defRPr sz="1763" b="0">
                <a:solidFill>
                  <a:srgbClr val="152B25"/>
                </a:solidFill>
                <a:latin typeface="Arial"/>
                <a:ea typeface="Arial"/>
                <a:cs typeface="Arial"/>
              </a:defRPr>
            </a:lvl4pPr>
            <a:lvl5pPr>
              <a:buNone/>
              <a:defRPr sz="1763" b="0">
                <a:solidFill>
                  <a:srgbClr val="152B25"/>
                </a:solidFill>
                <a:latin typeface="Arial"/>
                <a:ea typeface="Arial"/>
                <a:cs typeface="Arial"/>
              </a:defRPr>
            </a:lvl5pPr>
            <a:lvl6pPr>
              <a:buNone/>
              <a:defRPr sz="1763" b="0">
                <a:solidFill>
                  <a:srgbClr val="152B25"/>
                </a:solidFill>
                <a:latin typeface="Arial"/>
                <a:ea typeface="Arial"/>
                <a:cs typeface="Arial"/>
              </a:defRPr>
            </a:lvl6pPr>
            <a:lvl7pPr>
              <a:buNone/>
              <a:defRPr sz="1763" b="0">
                <a:solidFill>
                  <a:srgbClr val="152B25"/>
                </a:solidFill>
                <a:latin typeface="Arial"/>
                <a:ea typeface="Arial"/>
                <a:cs typeface="Arial"/>
              </a:defRPr>
            </a:lvl7pPr>
            <a:lvl8pPr>
              <a:buNone/>
              <a:defRPr sz="1763" b="0">
                <a:solidFill>
                  <a:srgbClr val="152B25"/>
                </a:solidFill>
                <a:latin typeface="Arial"/>
                <a:ea typeface="Arial"/>
                <a:cs typeface="Arial"/>
              </a:defRPr>
            </a:lvl8pPr>
            <a:lvl9pPr>
              <a:buNone/>
              <a:defRPr sz="1763" b="0">
                <a:solidFill>
                  <a:srgbClr val="152B25"/>
                </a:solidFill>
                <a:latin typeface="Arial"/>
                <a:ea typeface="Arial"/>
                <a:cs typeface="Arial"/>
              </a:defRPr>
            </a:lvl9pPr>
          </a:lstStyle>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README links setup instructions and project resources. The architecture and helper documents explain the decisions and evaluation, allowing reviewers to connect application behavior with the supporting evidence.</a:t>
            </a:r>
          </a:p>
        </p:txBody>
      </p:sp>
      <p:sp>
        <p:nvSpPr>
          <p:cNvPr id="6" name="">
            <a:extLst xmlns:a="http://schemas.openxmlformats.org/drawingml/2006/main">
              <a:ext uri="{FF2B5EF4-FFF2-40B4-BE49-F238E27FC236}">
                <a16:creationId xmlns:a16="http://schemas.microsoft.com/office/drawing/2014/main" id="{7A7513A0-7935-49AF-8706-93929701BAAE}"/>
              </a:ext>
            </a:extLst>
          </p:cNvPr>
          <p:cNvSpPr>
            <a:spLocks xmlns:a="http://schemas.openxmlformats.org/drawingml/2006/main" noGrp="1"/>
          </p:cNvSpPr>
          <p:nvPr/>
        </p:nvSpPr>
        <p:spPr>
          <a:xfrm xmlns:a="http://schemas.openxmlformats.org/drawingml/2006/main">
            <a:off x="666750" y="1552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hlinkClick xmlns:r="http://schemas.openxmlformats.org/officeDocument/2006/relationships" r:id="R0cbf5c73a925481b"/>
              </a:rPr>
              <a:t>https://github.com/Omswaroopreddyudumula/ajxom-budget-bites</a:t>
            </a:r>
          </a:p>
        </p:txBody>
      </p:sp>
      <p:sp>
        <p:nvSpPr>
          <p:cNvPr id="7" name="">
            <a:extLst xmlns:a="http://schemas.openxmlformats.org/drawingml/2006/main">
              <a:ext uri="{FF2B5EF4-FFF2-40B4-BE49-F238E27FC236}">
                <a16:creationId xmlns:a16="http://schemas.microsoft.com/office/drawing/2014/main" id="{2EEAF680-424E-4B24-B239-7A68E3AD213B}"/>
              </a:ext>
            </a:extLst>
          </p:cNvPr>
          <p:cNvSpPr>
            <a:spLocks xmlns:a="http://schemas.openxmlformats.org/drawingml/2006/main" noGrp="1"/>
          </p:cNvSpPr>
          <p:nvPr/>
        </p:nvSpPr>
        <p:spPr>
          <a:xfrm xmlns:a="http://schemas.openxmlformats.org/drawingml/2006/main">
            <a:off x="8143875" y="2028825"/>
            <a:ext cx="3381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Repository map</a:t>
            </a:r>
          </a:p>
        </p:txBody>
      </p:sp>
      <p:sp>
        <p:nvSpPr>
          <p:cNvPr id="8" name="">
            <a:extLst xmlns:a="http://schemas.openxmlformats.org/drawingml/2006/main">
              <a:ext uri="{FF2B5EF4-FFF2-40B4-BE49-F238E27FC236}">
                <a16:creationId xmlns:a16="http://schemas.microsoft.com/office/drawing/2014/main" id="{8BC5C265-8225-4B56-B93C-3D3306071B3C}"/>
              </a:ext>
            </a:extLst>
          </p:cNvPr>
          <p:cNvSpPr>
            <a:spLocks xmlns:a="http://schemas.openxmlformats.org/drawingml/2006/main" noGrp="1"/>
          </p:cNvSpPr>
          <p:nvPr/>
        </p:nvSpPr>
        <p:spPr>
          <a:xfrm xmlns:a="http://schemas.openxmlformats.org/drawingml/2006/main">
            <a:off x="8143875" y="2619375"/>
            <a:ext cx="3381375" cy="3238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lib/</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screens/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state/</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data/</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domain/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test/</a:t>
            </a:r>
          </a:p>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int</a:t>
            </a:r>
            <a:r>
              <a:rPr sz="1800" b="0">
                <a:solidFill>
                  <a:srgbClr val="E2F1E8"/>
                </a:solidFill>
                <a:latin typeface="Menlo"/>
                <a:ea typeface="Menlo"/>
                <a:cs typeface="Menlo"/>
              </a:rPr>
              <a:t>egration_test/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docs/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evidence/</a:t>
            </a:r>
          </a:p>
        </p:txBody>
      </p:sp>
    </p:spTree>
    <p:extLst>
      <p:ext uri="{BB962C8B-B14F-4D97-AF65-F5344CB8AC3E}">
        <p14:creationId xmlns:p14="http://schemas.microsoft.com/office/powerpoint/2010/main" val="371652266"/>
      </p:ext>
    </p:extLst>
  </p:cSld>
</p:sld>
</file>

<file path=ppt/slides/slide28.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1F1206-D8B9-4F25-9CA0-811767221948}"/>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Live demo transition</a:t>
            </a:r>
          </a:p>
        </p:txBody>
      </p:sp>
      <p:sp>
        <p:nvSpPr>
          <p:cNvPr id="2" name="">
            <a:extLst xmlns:a="http://schemas.openxmlformats.org/drawingml/2006/main">
              <a:ext uri="{FF2B5EF4-FFF2-40B4-BE49-F238E27FC236}">
                <a16:creationId xmlns:a16="http://schemas.microsoft.com/office/drawing/2014/main" id="{9FBC0110-D400-459B-A5DC-A518F551F1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Application demo with A.J.</a:t>
            </a:r>
          </a:p>
        </p:txBody>
      </p:sp>
      <p:sp>
        <p:nvSpPr>
          <p:cNvPr id="3" name="">
            <a:extLst xmlns:a="http://schemas.openxmlformats.org/drawingml/2006/main">
              <a:ext uri="{FF2B5EF4-FFF2-40B4-BE49-F238E27FC236}">
                <a16:creationId xmlns:a16="http://schemas.microsoft.com/office/drawing/2014/main" id="{AF76EBC4-D49A-43A6-9A5B-395D8D65AF93}"/>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2CD349-140E-40E0-AB48-5BABB280BBC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08A7B29-C52C-4902-B1D3-840BF6B6B939}"/>
              </a:ext>
            </a:extLst>
          </p:cNvPr>
          <p:cNvSpPr>
            <a:spLocks xmlns:a="http://schemas.openxmlformats.org/drawingml/2006/main" noGrp="1"/>
          </p:cNvSpPr>
          <p:nvPr/>
        </p:nvSpPr>
        <p:spPr>
          <a:xfrm xmlns:a="http://schemas.openxmlformats.org/drawingml/2006/main">
            <a:off x="609600" y="1743075"/>
            <a:ext cx="7239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Thank you for following our presentation. I will now demonstrate Budget Bites, and we will take questions after the application walkthrough.</a:t>
            </a:r>
          </a:p>
        </p:txBody>
      </p:sp>
      <p:pic>
        <p:nvPicPr>
          <p:cNvPr id="6" name="">
            <a:extLst xmlns:a="http://schemas.openxmlformats.org/drawingml/2006/main">
              <a:ext uri="{FF2B5EF4-FFF2-40B4-BE49-F238E27FC236}">
                <a16:creationId xmlns:a16="http://schemas.microsoft.com/office/drawing/2014/main" id="{80D2D186-7E10-4C3D-920E-B35C15B78277}"/>
              </a:ext>
            </a:extLst>
          </p:cNvPr>
          <p:cNvPicPr>
            <a:picLocks xmlns:a="http://schemas.openxmlformats.org/drawingml/2006/main" noChangeAspect="1"/>
          </p:cNvPicPr>
          <p:nvPr/>
        </p:nvPicPr>
        <p:blipFill>
          <a:blip xmlns:r="http://schemas.openxmlformats.org/officeDocument/2006/relationships" xmlns:a="http://schemas.openxmlformats.org/drawingml/2006/main" r:embed="R92a8b56c04514485"/>
          <a:stretch xmlns:a="http://schemas.openxmlformats.org/drawingml/2006/main"/>
        </p:blipFill>
        <p:spPr>
          <a:xfrm xmlns:a="http://schemas.openxmlformats.org/drawingml/2006/main">
            <a:off x="8668226" y="1685925"/>
            <a:ext cx="1980248" cy="4400550"/>
          </a:xfrm>
          <a:prstGeom xmlns:a="http://schemas.openxmlformats.org/drawingml/2006/main" prst="rect">
            <a:avLst/>
          </a:prstGeom>
        </p:spPr>
      </p:pic>
    </p:spTree>
    <p:extLst>
      <p:ext uri="{BB962C8B-B14F-4D97-AF65-F5344CB8AC3E}">
        <p14:creationId xmlns:p14="http://schemas.microsoft.com/office/powerpoint/2010/main" val="609639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2026-10-31T13:16:40.9490000Z</dcterms:created>
  <dcterms:modified xsi:type="dcterms:W3CDTF">2026-10-31T13:16:40.9490000Z</dcterms:modified>
</coreProperties>
</file>